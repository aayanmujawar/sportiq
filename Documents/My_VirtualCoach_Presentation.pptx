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p:scale>
          <a:sx n="108" d="100"/>
          <a:sy n="108" d="100"/>
        </p:scale>
        <p:origin x="7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7480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2C39A"/>
          </a:solidFill>
          <a:ln w="12700">
            <a:solidFill>
              <a:srgbClr val="02C39A"/>
            </a:solidFill>
            <a:prstDash val="solid"/>
          </a:ln>
        </p:spPr>
      </p:sp>
      <p:sp>
        <p:nvSpPr>
          <p:cNvPr id="3" name="Shape 1"/>
          <p:cNvSpPr/>
          <p:nvPr/>
        </p:nvSpPr>
        <p:spPr>
          <a:xfrm>
            <a:off x="0" y="5052060"/>
            <a:ext cx="9144000" cy="91440"/>
          </a:xfrm>
          <a:prstGeom prst="rect">
            <a:avLst/>
          </a:prstGeom>
          <a:solidFill>
            <a:srgbClr val="028090"/>
          </a:solidFill>
          <a:ln w="12700">
            <a:solidFill>
              <a:srgbClr val="028090"/>
            </a:solidFill>
            <a:prstDash val="solid"/>
          </a:ln>
        </p:spPr>
      </p:sp>
      <p:sp>
        <p:nvSpPr>
          <p:cNvPr id="4" name="Shape 2"/>
          <p:cNvSpPr/>
          <p:nvPr/>
        </p:nvSpPr>
        <p:spPr>
          <a:xfrm>
            <a:off x="3931920" y="91440"/>
            <a:ext cx="45720" cy="4956048"/>
          </a:xfrm>
          <a:prstGeom prst="rect">
            <a:avLst/>
          </a:prstGeom>
          <a:solidFill>
            <a:srgbClr val="00A896"/>
          </a:solidFill>
          <a:ln w="12700">
            <a:solidFill>
              <a:srgbClr val="00A896"/>
            </a:solidFill>
            <a:prstDash val="solid"/>
          </a:ln>
        </p:spPr>
      </p:sp>
      <p:sp>
        <p:nvSpPr>
          <p:cNvPr id="5" name="Text 3"/>
          <p:cNvSpPr/>
          <p:nvPr/>
        </p:nvSpPr>
        <p:spPr>
          <a:xfrm>
            <a:off x="365760" y="822960"/>
            <a:ext cx="3383280" cy="822960"/>
          </a:xfrm>
          <a:prstGeom prst="rect">
            <a:avLst/>
          </a:prstGeom>
          <a:noFill/>
          <a:ln/>
        </p:spPr>
        <p:txBody>
          <a:bodyPr wrap="square" rtlCol="0" anchor="ctr"/>
          <a:lstStyle/>
          <a:p>
            <a:pPr marL="0" indent="0">
              <a:buNone/>
            </a:pPr>
            <a:r>
              <a:rPr lang="en-US" sz="3600" b="1" kern="0" spc="200" dirty="0">
                <a:solidFill>
                  <a:srgbClr val="FFFFFF"/>
                </a:solidFill>
                <a:latin typeface="Calibri" pitchFamily="34" charset="0"/>
                <a:ea typeface="Calibri" pitchFamily="34" charset="-122"/>
                <a:cs typeface="Calibri" pitchFamily="34" charset="-120"/>
              </a:rPr>
              <a:t>VIRTUAL COACH</a:t>
            </a:r>
            <a:endParaRPr lang="en-US" sz="3600" dirty="0"/>
          </a:p>
        </p:txBody>
      </p:sp>
      <p:sp>
        <p:nvSpPr>
          <p:cNvPr id="6" name="Text 4"/>
          <p:cNvSpPr/>
          <p:nvPr/>
        </p:nvSpPr>
        <p:spPr>
          <a:xfrm>
            <a:off x="365760" y="1691640"/>
            <a:ext cx="3383280" cy="822960"/>
          </a:xfrm>
          <a:prstGeom prst="rect">
            <a:avLst/>
          </a:prstGeom>
          <a:noFill/>
          <a:ln/>
        </p:spPr>
        <p:txBody>
          <a:bodyPr wrap="square" rtlCol="0" anchor="ctr"/>
          <a:lstStyle/>
          <a:p>
            <a:pPr marL="0" indent="0">
              <a:buNone/>
            </a:pPr>
            <a:r>
              <a:rPr lang="en-US" sz="1800" dirty="0">
                <a:solidFill>
                  <a:srgbClr val="02C39A"/>
                </a:solidFill>
                <a:latin typeface="Calibri" pitchFamily="34" charset="0"/>
                <a:ea typeface="Calibri" pitchFamily="34" charset="-122"/>
                <a:cs typeface="Calibri" pitchFamily="34" charset="-120"/>
              </a:rPr>
              <a:t>AI-Based Cricket Posture</a:t>
            </a:r>
            <a:endParaRPr lang="en-US" sz="1800" dirty="0"/>
          </a:p>
          <a:p>
            <a:pPr marL="0" indent="0">
              <a:buNone/>
            </a:pPr>
            <a:r>
              <a:rPr lang="en-US" sz="1800" dirty="0">
                <a:solidFill>
                  <a:srgbClr val="02C39A"/>
                </a:solidFill>
                <a:latin typeface="Calibri" pitchFamily="34" charset="0"/>
                <a:ea typeface="Calibri" pitchFamily="34" charset="-122"/>
                <a:cs typeface="Calibri" pitchFamily="34" charset="-120"/>
              </a:rPr>
              <a:t>Analysis System</a:t>
            </a:r>
            <a:endParaRPr lang="en-US" sz="1800" dirty="0"/>
          </a:p>
        </p:txBody>
      </p:sp>
      <p:sp>
        <p:nvSpPr>
          <p:cNvPr id="7" name="Text 5"/>
          <p:cNvSpPr/>
          <p:nvPr/>
        </p:nvSpPr>
        <p:spPr>
          <a:xfrm>
            <a:off x="365760" y="2606040"/>
            <a:ext cx="3383280" cy="365760"/>
          </a:xfrm>
          <a:prstGeom prst="rect">
            <a:avLst/>
          </a:prstGeom>
          <a:noFill/>
          <a:ln/>
        </p:spPr>
        <p:txBody>
          <a:bodyPr wrap="square" rtlCol="0" anchor="ctr"/>
          <a:lstStyle/>
          <a:p>
            <a:pPr marL="0" indent="0">
              <a:buNone/>
            </a:pPr>
            <a:r>
              <a:rPr lang="en-US" sz="1300" i="1" dirty="0">
                <a:solidFill>
                  <a:srgbClr val="00A896"/>
                </a:solidFill>
                <a:latin typeface="Calibri" pitchFamily="34" charset="0"/>
                <a:ea typeface="Calibri" pitchFamily="34" charset="-122"/>
                <a:cs typeface="Calibri" pitchFamily="34" charset="-120"/>
              </a:rPr>
              <a:t>Motion Capture &amp; Sports Analysis</a:t>
            </a:r>
            <a:endParaRPr lang="en-US" sz="1300" dirty="0"/>
          </a:p>
        </p:txBody>
      </p:sp>
      <p:sp>
        <p:nvSpPr>
          <p:cNvPr id="8" name="Shape 6"/>
          <p:cNvSpPr/>
          <p:nvPr/>
        </p:nvSpPr>
        <p:spPr>
          <a:xfrm>
            <a:off x="365760" y="3063240"/>
            <a:ext cx="3200400" cy="18288"/>
          </a:xfrm>
          <a:prstGeom prst="rect">
            <a:avLst/>
          </a:prstGeom>
          <a:solidFill>
            <a:srgbClr val="028090"/>
          </a:solidFill>
          <a:ln w="12700">
            <a:solidFill>
              <a:srgbClr val="028090"/>
            </a:solidFill>
            <a:prstDash val="solid"/>
          </a:ln>
        </p:spPr>
      </p:sp>
      <p:sp>
        <p:nvSpPr>
          <p:cNvPr id="9" name="Text 7"/>
          <p:cNvSpPr/>
          <p:nvPr/>
        </p:nvSpPr>
        <p:spPr>
          <a:xfrm>
            <a:off x="365760" y="3200400"/>
            <a:ext cx="3383280" cy="548640"/>
          </a:xfrm>
          <a:prstGeom prst="rect">
            <a:avLst/>
          </a:prstGeom>
          <a:noFill/>
          <a:ln/>
        </p:spPr>
        <p:txBody>
          <a:bodyPr wrap="square" rtlCol="0" anchor="ctr"/>
          <a:lstStyle/>
          <a:p>
            <a:pPr marL="0" indent="0">
              <a:buNone/>
            </a:pPr>
            <a:r>
              <a:rPr lang="en-US" sz="1100" dirty="0">
                <a:solidFill>
                  <a:srgbClr val="F0F4F8"/>
                </a:solidFill>
                <a:latin typeface="Calibri" pitchFamily="34" charset="0"/>
                <a:ea typeface="Calibri" pitchFamily="34" charset="-122"/>
                <a:cs typeface="Calibri" pitchFamily="34" charset="-120"/>
              </a:rPr>
              <a:t>Department of CSE (AIML) Engineering</a:t>
            </a:r>
            <a:endParaRPr lang="en-US" sz="1100" dirty="0"/>
          </a:p>
          <a:p>
            <a:pPr marL="0" indent="0">
              <a:buNone/>
            </a:pPr>
            <a:r>
              <a:rPr lang="en-US" sz="1100" dirty="0">
                <a:solidFill>
                  <a:srgbClr val="F0F4F8"/>
                </a:solidFill>
                <a:latin typeface="Calibri" pitchFamily="34" charset="0"/>
                <a:ea typeface="Calibri" pitchFamily="34" charset="-122"/>
                <a:cs typeface="Calibri" pitchFamily="34" charset="-120"/>
              </a:rPr>
              <a:t>D.K.T.E Society's Textile and Engineering Institute, Ichalkaranji</a:t>
            </a:r>
            <a:endParaRPr lang="en-US" sz="1100" dirty="0"/>
          </a:p>
        </p:txBody>
      </p:sp>
      <p:sp>
        <p:nvSpPr>
          <p:cNvPr id="10" name="Text 8"/>
          <p:cNvSpPr/>
          <p:nvPr/>
        </p:nvSpPr>
        <p:spPr>
          <a:xfrm>
            <a:off x="365760" y="3840480"/>
            <a:ext cx="3383280" cy="274320"/>
          </a:xfrm>
          <a:prstGeom prst="rect">
            <a:avLst/>
          </a:prstGeom>
          <a:noFill/>
          <a:ln/>
        </p:spPr>
        <p:txBody>
          <a:bodyPr wrap="square" rtlCol="0" anchor="ctr"/>
          <a:lstStyle/>
          <a:p>
            <a:pPr marL="0" indent="0">
              <a:buNone/>
            </a:pPr>
            <a:r>
              <a:rPr lang="en-US" sz="1200" dirty="0">
                <a:solidFill>
                  <a:srgbClr val="F5A623"/>
                </a:solidFill>
                <a:latin typeface="Calibri" pitchFamily="34" charset="0"/>
                <a:ea typeface="Calibri" pitchFamily="34" charset="-122"/>
                <a:cs typeface="Calibri" pitchFamily="34" charset="-120"/>
              </a:rPr>
              <a:t>Academic Year: 2025–2026</a:t>
            </a:r>
            <a:endParaRPr lang="en-US" sz="1200" dirty="0"/>
          </a:p>
        </p:txBody>
      </p:sp>
      <p:sp>
        <p:nvSpPr>
          <p:cNvPr id="11" name="Text 9"/>
          <p:cNvSpPr/>
          <p:nvPr/>
        </p:nvSpPr>
        <p:spPr>
          <a:xfrm>
            <a:off x="365760" y="4160520"/>
            <a:ext cx="3383280" cy="274320"/>
          </a:xfrm>
          <a:prstGeom prst="rect">
            <a:avLst/>
          </a:prstGeom>
          <a:noFill/>
          <a:ln/>
        </p:spPr>
        <p:txBody>
          <a:bodyPr wrap="square" rtlCol="0" anchor="ctr"/>
          <a:lstStyle/>
          <a:p>
            <a:pPr marL="0" indent="0">
              <a:buNone/>
            </a:pPr>
            <a:r>
              <a:rPr lang="en-US" sz="1100" i="1" dirty="0">
                <a:solidFill>
                  <a:srgbClr val="02C39A"/>
                </a:solidFill>
                <a:latin typeface="Calibri" pitchFamily="34" charset="0"/>
                <a:ea typeface="Calibri" pitchFamily="34" charset="-122"/>
                <a:cs typeface="Calibri" pitchFamily="34" charset="-120"/>
              </a:rPr>
              <a:t>Guide: Prof. V.B. Sutar</a:t>
            </a:r>
            <a:endParaRPr lang="en-US" sz="1100" dirty="0"/>
          </a:p>
        </p:txBody>
      </p:sp>
      <p:sp>
        <p:nvSpPr>
          <p:cNvPr id="12" name="Text 10"/>
          <p:cNvSpPr/>
          <p:nvPr/>
        </p:nvSpPr>
        <p:spPr>
          <a:xfrm>
            <a:off x="4206240" y="822960"/>
            <a:ext cx="4572000" cy="365760"/>
          </a:xfrm>
          <a:prstGeom prst="rect">
            <a:avLst/>
          </a:prstGeom>
          <a:noFill/>
          <a:ln/>
        </p:spPr>
        <p:txBody>
          <a:bodyPr wrap="square" rtlCol="0" anchor="ctr"/>
          <a:lstStyle/>
          <a:p>
            <a:pPr marL="0" indent="0">
              <a:buNone/>
            </a:pPr>
            <a:r>
              <a:rPr lang="en-US" sz="1400" b="1" kern="0" spc="300" dirty="0">
                <a:solidFill>
                  <a:srgbClr val="028090"/>
                </a:solidFill>
                <a:latin typeface="Calibri" pitchFamily="34" charset="0"/>
                <a:ea typeface="Calibri" pitchFamily="34" charset="-122"/>
                <a:cs typeface="Calibri" pitchFamily="34" charset="-120"/>
              </a:rPr>
              <a:t>PROJECT TEAM</a:t>
            </a:r>
            <a:endParaRPr lang="en-US" sz="1400" dirty="0"/>
          </a:p>
        </p:txBody>
      </p:sp>
      <p:sp>
        <p:nvSpPr>
          <p:cNvPr id="13" name="Shape 11"/>
          <p:cNvSpPr/>
          <p:nvPr/>
        </p:nvSpPr>
        <p:spPr>
          <a:xfrm>
            <a:off x="4206240" y="1325880"/>
            <a:ext cx="4572000" cy="502920"/>
          </a:xfrm>
          <a:prstGeom prst="rect">
            <a:avLst/>
          </a:prstGeom>
          <a:solidFill>
            <a:srgbClr val="0D2E4A"/>
          </a:solidFill>
          <a:ln w="12700">
            <a:solidFill>
              <a:srgbClr val="028090"/>
            </a:solidFill>
            <a:prstDash val="solid"/>
          </a:ln>
        </p:spPr>
      </p:sp>
      <p:sp>
        <p:nvSpPr>
          <p:cNvPr id="14" name="Text 12"/>
          <p:cNvSpPr/>
          <p:nvPr/>
        </p:nvSpPr>
        <p:spPr>
          <a:xfrm>
            <a:off x="4297680" y="1353312"/>
            <a:ext cx="1188720" cy="219456"/>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23UAM079</a:t>
            </a:r>
            <a:endParaRPr lang="en-US" sz="1100" dirty="0"/>
          </a:p>
        </p:txBody>
      </p:sp>
      <p:sp>
        <p:nvSpPr>
          <p:cNvPr id="15" name="Text 13"/>
          <p:cNvSpPr/>
          <p:nvPr/>
        </p:nvSpPr>
        <p:spPr>
          <a:xfrm>
            <a:off x="5577840" y="1353312"/>
            <a:ext cx="3017520" cy="219456"/>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Aayan T Mujawar</a:t>
            </a:r>
            <a:endParaRPr lang="en-US" sz="1200" dirty="0"/>
          </a:p>
        </p:txBody>
      </p:sp>
      <p:sp>
        <p:nvSpPr>
          <p:cNvPr id="16" name="Shape 14"/>
          <p:cNvSpPr/>
          <p:nvPr/>
        </p:nvSpPr>
        <p:spPr>
          <a:xfrm>
            <a:off x="4206240" y="1965960"/>
            <a:ext cx="4572000" cy="502920"/>
          </a:xfrm>
          <a:prstGeom prst="rect">
            <a:avLst/>
          </a:prstGeom>
          <a:solidFill>
            <a:srgbClr val="0A2540"/>
          </a:solidFill>
          <a:ln w="12700">
            <a:solidFill>
              <a:srgbClr val="028090"/>
            </a:solidFill>
            <a:prstDash val="solid"/>
          </a:ln>
        </p:spPr>
      </p:sp>
      <p:sp>
        <p:nvSpPr>
          <p:cNvPr id="17" name="Text 15"/>
          <p:cNvSpPr/>
          <p:nvPr/>
        </p:nvSpPr>
        <p:spPr>
          <a:xfrm>
            <a:off x="4297680" y="1993392"/>
            <a:ext cx="1188720" cy="219456"/>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23UAM080</a:t>
            </a:r>
            <a:endParaRPr lang="en-US" sz="1100" dirty="0"/>
          </a:p>
        </p:txBody>
      </p:sp>
      <p:sp>
        <p:nvSpPr>
          <p:cNvPr id="18" name="Text 16"/>
          <p:cNvSpPr/>
          <p:nvPr/>
        </p:nvSpPr>
        <p:spPr>
          <a:xfrm>
            <a:off x="5577840" y="1993392"/>
            <a:ext cx="3017520" cy="219456"/>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Mohmmadnuh N Mujawar</a:t>
            </a:r>
            <a:endParaRPr lang="en-US" sz="1200" dirty="0"/>
          </a:p>
        </p:txBody>
      </p:sp>
      <p:sp>
        <p:nvSpPr>
          <p:cNvPr id="19" name="Shape 17"/>
          <p:cNvSpPr/>
          <p:nvPr/>
        </p:nvSpPr>
        <p:spPr>
          <a:xfrm>
            <a:off x="4206240" y="2606040"/>
            <a:ext cx="4572000" cy="502920"/>
          </a:xfrm>
          <a:prstGeom prst="rect">
            <a:avLst/>
          </a:prstGeom>
          <a:solidFill>
            <a:srgbClr val="0D2E4A"/>
          </a:solidFill>
          <a:ln w="12700">
            <a:solidFill>
              <a:srgbClr val="028090"/>
            </a:solidFill>
            <a:prstDash val="solid"/>
          </a:ln>
        </p:spPr>
      </p:sp>
      <p:sp>
        <p:nvSpPr>
          <p:cNvPr id="20" name="Text 18"/>
          <p:cNvSpPr/>
          <p:nvPr/>
        </p:nvSpPr>
        <p:spPr>
          <a:xfrm>
            <a:off x="4297680" y="2633472"/>
            <a:ext cx="1188720" cy="219456"/>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23UAM123</a:t>
            </a:r>
            <a:endParaRPr lang="en-US" sz="1100" dirty="0"/>
          </a:p>
        </p:txBody>
      </p:sp>
      <p:sp>
        <p:nvSpPr>
          <p:cNvPr id="21" name="Text 19"/>
          <p:cNvSpPr/>
          <p:nvPr/>
        </p:nvSpPr>
        <p:spPr>
          <a:xfrm>
            <a:off x="5577840" y="2633472"/>
            <a:ext cx="3017520" cy="219456"/>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Aditya S Savale</a:t>
            </a:r>
            <a:endParaRPr lang="en-US" sz="1200" dirty="0"/>
          </a:p>
        </p:txBody>
      </p:sp>
      <p:sp>
        <p:nvSpPr>
          <p:cNvPr id="22" name="Shape 20"/>
          <p:cNvSpPr/>
          <p:nvPr/>
        </p:nvSpPr>
        <p:spPr>
          <a:xfrm>
            <a:off x="4206240" y="3246120"/>
            <a:ext cx="4572000" cy="502920"/>
          </a:xfrm>
          <a:prstGeom prst="rect">
            <a:avLst/>
          </a:prstGeom>
          <a:solidFill>
            <a:srgbClr val="0A2540"/>
          </a:solidFill>
          <a:ln w="12700">
            <a:solidFill>
              <a:srgbClr val="028090"/>
            </a:solidFill>
            <a:prstDash val="solid"/>
          </a:ln>
        </p:spPr>
      </p:sp>
      <p:sp>
        <p:nvSpPr>
          <p:cNvPr id="23" name="Text 21"/>
          <p:cNvSpPr/>
          <p:nvPr/>
        </p:nvSpPr>
        <p:spPr>
          <a:xfrm>
            <a:off x="4297680" y="3273552"/>
            <a:ext cx="1188720" cy="219456"/>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23UAM136</a:t>
            </a:r>
            <a:endParaRPr lang="en-US" sz="1100" dirty="0"/>
          </a:p>
        </p:txBody>
      </p:sp>
      <p:sp>
        <p:nvSpPr>
          <p:cNvPr id="24" name="Text 22"/>
          <p:cNvSpPr/>
          <p:nvPr/>
        </p:nvSpPr>
        <p:spPr>
          <a:xfrm>
            <a:off x="5577840" y="3273552"/>
            <a:ext cx="3017520" cy="219456"/>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Goutam T Vaishnav</a:t>
            </a:r>
            <a:endParaRPr lang="en-US" sz="1200" dirty="0"/>
          </a:p>
        </p:txBody>
      </p:sp>
      <p:sp>
        <p:nvSpPr>
          <p:cNvPr id="25" name="Shape 23"/>
          <p:cNvSpPr/>
          <p:nvPr/>
        </p:nvSpPr>
        <p:spPr>
          <a:xfrm>
            <a:off x="4206240" y="3886200"/>
            <a:ext cx="4572000" cy="502920"/>
          </a:xfrm>
          <a:prstGeom prst="rect">
            <a:avLst/>
          </a:prstGeom>
          <a:solidFill>
            <a:srgbClr val="0D2E4A"/>
          </a:solidFill>
          <a:ln w="12700">
            <a:solidFill>
              <a:srgbClr val="028090"/>
            </a:solidFill>
            <a:prstDash val="solid"/>
          </a:ln>
        </p:spPr>
      </p:sp>
      <p:sp>
        <p:nvSpPr>
          <p:cNvPr id="26" name="Text 24"/>
          <p:cNvSpPr/>
          <p:nvPr/>
        </p:nvSpPr>
        <p:spPr>
          <a:xfrm>
            <a:off x="4297680" y="3913632"/>
            <a:ext cx="1188720" cy="219456"/>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23UAM039</a:t>
            </a:r>
            <a:endParaRPr lang="en-US" sz="1100" dirty="0"/>
          </a:p>
        </p:txBody>
      </p:sp>
      <p:sp>
        <p:nvSpPr>
          <p:cNvPr id="27" name="Text 25"/>
          <p:cNvSpPr/>
          <p:nvPr/>
        </p:nvSpPr>
        <p:spPr>
          <a:xfrm>
            <a:off x="5577840" y="3913632"/>
            <a:ext cx="3017520" cy="219456"/>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Afreen W Kadegaonkar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Table of Contents</a:t>
            </a:r>
            <a:endParaRPr lang="en-US" sz="2200" dirty="0"/>
          </a:p>
        </p:txBody>
      </p:sp>
      <p:sp>
        <p:nvSpPr>
          <p:cNvPr id="5" name="Shape 3"/>
          <p:cNvSpPr/>
          <p:nvPr/>
        </p:nvSpPr>
        <p:spPr>
          <a:xfrm>
            <a:off x="365760" y="868680"/>
            <a:ext cx="4206240" cy="438912"/>
          </a:xfrm>
          <a:prstGeom prst="rect">
            <a:avLst/>
          </a:prstGeom>
          <a:solidFill>
            <a:srgbClr val="F0F4F8"/>
          </a:solidFill>
          <a:ln w="12700">
            <a:solidFill>
              <a:srgbClr val="D0E0EF"/>
            </a:solidFill>
            <a:prstDash val="solid"/>
          </a:ln>
        </p:spPr>
      </p:sp>
      <p:sp>
        <p:nvSpPr>
          <p:cNvPr id="6" name="Shape 4"/>
          <p:cNvSpPr/>
          <p:nvPr/>
        </p:nvSpPr>
        <p:spPr>
          <a:xfrm>
            <a:off x="365760" y="868680"/>
            <a:ext cx="457200" cy="438912"/>
          </a:xfrm>
          <a:prstGeom prst="rect">
            <a:avLst/>
          </a:prstGeom>
          <a:solidFill>
            <a:srgbClr val="1A3A5C"/>
          </a:solidFill>
          <a:ln w="12700">
            <a:solidFill>
              <a:srgbClr val="1A3A5C"/>
            </a:solidFill>
            <a:prstDash val="solid"/>
          </a:ln>
        </p:spPr>
      </p:sp>
      <p:sp>
        <p:nvSpPr>
          <p:cNvPr id="7" name="Text 5"/>
          <p:cNvSpPr/>
          <p:nvPr/>
        </p:nvSpPr>
        <p:spPr>
          <a:xfrm>
            <a:off x="365760" y="868680"/>
            <a:ext cx="457200" cy="438912"/>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914400" y="923544"/>
            <a:ext cx="3566160" cy="329184"/>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Introduction &amp; Problem Overview</a:t>
            </a:r>
            <a:endParaRPr lang="en-US" sz="1200" dirty="0"/>
          </a:p>
        </p:txBody>
      </p:sp>
      <p:sp>
        <p:nvSpPr>
          <p:cNvPr id="9" name="Shape 7"/>
          <p:cNvSpPr/>
          <p:nvPr/>
        </p:nvSpPr>
        <p:spPr>
          <a:xfrm>
            <a:off x="365760" y="1371600"/>
            <a:ext cx="4206240" cy="438912"/>
          </a:xfrm>
          <a:prstGeom prst="rect">
            <a:avLst/>
          </a:prstGeom>
          <a:solidFill>
            <a:srgbClr val="E8F4F8"/>
          </a:solidFill>
          <a:ln w="12700">
            <a:solidFill>
              <a:srgbClr val="D0E0EF"/>
            </a:solidFill>
            <a:prstDash val="solid"/>
          </a:ln>
        </p:spPr>
      </p:sp>
      <p:sp>
        <p:nvSpPr>
          <p:cNvPr id="10" name="Shape 8"/>
          <p:cNvSpPr/>
          <p:nvPr/>
        </p:nvSpPr>
        <p:spPr>
          <a:xfrm>
            <a:off x="365760" y="1371600"/>
            <a:ext cx="457200" cy="438912"/>
          </a:xfrm>
          <a:prstGeom prst="rect">
            <a:avLst/>
          </a:prstGeom>
          <a:solidFill>
            <a:srgbClr val="1A3A5C"/>
          </a:solidFill>
          <a:ln w="12700">
            <a:solidFill>
              <a:srgbClr val="1A3A5C"/>
            </a:solidFill>
            <a:prstDash val="solid"/>
          </a:ln>
        </p:spPr>
      </p:sp>
      <p:sp>
        <p:nvSpPr>
          <p:cNvPr id="11" name="Text 9"/>
          <p:cNvSpPr/>
          <p:nvPr/>
        </p:nvSpPr>
        <p:spPr>
          <a:xfrm>
            <a:off x="365760" y="1371600"/>
            <a:ext cx="457200" cy="438912"/>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02</a:t>
            </a:r>
            <a:endParaRPr lang="en-US" sz="1300" dirty="0"/>
          </a:p>
        </p:txBody>
      </p:sp>
      <p:sp>
        <p:nvSpPr>
          <p:cNvPr id="12" name="Text 10"/>
          <p:cNvSpPr/>
          <p:nvPr/>
        </p:nvSpPr>
        <p:spPr>
          <a:xfrm>
            <a:off x="914400" y="1426464"/>
            <a:ext cx="3566160" cy="329184"/>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Problem Statement &amp; Objectives</a:t>
            </a:r>
            <a:endParaRPr lang="en-US" sz="1200" dirty="0"/>
          </a:p>
        </p:txBody>
      </p:sp>
      <p:sp>
        <p:nvSpPr>
          <p:cNvPr id="13" name="Shape 11"/>
          <p:cNvSpPr/>
          <p:nvPr/>
        </p:nvSpPr>
        <p:spPr>
          <a:xfrm>
            <a:off x="365760" y="1874520"/>
            <a:ext cx="4206240" cy="438912"/>
          </a:xfrm>
          <a:prstGeom prst="rect">
            <a:avLst/>
          </a:prstGeom>
          <a:solidFill>
            <a:srgbClr val="F0F4F8"/>
          </a:solidFill>
          <a:ln w="12700">
            <a:solidFill>
              <a:srgbClr val="D0E0EF"/>
            </a:solidFill>
            <a:prstDash val="solid"/>
          </a:ln>
        </p:spPr>
      </p:sp>
      <p:sp>
        <p:nvSpPr>
          <p:cNvPr id="14" name="Shape 12"/>
          <p:cNvSpPr/>
          <p:nvPr/>
        </p:nvSpPr>
        <p:spPr>
          <a:xfrm>
            <a:off x="365760" y="1874520"/>
            <a:ext cx="457200" cy="438912"/>
          </a:xfrm>
          <a:prstGeom prst="rect">
            <a:avLst/>
          </a:prstGeom>
          <a:solidFill>
            <a:srgbClr val="1A3A5C"/>
          </a:solidFill>
          <a:ln w="12700">
            <a:solidFill>
              <a:srgbClr val="1A3A5C"/>
            </a:solidFill>
            <a:prstDash val="solid"/>
          </a:ln>
        </p:spPr>
      </p:sp>
      <p:sp>
        <p:nvSpPr>
          <p:cNvPr id="15" name="Text 13"/>
          <p:cNvSpPr/>
          <p:nvPr/>
        </p:nvSpPr>
        <p:spPr>
          <a:xfrm>
            <a:off x="365760" y="1874520"/>
            <a:ext cx="457200" cy="438912"/>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03</a:t>
            </a:r>
            <a:endParaRPr lang="en-US" sz="1300" dirty="0"/>
          </a:p>
        </p:txBody>
      </p:sp>
      <p:sp>
        <p:nvSpPr>
          <p:cNvPr id="16" name="Text 14"/>
          <p:cNvSpPr/>
          <p:nvPr/>
        </p:nvSpPr>
        <p:spPr>
          <a:xfrm>
            <a:off x="914400" y="1929384"/>
            <a:ext cx="3566160" cy="329184"/>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System Overview &amp; Architecture</a:t>
            </a:r>
            <a:endParaRPr lang="en-US" sz="1200" dirty="0"/>
          </a:p>
        </p:txBody>
      </p:sp>
      <p:sp>
        <p:nvSpPr>
          <p:cNvPr id="17" name="Shape 15"/>
          <p:cNvSpPr/>
          <p:nvPr/>
        </p:nvSpPr>
        <p:spPr>
          <a:xfrm>
            <a:off x="365760" y="2377440"/>
            <a:ext cx="4206240" cy="438912"/>
          </a:xfrm>
          <a:prstGeom prst="rect">
            <a:avLst/>
          </a:prstGeom>
          <a:solidFill>
            <a:srgbClr val="E8F4F8"/>
          </a:solidFill>
          <a:ln w="12700">
            <a:solidFill>
              <a:srgbClr val="D0E0EF"/>
            </a:solidFill>
            <a:prstDash val="solid"/>
          </a:ln>
        </p:spPr>
      </p:sp>
      <p:sp>
        <p:nvSpPr>
          <p:cNvPr id="18" name="Shape 16"/>
          <p:cNvSpPr/>
          <p:nvPr/>
        </p:nvSpPr>
        <p:spPr>
          <a:xfrm>
            <a:off x="365760" y="2377440"/>
            <a:ext cx="457200" cy="438912"/>
          </a:xfrm>
          <a:prstGeom prst="rect">
            <a:avLst/>
          </a:prstGeom>
          <a:solidFill>
            <a:srgbClr val="1A3A5C"/>
          </a:solidFill>
          <a:ln w="12700">
            <a:solidFill>
              <a:srgbClr val="1A3A5C"/>
            </a:solidFill>
            <a:prstDash val="solid"/>
          </a:ln>
        </p:spPr>
      </p:sp>
      <p:sp>
        <p:nvSpPr>
          <p:cNvPr id="19" name="Text 17"/>
          <p:cNvSpPr/>
          <p:nvPr/>
        </p:nvSpPr>
        <p:spPr>
          <a:xfrm>
            <a:off x="365760" y="2377440"/>
            <a:ext cx="457200" cy="438912"/>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04</a:t>
            </a:r>
            <a:endParaRPr lang="en-US" sz="1300" dirty="0"/>
          </a:p>
        </p:txBody>
      </p:sp>
      <p:sp>
        <p:nvSpPr>
          <p:cNvPr id="20" name="Text 18"/>
          <p:cNvSpPr/>
          <p:nvPr/>
        </p:nvSpPr>
        <p:spPr>
          <a:xfrm>
            <a:off x="914400" y="2432304"/>
            <a:ext cx="3566160" cy="329184"/>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System Workflow &amp; Pipeline</a:t>
            </a:r>
            <a:endParaRPr lang="en-US" sz="1200" dirty="0"/>
          </a:p>
        </p:txBody>
      </p:sp>
      <p:sp>
        <p:nvSpPr>
          <p:cNvPr id="21" name="Shape 19"/>
          <p:cNvSpPr/>
          <p:nvPr/>
        </p:nvSpPr>
        <p:spPr>
          <a:xfrm>
            <a:off x="365760" y="2880360"/>
            <a:ext cx="4206240" cy="438912"/>
          </a:xfrm>
          <a:prstGeom prst="rect">
            <a:avLst/>
          </a:prstGeom>
          <a:solidFill>
            <a:srgbClr val="F0F4F8"/>
          </a:solidFill>
          <a:ln w="12700">
            <a:solidFill>
              <a:srgbClr val="D0E0EF"/>
            </a:solidFill>
            <a:prstDash val="solid"/>
          </a:ln>
        </p:spPr>
      </p:sp>
      <p:sp>
        <p:nvSpPr>
          <p:cNvPr id="22" name="Shape 20"/>
          <p:cNvSpPr/>
          <p:nvPr/>
        </p:nvSpPr>
        <p:spPr>
          <a:xfrm>
            <a:off x="365760" y="2880360"/>
            <a:ext cx="457200" cy="438912"/>
          </a:xfrm>
          <a:prstGeom prst="rect">
            <a:avLst/>
          </a:prstGeom>
          <a:solidFill>
            <a:srgbClr val="1A3A5C"/>
          </a:solidFill>
          <a:ln w="12700">
            <a:solidFill>
              <a:srgbClr val="1A3A5C"/>
            </a:solidFill>
            <a:prstDash val="solid"/>
          </a:ln>
        </p:spPr>
      </p:sp>
      <p:sp>
        <p:nvSpPr>
          <p:cNvPr id="23" name="Text 21"/>
          <p:cNvSpPr/>
          <p:nvPr/>
        </p:nvSpPr>
        <p:spPr>
          <a:xfrm>
            <a:off x="365760" y="2880360"/>
            <a:ext cx="457200" cy="438912"/>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05</a:t>
            </a:r>
            <a:endParaRPr lang="en-US" sz="1300" dirty="0"/>
          </a:p>
        </p:txBody>
      </p:sp>
      <p:sp>
        <p:nvSpPr>
          <p:cNvPr id="24" name="Text 22"/>
          <p:cNvSpPr/>
          <p:nvPr/>
        </p:nvSpPr>
        <p:spPr>
          <a:xfrm>
            <a:off x="914400" y="2935224"/>
            <a:ext cx="3566160" cy="329184"/>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Module Descriptions</a:t>
            </a:r>
            <a:endParaRPr lang="en-US" sz="1200" dirty="0"/>
          </a:p>
        </p:txBody>
      </p:sp>
      <p:sp>
        <p:nvSpPr>
          <p:cNvPr id="25" name="Shape 23"/>
          <p:cNvSpPr/>
          <p:nvPr/>
        </p:nvSpPr>
        <p:spPr>
          <a:xfrm>
            <a:off x="365760" y="3383280"/>
            <a:ext cx="4206240" cy="438912"/>
          </a:xfrm>
          <a:prstGeom prst="rect">
            <a:avLst/>
          </a:prstGeom>
          <a:solidFill>
            <a:srgbClr val="E8F4F8"/>
          </a:solidFill>
          <a:ln w="12700">
            <a:solidFill>
              <a:srgbClr val="D0E0EF"/>
            </a:solidFill>
            <a:prstDash val="solid"/>
          </a:ln>
        </p:spPr>
      </p:sp>
      <p:sp>
        <p:nvSpPr>
          <p:cNvPr id="26" name="Shape 24"/>
          <p:cNvSpPr/>
          <p:nvPr/>
        </p:nvSpPr>
        <p:spPr>
          <a:xfrm>
            <a:off x="365760" y="3383280"/>
            <a:ext cx="457200" cy="438912"/>
          </a:xfrm>
          <a:prstGeom prst="rect">
            <a:avLst/>
          </a:prstGeom>
          <a:solidFill>
            <a:srgbClr val="1A3A5C"/>
          </a:solidFill>
          <a:ln w="12700">
            <a:solidFill>
              <a:srgbClr val="1A3A5C"/>
            </a:solidFill>
            <a:prstDash val="solid"/>
          </a:ln>
        </p:spPr>
      </p:sp>
      <p:sp>
        <p:nvSpPr>
          <p:cNvPr id="27" name="Text 25"/>
          <p:cNvSpPr/>
          <p:nvPr/>
        </p:nvSpPr>
        <p:spPr>
          <a:xfrm>
            <a:off x="365760" y="3383280"/>
            <a:ext cx="457200" cy="438912"/>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06</a:t>
            </a:r>
            <a:endParaRPr lang="en-US" sz="1300" dirty="0"/>
          </a:p>
        </p:txBody>
      </p:sp>
      <p:sp>
        <p:nvSpPr>
          <p:cNvPr id="28" name="Text 26"/>
          <p:cNvSpPr/>
          <p:nvPr/>
        </p:nvSpPr>
        <p:spPr>
          <a:xfrm>
            <a:off x="914400" y="3438144"/>
            <a:ext cx="3566160" cy="329184"/>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Functional Requirements</a:t>
            </a:r>
            <a:endParaRPr lang="en-US" sz="1200" dirty="0"/>
          </a:p>
        </p:txBody>
      </p:sp>
      <p:sp>
        <p:nvSpPr>
          <p:cNvPr id="29" name="Shape 27"/>
          <p:cNvSpPr/>
          <p:nvPr/>
        </p:nvSpPr>
        <p:spPr>
          <a:xfrm>
            <a:off x="4846320" y="868680"/>
            <a:ext cx="4206240" cy="438912"/>
          </a:xfrm>
          <a:prstGeom prst="rect">
            <a:avLst/>
          </a:prstGeom>
          <a:solidFill>
            <a:srgbClr val="F0F4F8"/>
          </a:solidFill>
          <a:ln w="12700">
            <a:solidFill>
              <a:srgbClr val="D0E0EF"/>
            </a:solidFill>
            <a:prstDash val="solid"/>
          </a:ln>
        </p:spPr>
      </p:sp>
      <p:sp>
        <p:nvSpPr>
          <p:cNvPr id="30" name="Shape 28"/>
          <p:cNvSpPr/>
          <p:nvPr/>
        </p:nvSpPr>
        <p:spPr>
          <a:xfrm>
            <a:off x="4846320" y="868680"/>
            <a:ext cx="457200" cy="438912"/>
          </a:xfrm>
          <a:prstGeom prst="rect">
            <a:avLst/>
          </a:prstGeom>
          <a:solidFill>
            <a:srgbClr val="1A3A5C"/>
          </a:solidFill>
          <a:ln w="12700">
            <a:solidFill>
              <a:srgbClr val="1A3A5C"/>
            </a:solidFill>
            <a:prstDash val="solid"/>
          </a:ln>
        </p:spPr>
      </p:sp>
      <p:sp>
        <p:nvSpPr>
          <p:cNvPr id="31" name="Text 29"/>
          <p:cNvSpPr/>
          <p:nvPr/>
        </p:nvSpPr>
        <p:spPr>
          <a:xfrm>
            <a:off x="4846320" y="868680"/>
            <a:ext cx="457200" cy="438912"/>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07</a:t>
            </a:r>
            <a:endParaRPr lang="en-US" sz="1300" dirty="0"/>
          </a:p>
        </p:txBody>
      </p:sp>
      <p:sp>
        <p:nvSpPr>
          <p:cNvPr id="32" name="Text 30"/>
          <p:cNvSpPr/>
          <p:nvPr/>
        </p:nvSpPr>
        <p:spPr>
          <a:xfrm>
            <a:off x="5394960" y="923544"/>
            <a:ext cx="3566160" cy="329184"/>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Performance &amp; Design Constraints</a:t>
            </a:r>
            <a:endParaRPr lang="en-US" sz="1200" dirty="0"/>
          </a:p>
        </p:txBody>
      </p:sp>
      <p:sp>
        <p:nvSpPr>
          <p:cNvPr id="33" name="Shape 31"/>
          <p:cNvSpPr/>
          <p:nvPr/>
        </p:nvSpPr>
        <p:spPr>
          <a:xfrm>
            <a:off x="4846320" y="1371600"/>
            <a:ext cx="4206240" cy="438912"/>
          </a:xfrm>
          <a:prstGeom prst="rect">
            <a:avLst/>
          </a:prstGeom>
          <a:solidFill>
            <a:srgbClr val="E8F4F8"/>
          </a:solidFill>
          <a:ln w="12700">
            <a:solidFill>
              <a:srgbClr val="D0E0EF"/>
            </a:solidFill>
            <a:prstDash val="solid"/>
          </a:ln>
        </p:spPr>
      </p:sp>
      <p:sp>
        <p:nvSpPr>
          <p:cNvPr id="34" name="Shape 32"/>
          <p:cNvSpPr/>
          <p:nvPr/>
        </p:nvSpPr>
        <p:spPr>
          <a:xfrm>
            <a:off x="4846320" y="1371600"/>
            <a:ext cx="457200" cy="438912"/>
          </a:xfrm>
          <a:prstGeom prst="rect">
            <a:avLst/>
          </a:prstGeom>
          <a:solidFill>
            <a:srgbClr val="1A3A5C"/>
          </a:solidFill>
          <a:ln w="12700">
            <a:solidFill>
              <a:srgbClr val="1A3A5C"/>
            </a:solidFill>
            <a:prstDash val="solid"/>
          </a:ln>
        </p:spPr>
      </p:sp>
      <p:sp>
        <p:nvSpPr>
          <p:cNvPr id="35" name="Text 33"/>
          <p:cNvSpPr/>
          <p:nvPr/>
        </p:nvSpPr>
        <p:spPr>
          <a:xfrm>
            <a:off x="4846320" y="1371600"/>
            <a:ext cx="457200" cy="438912"/>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08</a:t>
            </a:r>
            <a:endParaRPr lang="en-US" sz="1300" dirty="0"/>
          </a:p>
        </p:txBody>
      </p:sp>
      <p:sp>
        <p:nvSpPr>
          <p:cNvPr id="36" name="Text 34"/>
          <p:cNvSpPr/>
          <p:nvPr/>
        </p:nvSpPr>
        <p:spPr>
          <a:xfrm>
            <a:off x="5394960" y="1426464"/>
            <a:ext cx="3566160" cy="329184"/>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Database &amp; Security Design</a:t>
            </a:r>
            <a:endParaRPr lang="en-US" sz="1200" dirty="0"/>
          </a:p>
        </p:txBody>
      </p:sp>
      <p:sp>
        <p:nvSpPr>
          <p:cNvPr id="37" name="Shape 35"/>
          <p:cNvSpPr/>
          <p:nvPr/>
        </p:nvSpPr>
        <p:spPr>
          <a:xfrm>
            <a:off x="4846320" y="1874520"/>
            <a:ext cx="4206240" cy="438912"/>
          </a:xfrm>
          <a:prstGeom prst="rect">
            <a:avLst/>
          </a:prstGeom>
          <a:solidFill>
            <a:srgbClr val="F0F4F8"/>
          </a:solidFill>
          <a:ln w="12700">
            <a:solidFill>
              <a:srgbClr val="D0E0EF"/>
            </a:solidFill>
            <a:prstDash val="solid"/>
          </a:ln>
        </p:spPr>
      </p:sp>
      <p:sp>
        <p:nvSpPr>
          <p:cNvPr id="38" name="Shape 36"/>
          <p:cNvSpPr/>
          <p:nvPr/>
        </p:nvSpPr>
        <p:spPr>
          <a:xfrm>
            <a:off x="4846320" y="1874520"/>
            <a:ext cx="457200" cy="438912"/>
          </a:xfrm>
          <a:prstGeom prst="rect">
            <a:avLst/>
          </a:prstGeom>
          <a:solidFill>
            <a:srgbClr val="1A3A5C"/>
          </a:solidFill>
          <a:ln w="12700">
            <a:solidFill>
              <a:srgbClr val="1A3A5C"/>
            </a:solidFill>
            <a:prstDash val="solid"/>
          </a:ln>
        </p:spPr>
      </p:sp>
      <p:sp>
        <p:nvSpPr>
          <p:cNvPr id="39" name="Text 37"/>
          <p:cNvSpPr/>
          <p:nvPr/>
        </p:nvSpPr>
        <p:spPr>
          <a:xfrm>
            <a:off x="4846320" y="1874520"/>
            <a:ext cx="457200" cy="438912"/>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09</a:t>
            </a:r>
            <a:endParaRPr lang="en-US" sz="1300" dirty="0"/>
          </a:p>
        </p:txBody>
      </p:sp>
      <p:sp>
        <p:nvSpPr>
          <p:cNvPr id="40" name="Text 38"/>
          <p:cNvSpPr/>
          <p:nvPr/>
        </p:nvSpPr>
        <p:spPr>
          <a:xfrm>
            <a:off x="5394960" y="1929384"/>
            <a:ext cx="3566160" cy="329184"/>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Software Design (UML Diagrams)</a:t>
            </a:r>
            <a:endParaRPr lang="en-US" sz="1200" dirty="0"/>
          </a:p>
        </p:txBody>
      </p:sp>
      <p:sp>
        <p:nvSpPr>
          <p:cNvPr id="41" name="Shape 39"/>
          <p:cNvSpPr/>
          <p:nvPr/>
        </p:nvSpPr>
        <p:spPr>
          <a:xfrm>
            <a:off x="4846320" y="2377440"/>
            <a:ext cx="4206240" cy="438912"/>
          </a:xfrm>
          <a:prstGeom prst="rect">
            <a:avLst/>
          </a:prstGeom>
          <a:solidFill>
            <a:srgbClr val="E8F4F8"/>
          </a:solidFill>
          <a:ln w="12700">
            <a:solidFill>
              <a:srgbClr val="D0E0EF"/>
            </a:solidFill>
            <a:prstDash val="solid"/>
          </a:ln>
        </p:spPr>
      </p:sp>
      <p:sp>
        <p:nvSpPr>
          <p:cNvPr id="42" name="Shape 40"/>
          <p:cNvSpPr/>
          <p:nvPr/>
        </p:nvSpPr>
        <p:spPr>
          <a:xfrm>
            <a:off x="4846320" y="2377440"/>
            <a:ext cx="457200" cy="438912"/>
          </a:xfrm>
          <a:prstGeom prst="rect">
            <a:avLst/>
          </a:prstGeom>
          <a:solidFill>
            <a:srgbClr val="1A3A5C"/>
          </a:solidFill>
          <a:ln w="12700">
            <a:solidFill>
              <a:srgbClr val="1A3A5C"/>
            </a:solidFill>
            <a:prstDash val="solid"/>
          </a:ln>
        </p:spPr>
      </p:sp>
      <p:sp>
        <p:nvSpPr>
          <p:cNvPr id="43" name="Text 41"/>
          <p:cNvSpPr/>
          <p:nvPr/>
        </p:nvSpPr>
        <p:spPr>
          <a:xfrm>
            <a:off x="4846320" y="2377440"/>
            <a:ext cx="457200" cy="438912"/>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10</a:t>
            </a:r>
            <a:endParaRPr lang="en-US" sz="1300" dirty="0"/>
          </a:p>
        </p:txBody>
      </p:sp>
      <p:sp>
        <p:nvSpPr>
          <p:cNvPr id="44" name="Text 42"/>
          <p:cNvSpPr/>
          <p:nvPr/>
        </p:nvSpPr>
        <p:spPr>
          <a:xfrm>
            <a:off x="5394960" y="2432304"/>
            <a:ext cx="3566160" cy="329184"/>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Deployment Architecture</a:t>
            </a:r>
            <a:endParaRPr lang="en-US" sz="1200" dirty="0"/>
          </a:p>
        </p:txBody>
      </p:sp>
      <p:sp>
        <p:nvSpPr>
          <p:cNvPr id="45" name="Shape 43"/>
          <p:cNvSpPr/>
          <p:nvPr/>
        </p:nvSpPr>
        <p:spPr>
          <a:xfrm>
            <a:off x="4846320" y="2880360"/>
            <a:ext cx="4206240" cy="438912"/>
          </a:xfrm>
          <a:prstGeom prst="rect">
            <a:avLst/>
          </a:prstGeom>
          <a:solidFill>
            <a:srgbClr val="F0F4F8"/>
          </a:solidFill>
          <a:ln w="12700">
            <a:solidFill>
              <a:srgbClr val="D0E0EF"/>
            </a:solidFill>
            <a:prstDash val="solid"/>
          </a:ln>
        </p:spPr>
      </p:sp>
      <p:sp>
        <p:nvSpPr>
          <p:cNvPr id="46" name="Shape 44"/>
          <p:cNvSpPr/>
          <p:nvPr/>
        </p:nvSpPr>
        <p:spPr>
          <a:xfrm>
            <a:off x="4846320" y="2880360"/>
            <a:ext cx="457200" cy="438912"/>
          </a:xfrm>
          <a:prstGeom prst="rect">
            <a:avLst/>
          </a:prstGeom>
          <a:solidFill>
            <a:srgbClr val="1A3A5C"/>
          </a:solidFill>
          <a:ln w="12700">
            <a:solidFill>
              <a:srgbClr val="1A3A5C"/>
            </a:solidFill>
            <a:prstDash val="solid"/>
          </a:ln>
        </p:spPr>
      </p:sp>
      <p:sp>
        <p:nvSpPr>
          <p:cNvPr id="47" name="Text 45"/>
          <p:cNvSpPr/>
          <p:nvPr/>
        </p:nvSpPr>
        <p:spPr>
          <a:xfrm>
            <a:off x="4846320" y="2880360"/>
            <a:ext cx="457200" cy="438912"/>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11</a:t>
            </a:r>
            <a:endParaRPr lang="en-US" sz="1300" dirty="0"/>
          </a:p>
        </p:txBody>
      </p:sp>
      <p:sp>
        <p:nvSpPr>
          <p:cNvPr id="48" name="Text 46"/>
          <p:cNvSpPr/>
          <p:nvPr/>
        </p:nvSpPr>
        <p:spPr>
          <a:xfrm>
            <a:off x="5394960" y="2935224"/>
            <a:ext cx="3566160" cy="329184"/>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Technology Stack</a:t>
            </a:r>
            <a:endParaRPr lang="en-US" sz="1200" dirty="0"/>
          </a:p>
        </p:txBody>
      </p:sp>
      <p:sp>
        <p:nvSpPr>
          <p:cNvPr id="49" name="Shape 47"/>
          <p:cNvSpPr/>
          <p:nvPr/>
        </p:nvSpPr>
        <p:spPr>
          <a:xfrm>
            <a:off x="4846320" y="3383280"/>
            <a:ext cx="4206240" cy="438912"/>
          </a:xfrm>
          <a:prstGeom prst="rect">
            <a:avLst/>
          </a:prstGeom>
          <a:solidFill>
            <a:srgbClr val="E8F4F8"/>
          </a:solidFill>
          <a:ln w="12700">
            <a:solidFill>
              <a:srgbClr val="D0E0EF"/>
            </a:solidFill>
            <a:prstDash val="solid"/>
          </a:ln>
        </p:spPr>
      </p:sp>
      <p:sp>
        <p:nvSpPr>
          <p:cNvPr id="50" name="Shape 48"/>
          <p:cNvSpPr/>
          <p:nvPr/>
        </p:nvSpPr>
        <p:spPr>
          <a:xfrm>
            <a:off x="4846320" y="3383280"/>
            <a:ext cx="457200" cy="438912"/>
          </a:xfrm>
          <a:prstGeom prst="rect">
            <a:avLst/>
          </a:prstGeom>
          <a:solidFill>
            <a:srgbClr val="1A3A5C"/>
          </a:solidFill>
          <a:ln w="12700">
            <a:solidFill>
              <a:srgbClr val="1A3A5C"/>
            </a:solidFill>
            <a:prstDash val="solid"/>
          </a:ln>
        </p:spPr>
      </p:sp>
      <p:sp>
        <p:nvSpPr>
          <p:cNvPr id="51" name="Text 49"/>
          <p:cNvSpPr/>
          <p:nvPr/>
        </p:nvSpPr>
        <p:spPr>
          <a:xfrm>
            <a:off x="4846320" y="3383280"/>
            <a:ext cx="457200" cy="438912"/>
          </a:xfrm>
          <a:prstGeom prst="rect">
            <a:avLst/>
          </a:prstGeom>
          <a:noFill/>
          <a:ln/>
        </p:spPr>
        <p:txBody>
          <a:bodyPr wrap="square" lIns="0" tIns="0" rIns="0" bIns="0" rtlCol="0" anchor="ctr"/>
          <a:lstStyle/>
          <a:p>
            <a:pPr marL="0" indent="0" algn="ctr">
              <a:buNone/>
            </a:pPr>
            <a:r>
              <a:rPr lang="en-US" sz="1300" b="1" dirty="0">
                <a:solidFill>
                  <a:srgbClr val="02C39A"/>
                </a:solidFill>
                <a:latin typeface="Calibri" pitchFamily="34" charset="0"/>
                <a:ea typeface="Calibri" pitchFamily="34" charset="-122"/>
                <a:cs typeface="Calibri" pitchFamily="34" charset="-120"/>
              </a:rPr>
              <a:t>12</a:t>
            </a:r>
            <a:endParaRPr lang="en-US" sz="1300" dirty="0"/>
          </a:p>
        </p:txBody>
      </p:sp>
      <p:sp>
        <p:nvSpPr>
          <p:cNvPr id="52" name="Text 50"/>
          <p:cNvSpPr/>
          <p:nvPr/>
        </p:nvSpPr>
        <p:spPr>
          <a:xfrm>
            <a:off x="5394960" y="3438144"/>
            <a:ext cx="3566160" cy="329184"/>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References &amp; Conclusion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Introduction</a:t>
            </a:r>
            <a:endParaRPr lang="en-US" sz="2200" dirty="0"/>
          </a:p>
        </p:txBody>
      </p:sp>
      <p:sp>
        <p:nvSpPr>
          <p:cNvPr id="5" name="Text 3"/>
          <p:cNvSpPr/>
          <p:nvPr/>
        </p:nvSpPr>
        <p:spPr>
          <a:xfrm>
            <a:off x="344658" y="667512"/>
            <a:ext cx="8229600" cy="292608"/>
          </a:xfrm>
          <a:prstGeom prst="rect">
            <a:avLst/>
          </a:prstGeom>
          <a:noFill/>
          <a:ln/>
        </p:spPr>
        <p:txBody>
          <a:bodyPr wrap="square" rtlCol="0" anchor="ctr"/>
          <a:lstStyle/>
          <a:p>
            <a:pPr marL="0" indent="0">
              <a:buNone/>
            </a:pPr>
            <a:r>
              <a:rPr lang="en-US" sz="1400" b="1" dirty="0">
                <a:solidFill>
                  <a:srgbClr val="1A3A5C"/>
                </a:solidFill>
                <a:latin typeface="Calibri" pitchFamily="34" charset="0"/>
                <a:ea typeface="Calibri" pitchFamily="34" charset="-122"/>
                <a:cs typeface="Calibri" pitchFamily="34" charset="-120"/>
              </a:rPr>
              <a:t>Domain Overview</a:t>
            </a:r>
            <a:endParaRPr lang="en-US" sz="1400" dirty="0"/>
          </a:p>
        </p:txBody>
      </p:sp>
      <p:sp>
        <p:nvSpPr>
          <p:cNvPr id="6" name="Text 4"/>
          <p:cNvSpPr/>
          <p:nvPr/>
        </p:nvSpPr>
        <p:spPr>
          <a:xfrm>
            <a:off x="365760" y="1234440"/>
            <a:ext cx="8412480" cy="502920"/>
          </a:xfrm>
          <a:prstGeom prst="rect">
            <a:avLst/>
          </a:prstGeom>
          <a:noFill/>
          <a:ln/>
        </p:spPr>
        <p:txBody>
          <a:bodyPr wrap="square" rtlCol="0" anchor="ctr"/>
          <a:lstStyle/>
          <a:p>
            <a:pPr lvl="0">
              <a:lnSpc>
                <a:spcPct val="129955"/>
              </a:lnSpc>
            </a:pPr>
            <a:r>
              <a:rPr lang="en-US" sz="1400" dirty="0">
                <a:solidFill>
                  <a:srgbClr val="334155"/>
                </a:solidFill>
                <a:latin typeface="Roboto"/>
                <a:ea typeface="Roboto"/>
                <a:cs typeface="Roboto"/>
                <a:sym typeface="Roboto"/>
              </a:rPr>
              <a:t>This project integrates </a:t>
            </a:r>
            <a:r>
              <a:rPr lang="en-US" sz="1400" b="1" dirty="0">
                <a:solidFill>
                  <a:srgbClr val="334155"/>
                </a:solidFill>
                <a:latin typeface="Roboto"/>
                <a:ea typeface="Roboto"/>
                <a:cs typeface="Roboto"/>
                <a:sym typeface="Roboto"/>
              </a:rPr>
              <a:t>Artificial Intelligence</a:t>
            </a:r>
            <a:r>
              <a:rPr lang="en-US" sz="1400" dirty="0">
                <a:solidFill>
                  <a:srgbClr val="334155"/>
                </a:solidFill>
                <a:latin typeface="Roboto"/>
                <a:ea typeface="Roboto"/>
                <a:cs typeface="Roboto"/>
                <a:sym typeface="Roboto"/>
              </a:rPr>
              <a:t> and </a:t>
            </a:r>
            <a:r>
              <a:rPr lang="en-US" sz="1400" b="1" dirty="0">
                <a:solidFill>
                  <a:srgbClr val="334155"/>
                </a:solidFill>
                <a:latin typeface="Roboto"/>
                <a:ea typeface="Roboto"/>
                <a:cs typeface="Roboto"/>
                <a:sym typeface="Roboto"/>
              </a:rPr>
              <a:t>Computer Vision</a:t>
            </a:r>
            <a:r>
              <a:rPr lang="en-US" sz="1400" dirty="0">
                <a:solidFill>
                  <a:srgbClr val="334155"/>
                </a:solidFill>
                <a:latin typeface="Roboto"/>
                <a:ea typeface="Roboto"/>
                <a:cs typeface="Roboto"/>
                <a:sym typeface="Roboto"/>
              </a:rPr>
              <a:t> to automate athlete performance analysis. Traditional coaching relies on manual observation, which is inherently subjective and inconsistent. Virtual Coach provides an </a:t>
            </a:r>
            <a:r>
              <a:rPr lang="en-US" sz="1400" b="1" dirty="0">
                <a:solidFill>
                  <a:srgbClr val="334155"/>
                </a:solidFill>
                <a:latin typeface="Roboto"/>
                <a:ea typeface="Roboto"/>
                <a:cs typeface="Roboto"/>
                <a:sym typeface="Roboto"/>
              </a:rPr>
              <a:t>objective, numerical basis</a:t>
            </a:r>
            <a:r>
              <a:rPr lang="en-US" sz="1400" dirty="0">
                <a:solidFill>
                  <a:srgbClr val="334155"/>
                </a:solidFill>
                <a:latin typeface="Roboto"/>
                <a:ea typeface="Roboto"/>
                <a:cs typeface="Roboto"/>
                <a:sym typeface="Roboto"/>
              </a:rPr>
              <a:t> for evaluating posture and movement fluidity.</a:t>
            </a:r>
            <a:endParaRPr lang="en-US" sz="1400" dirty="0"/>
          </a:p>
        </p:txBody>
      </p:sp>
      <p:sp>
        <p:nvSpPr>
          <p:cNvPr id="7" name="Shape 5"/>
          <p:cNvSpPr/>
          <p:nvPr/>
        </p:nvSpPr>
        <p:spPr>
          <a:xfrm>
            <a:off x="457200" y="2286000"/>
            <a:ext cx="4114800" cy="1188720"/>
          </a:xfrm>
          <a:prstGeom prst="rect">
            <a:avLst/>
          </a:prstGeom>
          <a:solidFill>
            <a:srgbClr val="EBF5FB"/>
          </a:solidFill>
          <a:ln w="12700">
            <a:solidFill>
              <a:srgbClr val="1A3A5C"/>
            </a:solidFill>
            <a:prstDash val="solid"/>
          </a:ln>
        </p:spPr>
      </p:sp>
      <p:sp>
        <p:nvSpPr>
          <p:cNvPr id="8" name="Shape 6"/>
          <p:cNvSpPr/>
          <p:nvPr/>
        </p:nvSpPr>
        <p:spPr>
          <a:xfrm>
            <a:off x="457200" y="2286000"/>
            <a:ext cx="4114800" cy="320040"/>
          </a:xfrm>
          <a:prstGeom prst="rect">
            <a:avLst/>
          </a:prstGeom>
          <a:solidFill>
            <a:srgbClr val="1A3A5C"/>
          </a:solidFill>
          <a:ln w="12700">
            <a:solidFill>
              <a:srgbClr val="1A3A5C"/>
            </a:solidFill>
            <a:prstDash val="solid"/>
          </a:ln>
        </p:spPr>
      </p:sp>
      <p:sp>
        <p:nvSpPr>
          <p:cNvPr id="9" name="Text 7"/>
          <p:cNvSpPr/>
          <p:nvPr/>
        </p:nvSpPr>
        <p:spPr>
          <a:xfrm>
            <a:off x="548640" y="2322576"/>
            <a:ext cx="3840480" cy="24688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Domain</a:t>
            </a:r>
            <a:endParaRPr lang="en-US" sz="1200" dirty="0"/>
          </a:p>
        </p:txBody>
      </p:sp>
      <p:sp>
        <p:nvSpPr>
          <p:cNvPr id="10" name="Text 8"/>
          <p:cNvSpPr/>
          <p:nvPr/>
        </p:nvSpPr>
        <p:spPr>
          <a:xfrm>
            <a:off x="548640" y="2670048"/>
            <a:ext cx="3840480" cy="685800"/>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AI, Computer Vision,</a:t>
            </a:r>
            <a:endParaRPr lang="en-US" sz="1200" dirty="0"/>
          </a:p>
          <a:p>
            <a:pPr marL="0" indent="0">
              <a:buNone/>
            </a:pPr>
            <a:r>
              <a:rPr lang="en-US" sz="1200" dirty="0">
                <a:solidFill>
                  <a:srgbClr val="1A2E40"/>
                </a:solidFill>
                <a:latin typeface="Calibri" pitchFamily="34" charset="0"/>
                <a:ea typeface="Calibri" pitchFamily="34" charset="-122"/>
                <a:cs typeface="Calibri" pitchFamily="34" charset="-120"/>
              </a:rPr>
              <a:t>Machine Learning &amp; Deep Learning</a:t>
            </a:r>
            <a:endParaRPr lang="en-US" sz="1200" dirty="0"/>
          </a:p>
        </p:txBody>
      </p:sp>
      <p:sp>
        <p:nvSpPr>
          <p:cNvPr id="11" name="Shape 9"/>
          <p:cNvSpPr/>
          <p:nvPr/>
        </p:nvSpPr>
        <p:spPr>
          <a:xfrm>
            <a:off x="4754880" y="2286000"/>
            <a:ext cx="4114800" cy="1188720"/>
          </a:xfrm>
          <a:prstGeom prst="rect">
            <a:avLst/>
          </a:prstGeom>
          <a:solidFill>
            <a:srgbClr val="E8F8F5"/>
          </a:solidFill>
          <a:ln w="12700">
            <a:solidFill>
              <a:srgbClr val="028090"/>
            </a:solidFill>
            <a:prstDash val="solid"/>
          </a:ln>
        </p:spPr>
      </p:sp>
      <p:sp>
        <p:nvSpPr>
          <p:cNvPr id="12" name="Shape 10"/>
          <p:cNvSpPr/>
          <p:nvPr/>
        </p:nvSpPr>
        <p:spPr>
          <a:xfrm>
            <a:off x="4754880" y="2286000"/>
            <a:ext cx="4114800" cy="320040"/>
          </a:xfrm>
          <a:prstGeom prst="rect">
            <a:avLst/>
          </a:prstGeom>
          <a:solidFill>
            <a:srgbClr val="028090"/>
          </a:solidFill>
          <a:ln w="12700">
            <a:solidFill>
              <a:srgbClr val="028090"/>
            </a:solidFill>
            <a:prstDash val="solid"/>
          </a:ln>
        </p:spPr>
      </p:sp>
      <p:sp>
        <p:nvSpPr>
          <p:cNvPr id="13" name="Text 11"/>
          <p:cNvSpPr/>
          <p:nvPr/>
        </p:nvSpPr>
        <p:spPr>
          <a:xfrm>
            <a:off x="4846320" y="2322576"/>
            <a:ext cx="3840480" cy="24688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Application</a:t>
            </a:r>
            <a:endParaRPr lang="en-US" sz="1200" dirty="0"/>
          </a:p>
        </p:txBody>
      </p:sp>
      <p:sp>
        <p:nvSpPr>
          <p:cNvPr id="14" name="Text 12"/>
          <p:cNvSpPr/>
          <p:nvPr/>
        </p:nvSpPr>
        <p:spPr>
          <a:xfrm>
            <a:off x="4846320" y="2670048"/>
            <a:ext cx="3840480" cy="685800"/>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Cricket Batting &amp;</a:t>
            </a:r>
            <a:endParaRPr lang="en-US" sz="1200" dirty="0"/>
          </a:p>
          <a:p>
            <a:pPr marL="0" indent="0">
              <a:buNone/>
            </a:pPr>
            <a:r>
              <a:rPr lang="en-US" sz="1200" dirty="0">
                <a:solidFill>
                  <a:srgbClr val="1A2E40"/>
                </a:solidFill>
                <a:latin typeface="Calibri" pitchFamily="34" charset="0"/>
                <a:ea typeface="Calibri" pitchFamily="34" charset="-122"/>
                <a:cs typeface="Calibri" pitchFamily="34" charset="-120"/>
              </a:rPr>
              <a:t>Bowling Posture Analysis</a:t>
            </a:r>
            <a:endParaRPr lang="en-US" sz="1200" dirty="0"/>
          </a:p>
        </p:txBody>
      </p:sp>
      <p:sp>
        <p:nvSpPr>
          <p:cNvPr id="15" name="Shape 13"/>
          <p:cNvSpPr/>
          <p:nvPr/>
        </p:nvSpPr>
        <p:spPr>
          <a:xfrm>
            <a:off x="457200" y="3657600"/>
            <a:ext cx="4114800" cy="1188720"/>
          </a:xfrm>
          <a:prstGeom prst="rect">
            <a:avLst/>
          </a:prstGeom>
          <a:solidFill>
            <a:srgbClr val="EBF5FB"/>
          </a:solidFill>
          <a:ln w="12700">
            <a:solidFill>
              <a:srgbClr val="1A3A5C"/>
            </a:solidFill>
            <a:prstDash val="solid"/>
          </a:ln>
        </p:spPr>
      </p:sp>
      <p:sp>
        <p:nvSpPr>
          <p:cNvPr id="16" name="Shape 14"/>
          <p:cNvSpPr/>
          <p:nvPr/>
        </p:nvSpPr>
        <p:spPr>
          <a:xfrm>
            <a:off x="457200" y="3657600"/>
            <a:ext cx="4114800" cy="320040"/>
          </a:xfrm>
          <a:prstGeom prst="rect">
            <a:avLst/>
          </a:prstGeom>
          <a:solidFill>
            <a:srgbClr val="1A3A5C"/>
          </a:solidFill>
          <a:ln w="12700">
            <a:solidFill>
              <a:srgbClr val="1A3A5C"/>
            </a:solidFill>
            <a:prstDash val="solid"/>
          </a:ln>
        </p:spPr>
      </p:sp>
      <p:sp>
        <p:nvSpPr>
          <p:cNvPr id="17" name="Text 15"/>
          <p:cNvSpPr/>
          <p:nvPr/>
        </p:nvSpPr>
        <p:spPr>
          <a:xfrm>
            <a:off x="548640" y="3694176"/>
            <a:ext cx="3840480" cy="24688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Platform</a:t>
            </a:r>
            <a:endParaRPr lang="en-US" sz="1200" dirty="0"/>
          </a:p>
        </p:txBody>
      </p:sp>
      <p:sp>
        <p:nvSpPr>
          <p:cNvPr id="18" name="Text 16"/>
          <p:cNvSpPr/>
          <p:nvPr/>
        </p:nvSpPr>
        <p:spPr>
          <a:xfrm>
            <a:off x="548640" y="4041648"/>
            <a:ext cx="3840480" cy="685800"/>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Mobile-based Android</a:t>
            </a:r>
            <a:endParaRPr lang="en-US" sz="1200" dirty="0"/>
          </a:p>
          <a:p>
            <a:pPr marL="0" indent="0">
              <a:buNone/>
            </a:pPr>
            <a:r>
              <a:rPr lang="en-US" sz="1200" dirty="0">
                <a:solidFill>
                  <a:srgbClr val="1A2E40"/>
                </a:solidFill>
                <a:latin typeface="Calibri" pitchFamily="34" charset="0"/>
                <a:ea typeface="Calibri" pitchFamily="34" charset="-122"/>
                <a:cs typeface="Calibri" pitchFamily="34" charset="-120"/>
              </a:rPr>
              <a:t>Application</a:t>
            </a:r>
            <a:endParaRPr lang="en-US" sz="1200" dirty="0"/>
          </a:p>
        </p:txBody>
      </p:sp>
      <p:sp>
        <p:nvSpPr>
          <p:cNvPr id="19" name="Shape 17"/>
          <p:cNvSpPr/>
          <p:nvPr/>
        </p:nvSpPr>
        <p:spPr>
          <a:xfrm>
            <a:off x="4754880" y="3657600"/>
            <a:ext cx="4114800" cy="1188720"/>
          </a:xfrm>
          <a:prstGeom prst="rect">
            <a:avLst/>
          </a:prstGeom>
          <a:solidFill>
            <a:srgbClr val="E8F8F5"/>
          </a:solidFill>
          <a:ln w="12700">
            <a:solidFill>
              <a:srgbClr val="028090"/>
            </a:solidFill>
            <a:prstDash val="solid"/>
          </a:ln>
        </p:spPr>
      </p:sp>
      <p:sp>
        <p:nvSpPr>
          <p:cNvPr id="20" name="Shape 18"/>
          <p:cNvSpPr/>
          <p:nvPr/>
        </p:nvSpPr>
        <p:spPr>
          <a:xfrm>
            <a:off x="4754880" y="3657600"/>
            <a:ext cx="4114800" cy="320040"/>
          </a:xfrm>
          <a:prstGeom prst="rect">
            <a:avLst/>
          </a:prstGeom>
          <a:solidFill>
            <a:srgbClr val="028090"/>
          </a:solidFill>
          <a:ln w="12700">
            <a:solidFill>
              <a:srgbClr val="028090"/>
            </a:solidFill>
            <a:prstDash val="solid"/>
          </a:ln>
        </p:spPr>
      </p:sp>
      <p:sp>
        <p:nvSpPr>
          <p:cNvPr id="21" name="Text 19"/>
          <p:cNvSpPr/>
          <p:nvPr/>
        </p:nvSpPr>
        <p:spPr>
          <a:xfrm>
            <a:off x="4846320" y="3694176"/>
            <a:ext cx="3840480" cy="24688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Core Tech</a:t>
            </a:r>
            <a:endParaRPr lang="en-US" sz="1200" dirty="0"/>
          </a:p>
        </p:txBody>
      </p:sp>
      <p:sp>
        <p:nvSpPr>
          <p:cNvPr id="22" name="Text 20"/>
          <p:cNvSpPr/>
          <p:nvPr/>
        </p:nvSpPr>
        <p:spPr>
          <a:xfrm>
            <a:off x="4846320" y="4041648"/>
            <a:ext cx="3840480" cy="685800"/>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MediaPipe, OpenCV,</a:t>
            </a:r>
            <a:endParaRPr lang="en-US" sz="1200" dirty="0"/>
          </a:p>
          <a:p>
            <a:pPr marL="0" indent="0">
              <a:buNone/>
            </a:pPr>
            <a:r>
              <a:rPr lang="en-US" sz="1200" dirty="0">
                <a:solidFill>
                  <a:srgbClr val="1A2E40"/>
                </a:solidFill>
                <a:latin typeface="Calibri" pitchFamily="34" charset="0"/>
                <a:ea typeface="Calibri" pitchFamily="34" charset="-122"/>
                <a:cs typeface="Calibri" pitchFamily="34" charset="-120"/>
              </a:rPr>
              <a:t>TensorFlow / PyTorch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Problem Description</a:t>
            </a:r>
            <a:endParaRPr lang="en-US" sz="2200" dirty="0"/>
          </a:p>
        </p:txBody>
      </p:sp>
      <p:sp>
        <p:nvSpPr>
          <p:cNvPr id="5" name="Shape 3"/>
          <p:cNvSpPr/>
          <p:nvPr/>
        </p:nvSpPr>
        <p:spPr>
          <a:xfrm>
            <a:off x="365760" y="777240"/>
            <a:ext cx="4023360" cy="4206240"/>
          </a:xfrm>
          <a:prstGeom prst="rect">
            <a:avLst/>
          </a:prstGeom>
          <a:solidFill>
            <a:srgbClr val="FEF9F0"/>
          </a:solidFill>
          <a:ln w="12700">
            <a:solidFill>
              <a:srgbClr val="F5A623"/>
            </a:solidFill>
            <a:prstDash val="solid"/>
          </a:ln>
        </p:spPr>
      </p:sp>
      <p:sp>
        <p:nvSpPr>
          <p:cNvPr id="6" name="Shape 4"/>
          <p:cNvSpPr/>
          <p:nvPr/>
        </p:nvSpPr>
        <p:spPr>
          <a:xfrm>
            <a:off x="365760" y="777240"/>
            <a:ext cx="4023360" cy="365760"/>
          </a:xfrm>
          <a:prstGeom prst="rect">
            <a:avLst/>
          </a:prstGeom>
          <a:solidFill>
            <a:srgbClr val="F5A623"/>
          </a:solidFill>
          <a:ln w="12700">
            <a:solidFill>
              <a:srgbClr val="F5A623"/>
            </a:solidFill>
            <a:prstDash val="solid"/>
          </a:ln>
        </p:spPr>
      </p:sp>
      <p:sp>
        <p:nvSpPr>
          <p:cNvPr id="7" name="Text 5"/>
          <p:cNvSpPr/>
          <p:nvPr/>
        </p:nvSpPr>
        <p:spPr>
          <a:xfrm>
            <a:off x="457200" y="804672"/>
            <a:ext cx="384048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Challenges in Cricket Training</a:t>
            </a:r>
            <a:endParaRPr lang="en-US" sz="1200" dirty="0"/>
          </a:p>
        </p:txBody>
      </p:sp>
      <p:sp>
        <p:nvSpPr>
          <p:cNvPr id="8" name="Text 6"/>
          <p:cNvSpPr/>
          <p:nvPr/>
        </p:nvSpPr>
        <p:spPr>
          <a:xfrm>
            <a:off x="457200" y="1234440"/>
            <a:ext cx="3749040" cy="3611880"/>
          </a:xfrm>
          <a:prstGeom prst="rect">
            <a:avLst/>
          </a:prstGeom>
          <a:noFill/>
          <a:ln/>
        </p:spPr>
        <p:txBody>
          <a:bodyPr wrap="square" rtlCol="0" anchor="t"/>
          <a:lstStyle/>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Manual observation by coaches is subjective and inconsistent</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No access to professional coaching in rural/resource-limited areas</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Continuous monitoring of every player is not feasible</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Existing motion analysis tools are expensive and require special equipment</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Players develop incorrect techniques without proper guidance</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Increased risk of injuries due to improper posture</a:t>
            </a:r>
            <a:endParaRPr lang="en-US" sz="1200" dirty="0"/>
          </a:p>
        </p:txBody>
      </p:sp>
      <p:sp>
        <p:nvSpPr>
          <p:cNvPr id="9" name="Shape 7"/>
          <p:cNvSpPr/>
          <p:nvPr/>
        </p:nvSpPr>
        <p:spPr>
          <a:xfrm>
            <a:off x="4754880" y="777240"/>
            <a:ext cx="4023360" cy="4206240"/>
          </a:xfrm>
          <a:prstGeom prst="rect">
            <a:avLst/>
          </a:prstGeom>
          <a:solidFill>
            <a:srgbClr val="F0FBF8"/>
          </a:solidFill>
          <a:ln w="12700">
            <a:solidFill>
              <a:srgbClr val="028090"/>
            </a:solidFill>
            <a:prstDash val="solid"/>
          </a:ln>
        </p:spPr>
      </p:sp>
      <p:sp>
        <p:nvSpPr>
          <p:cNvPr id="10" name="Shape 8"/>
          <p:cNvSpPr/>
          <p:nvPr/>
        </p:nvSpPr>
        <p:spPr>
          <a:xfrm>
            <a:off x="4754880" y="777240"/>
            <a:ext cx="4023360" cy="365760"/>
          </a:xfrm>
          <a:prstGeom prst="rect">
            <a:avLst/>
          </a:prstGeom>
          <a:solidFill>
            <a:srgbClr val="028090"/>
          </a:solidFill>
          <a:ln w="12700">
            <a:solidFill>
              <a:srgbClr val="028090"/>
            </a:solidFill>
            <a:prstDash val="solid"/>
          </a:ln>
        </p:spPr>
      </p:sp>
      <p:sp>
        <p:nvSpPr>
          <p:cNvPr id="11" name="Text 9"/>
          <p:cNvSpPr/>
          <p:nvPr/>
        </p:nvSpPr>
        <p:spPr>
          <a:xfrm>
            <a:off x="4846320" y="804672"/>
            <a:ext cx="384048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Proposed Solution</a:t>
            </a:r>
            <a:endParaRPr lang="en-US" sz="1200" dirty="0"/>
          </a:p>
        </p:txBody>
      </p:sp>
      <p:sp>
        <p:nvSpPr>
          <p:cNvPr id="12" name="Text 10"/>
          <p:cNvSpPr/>
          <p:nvPr/>
        </p:nvSpPr>
        <p:spPr>
          <a:xfrm>
            <a:off x="4846320" y="1234440"/>
            <a:ext cx="3749040" cy="3611880"/>
          </a:xfrm>
          <a:prstGeom prst="rect">
            <a:avLst/>
          </a:prstGeom>
          <a:noFill/>
          <a:ln/>
        </p:spPr>
        <p:txBody>
          <a:bodyPr wrap="square" rtlCol="0" anchor="t"/>
          <a:lstStyle/>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Computer vision techniques to analyze batting/bowling posture</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Detects body joints using pose estimation algorithms</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Compares posture with ideal technique standards</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Provides real-time feedback and posture correction suggestions</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Injury risk alerts based on incorrect posture patterns</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Affordable mobile-based solution accessible to all athletes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Problem Statement &amp; Objectives</a:t>
            </a:r>
            <a:endParaRPr lang="en-US" sz="2200" dirty="0"/>
          </a:p>
        </p:txBody>
      </p:sp>
      <p:sp>
        <p:nvSpPr>
          <p:cNvPr id="5" name="Shape 3"/>
          <p:cNvSpPr/>
          <p:nvPr/>
        </p:nvSpPr>
        <p:spPr>
          <a:xfrm>
            <a:off x="365760" y="777240"/>
            <a:ext cx="8412480" cy="1005840"/>
          </a:xfrm>
          <a:prstGeom prst="rect">
            <a:avLst/>
          </a:prstGeom>
          <a:solidFill>
            <a:srgbClr val="1A3A5C"/>
          </a:solidFill>
          <a:ln w="12700">
            <a:solidFill>
              <a:srgbClr val="1A3A5C"/>
            </a:solidFill>
            <a:prstDash val="solid"/>
          </a:ln>
        </p:spPr>
      </p:sp>
      <p:sp>
        <p:nvSpPr>
          <p:cNvPr id="6" name="Text 4"/>
          <p:cNvSpPr/>
          <p:nvPr/>
        </p:nvSpPr>
        <p:spPr>
          <a:xfrm>
            <a:off x="502920" y="804672"/>
            <a:ext cx="8229600" cy="274320"/>
          </a:xfrm>
          <a:prstGeom prst="rect">
            <a:avLst/>
          </a:prstGeom>
          <a:noFill/>
          <a:ln/>
        </p:spPr>
        <p:txBody>
          <a:bodyPr wrap="square"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Problem Statement</a:t>
            </a:r>
            <a:endParaRPr lang="en-US" sz="1200" dirty="0"/>
          </a:p>
        </p:txBody>
      </p:sp>
      <p:sp>
        <p:nvSpPr>
          <p:cNvPr id="7" name="Text 5"/>
          <p:cNvSpPr/>
          <p:nvPr/>
        </p:nvSpPr>
        <p:spPr>
          <a:xfrm>
            <a:off x="502920" y="1078992"/>
            <a:ext cx="8138160" cy="594360"/>
          </a:xfrm>
          <a:prstGeom prst="rect">
            <a:avLst/>
          </a:prstGeom>
          <a:noFill/>
          <a:ln/>
        </p:spPr>
        <p:txBody>
          <a:bodyPr wrap="square"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To design and develop an AI-powered system that analyzes cricket player posture using video input and computer vision techniques, to evaluate performance, detect incorrect movements, and provide feedback for improvement and injury prevention in an accessible and cost-effective manner.</a:t>
            </a:r>
            <a:endParaRPr lang="en-US" sz="1200" dirty="0"/>
          </a:p>
        </p:txBody>
      </p:sp>
      <p:sp>
        <p:nvSpPr>
          <p:cNvPr id="8" name="Text 6"/>
          <p:cNvSpPr/>
          <p:nvPr/>
        </p:nvSpPr>
        <p:spPr>
          <a:xfrm>
            <a:off x="365760" y="1920240"/>
            <a:ext cx="8229600" cy="292608"/>
          </a:xfrm>
          <a:prstGeom prst="rect">
            <a:avLst/>
          </a:prstGeom>
          <a:noFill/>
          <a:ln/>
        </p:spPr>
        <p:txBody>
          <a:bodyPr wrap="square" rtlCol="0" anchor="ctr"/>
          <a:lstStyle/>
          <a:p>
            <a:pPr marL="0" indent="0">
              <a:buNone/>
            </a:pPr>
            <a:r>
              <a:rPr lang="en-US" sz="1400" b="1" dirty="0">
                <a:solidFill>
                  <a:srgbClr val="1A3A5C"/>
                </a:solidFill>
                <a:latin typeface="Calibri" pitchFamily="34" charset="0"/>
                <a:ea typeface="Calibri" pitchFamily="34" charset="-122"/>
                <a:cs typeface="Calibri" pitchFamily="34" charset="-120"/>
              </a:rPr>
              <a:t>Project Objectives</a:t>
            </a:r>
            <a:endParaRPr lang="en-US" sz="1400" dirty="0"/>
          </a:p>
        </p:txBody>
      </p:sp>
      <p:sp>
        <p:nvSpPr>
          <p:cNvPr id="9" name="Shape 7"/>
          <p:cNvSpPr/>
          <p:nvPr/>
        </p:nvSpPr>
        <p:spPr>
          <a:xfrm>
            <a:off x="365760" y="2286000"/>
            <a:ext cx="8412480" cy="594360"/>
          </a:xfrm>
          <a:prstGeom prst="rect">
            <a:avLst/>
          </a:prstGeom>
          <a:solidFill>
            <a:srgbClr val="F0F4F8"/>
          </a:solidFill>
          <a:ln w="12700">
            <a:solidFill>
              <a:srgbClr val="D0DCE8"/>
            </a:solidFill>
            <a:prstDash val="solid"/>
          </a:ln>
        </p:spPr>
      </p:sp>
      <p:sp>
        <p:nvSpPr>
          <p:cNvPr id="10" name="Shape 8"/>
          <p:cNvSpPr/>
          <p:nvPr/>
        </p:nvSpPr>
        <p:spPr>
          <a:xfrm>
            <a:off x="365760" y="2286000"/>
            <a:ext cx="1188720" cy="594360"/>
          </a:xfrm>
          <a:prstGeom prst="rect">
            <a:avLst/>
          </a:prstGeom>
          <a:solidFill>
            <a:srgbClr val="028090"/>
          </a:solidFill>
          <a:ln w="12700">
            <a:solidFill>
              <a:srgbClr val="028090"/>
            </a:solidFill>
            <a:prstDash val="solid"/>
          </a:ln>
        </p:spPr>
      </p:sp>
      <p:sp>
        <p:nvSpPr>
          <p:cNvPr id="11" name="Text 9"/>
          <p:cNvSpPr/>
          <p:nvPr/>
        </p:nvSpPr>
        <p:spPr>
          <a:xfrm>
            <a:off x="384048" y="2377440"/>
            <a:ext cx="1152144"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Functional</a:t>
            </a:r>
            <a:endParaRPr lang="en-US" sz="1000" dirty="0"/>
          </a:p>
        </p:txBody>
      </p:sp>
      <p:sp>
        <p:nvSpPr>
          <p:cNvPr id="12" name="Text 10"/>
          <p:cNvSpPr/>
          <p:nvPr/>
        </p:nvSpPr>
        <p:spPr>
          <a:xfrm>
            <a:off x="1664208" y="2359152"/>
            <a:ext cx="6995160" cy="457200"/>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Design and implement a system to analyze cricket posture from video input using computer vision and ML techniques for performance evaluation.</a:t>
            </a:r>
            <a:endParaRPr lang="en-US" sz="1150" dirty="0"/>
          </a:p>
        </p:txBody>
      </p:sp>
      <p:sp>
        <p:nvSpPr>
          <p:cNvPr id="13" name="Shape 11"/>
          <p:cNvSpPr/>
          <p:nvPr/>
        </p:nvSpPr>
        <p:spPr>
          <a:xfrm>
            <a:off x="365760" y="2944368"/>
            <a:ext cx="8412480" cy="594360"/>
          </a:xfrm>
          <a:prstGeom prst="rect">
            <a:avLst/>
          </a:prstGeom>
          <a:solidFill>
            <a:srgbClr val="E8F4F8"/>
          </a:solidFill>
          <a:ln w="12700">
            <a:solidFill>
              <a:srgbClr val="D0DCE8"/>
            </a:solidFill>
            <a:prstDash val="solid"/>
          </a:ln>
        </p:spPr>
      </p:sp>
      <p:sp>
        <p:nvSpPr>
          <p:cNvPr id="14" name="Shape 12"/>
          <p:cNvSpPr/>
          <p:nvPr/>
        </p:nvSpPr>
        <p:spPr>
          <a:xfrm>
            <a:off x="365760" y="2944368"/>
            <a:ext cx="1188720" cy="594360"/>
          </a:xfrm>
          <a:prstGeom prst="rect">
            <a:avLst/>
          </a:prstGeom>
          <a:solidFill>
            <a:srgbClr val="028090"/>
          </a:solidFill>
          <a:ln w="12700">
            <a:solidFill>
              <a:srgbClr val="028090"/>
            </a:solidFill>
            <a:prstDash val="solid"/>
          </a:ln>
        </p:spPr>
      </p:sp>
      <p:sp>
        <p:nvSpPr>
          <p:cNvPr id="15" name="Text 13"/>
          <p:cNvSpPr/>
          <p:nvPr/>
        </p:nvSpPr>
        <p:spPr>
          <a:xfrm>
            <a:off x="384048" y="3035808"/>
            <a:ext cx="1152144"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Functional</a:t>
            </a:r>
            <a:endParaRPr lang="en-US" sz="1000" dirty="0"/>
          </a:p>
        </p:txBody>
      </p:sp>
      <p:sp>
        <p:nvSpPr>
          <p:cNvPr id="16" name="Text 14"/>
          <p:cNvSpPr/>
          <p:nvPr/>
        </p:nvSpPr>
        <p:spPr>
          <a:xfrm>
            <a:off x="1664208" y="3017520"/>
            <a:ext cx="6995160" cy="457200"/>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Develop a posture analysis module that detects body joints, identifies incorrect movements, and provides corrective suggestions and injury prevention guidance.</a:t>
            </a:r>
            <a:endParaRPr lang="en-US" sz="1150" dirty="0"/>
          </a:p>
        </p:txBody>
      </p:sp>
      <p:sp>
        <p:nvSpPr>
          <p:cNvPr id="17" name="Shape 15"/>
          <p:cNvSpPr/>
          <p:nvPr/>
        </p:nvSpPr>
        <p:spPr>
          <a:xfrm>
            <a:off x="365760" y="3602736"/>
            <a:ext cx="8412480" cy="594360"/>
          </a:xfrm>
          <a:prstGeom prst="rect">
            <a:avLst/>
          </a:prstGeom>
          <a:solidFill>
            <a:srgbClr val="F0F4F8"/>
          </a:solidFill>
          <a:ln w="12700">
            <a:solidFill>
              <a:srgbClr val="D0DCE8"/>
            </a:solidFill>
            <a:prstDash val="solid"/>
          </a:ln>
        </p:spPr>
      </p:sp>
      <p:sp>
        <p:nvSpPr>
          <p:cNvPr id="18" name="Shape 16"/>
          <p:cNvSpPr/>
          <p:nvPr/>
        </p:nvSpPr>
        <p:spPr>
          <a:xfrm>
            <a:off x="365760" y="3602736"/>
            <a:ext cx="1188720" cy="594360"/>
          </a:xfrm>
          <a:prstGeom prst="rect">
            <a:avLst/>
          </a:prstGeom>
          <a:solidFill>
            <a:srgbClr val="1A3A5C"/>
          </a:solidFill>
          <a:ln w="12700">
            <a:solidFill>
              <a:srgbClr val="1A3A5C"/>
            </a:solidFill>
            <a:prstDash val="solid"/>
          </a:ln>
        </p:spPr>
      </p:sp>
      <p:sp>
        <p:nvSpPr>
          <p:cNvPr id="19" name="Text 17"/>
          <p:cNvSpPr/>
          <p:nvPr/>
        </p:nvSpPr>
        <p:spPr>
          <a:xfrm>
            <a:off x="384048" y="3694176"/>
            <a:ext cx="1152144"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Performance</a:t>
            </a:r>
            <a:endParaRPr lang="en-US" sz="1000" dirty="0"/>
          </a:p>
        </p:txBody>
      </p:sp>
      <p:sp>
        <p:nvSpPr>
          <p:cNvPr id="20" name="Text 18"/>
          <p:cNvSpPr/>
          <p:nvPr/>
        </p:nvSpPr>
        <p:spPr>
          <a:xfrm>
            <a:off x="1664208" y="3675888"/>
            <a:ext cx="6995160" cy="457200"/>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Evaluate and optimize system accuracy, response time, and reliability for real-time or near real-time analysis.</a:t>
            </a:r>
            <a:endParaRPr lang="en-US" sz="1150" dirty="0"/>
          </a:p>
        </p:txBody>
      </p:sp>
      <p:sp>
        <p:nvSpPr>
          <p:cNvPr id="21" name="Shape 19"/>
          <p:cNvSpPr/>
          <p:nvPr/>
        </p:nvSpPr>
        <p:spPr>
          <a:xfrm>
            <a:off x="365760" y="4261104"/>
            <a:ext cx="8412480" cy="594360"/>
          </a:xfrm>
          <a:prstGeom prst="rect">
            <a:avLst/>
          </a:prstGeom>
          <a:solidFill>
            <a:srgbClr val="E8F4F8"/>
          </a:solidFill>
          <a:ln w="12700">
            <a:solidFill>
              <a:srgbClr val="D0DCE8"/>
            </a:solidFill>
            <a:prstDash val="solid"/>
          </a:ln>
        </p:spPr>
      </p:sp>
      <p:sp>
        <p:nvSpPr>
          <p:cNvPr id="22" name="Shape 20"/>
          <p:cNvSpPr/>
          <p:nvPr/>
        </p:nvSpPr>
        <p:spPr>
          <a:xfrm>
            <a:off x="365760" y="4261104"/>
            <a:ext cx="1188720" cy="594360"/>
          </a:xfrm>
          <a:prstGeom prst="rect">
            <a:avLst/>
          </a:prstGeom>
          <a:solidFill>
            <a:srgbClr val="F5A623"/>
          </a:solidFill>
          <a:ln w="12700">
            <a:solidFill>
              <a:srgbClr val="F5A623"/>
            </a:solidFill>
            <a:prstDash val="solid"/>
          </a:ln>
        </p:spPr>
      </p:sp>
      <p:sp>
        <p:nvSpPr>
          <p:cNvPr id="23" name="Text 21"/>
          <p:cNvSpPr/>
          <p:nvPr/>
        </p:nvSpPr>
        <p:spPr>
          <a:xfrm>
            <a:off x="384048" y="4352544"/>
            <a:ext cx="1152144"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Non-Functional</a:t>
            </a:r>
            <a:endParaRPr lang="en-US" sz="1000" dirty="0"/>
          </a:p>
        </p:txBody>
      </p:sp>
      <p:sp>
        <p:nvSpPr>
          <p:cNvPr id="24" name="Text 22"/>
          <p:cNvSpPr/>
          <p:nvPr/>
        </p:nvSpPr>
        <p:spPr>
          <a:xfrm>
            <a:off x="1664208" y="4334256"/>
            <a:ext cx="6995160" cy="457200"/>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Ensure the system is user-friendly, scalable, and adaptable across different users, environments, and video conditions using a mobile platform.</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System Overview</a:t>
            </a:r>
            <a:endParaRPr lang="en-US" sz="2200" dirty="0"/>
          </a:p>
        </p:txBody>
      </p:sp>
      <p:sp>
        <p:nvSpPr>
          <p:cNvPr id="5" name="Text 3"/>
          <p:cNvSpPr/>
          <p:nvPr/>
        </p:nvSpPr>
        <p:spPr>
          <a:xfrm>
            <a:off x="365760" y="777240"/>
            <a:ext cx="8412480" cy="457200"/>
          </a:xfrm>
          <a:prstGeom prst="rect">
            <a:avLst/>
          </a:prstGeom>
          <a:noFill/>
          <a:ln/>
        </p:spPr>
        <p:txBody>
          <a:bodyPr wrap="square" rtlCol="0" anchor="ctr"/>
          <a:lstStyle/>
          <a:p>
            <a:pPr marL="0" indent="0">
              <a:buNone/>
            </a:pPr>
            <a:r>
              <a:rPr lang="en-US" sz="1250" dirty="0">
                <a:solidFill>
                  <a:srgbClr val="1A2E40"/>
                </a:solidFill>
                <a:latin typeface="Calibri" pitchFamily="34" charset="0"/>
                <a:ea typeface="Calibri" pitchFamily="34" charset="-122"/>
                <a:cs typeface="Calibri" pitchFamily="34" charset="-120"/>
              </a:rPr>
              <a:t>Virtual Coach is a mobile-based AI application that processes cricket video input and provides comprehensive posture analysis through a multi-stage pipeline.</a:t>
            </a:r>
            <a:endParaRPr lang="en-US" sz="1250" dirty="0"/>
          </a:p>
        </p:txBody>
      </p:sp>
      <p:sp>
        <p:nvSpPr>
          <p:cNvPr id="6" name="Shape 4"/>
          <p:cNvSpPr/>
          <p:nvPr/>
        </p:nvSpPr>
        <p:spPr>
          <a:xfrm>
            <a:off x="274320" y="1371600"/>
            <a:ext cx="2788920" cy="1554480"/>
          </a:xfrm>
          <a:prstGeom prst="rect">
            <a:avLst/>
          </a:prstGeom>
          <a:solidFill>
            <a:srgbClr val="F0F4F8"/>
          </a:solidFill>
          <a:ln w="12700">
            <a:solidFill>
              <a:srgbClr val="028090"/>
            </a:solidFill>
            <a:prstDash val="solid"/>
          </a:ln>
          <a:effectLst>
            <a:outerShdw blurRad="63500" dist="25400" dir="8100000" algn="bl" rotWithShape="0">
              <a:srgbClr val="000000">
                <a:alpha val="10000"/>
              </a:srgbClr>
            </a:outerShdw>
          </a:effectLst>
        </p:spPr>
      </p:sp>
      <p:sp>
        <p:nvSpPr>
          <p:cNvPr id="7" name="Shape 5"/>
          <p:cNvSpPr/>
          <p:nvPr/>
        </p:nvSpPr>
        <p:spPr>
          <a:xfrm>
            <a:off x="274320" y="1371600"/>
            <a:ext cx="2788920" cy="411480"/>
          </a:xfrm>
          <a:prstGeom prst="rect">
            <a:avLst/>
          </a:prstGeom>
          <a:solidFill>
            <a:srgbClr val="1A3A5C"/>
          </a:solidFill>
          <a:ln w="12700">
            <a:solidFill>
              <a:srgbClr val="1A3A5C"/>
            </a:solidFill>
            <a:prstDash val="solid"/>
          </a:ln>
        </p:spPr>
      </p:sp>
      <p:sp>
        <p:nvSpPr>
          <p:cNvPr id="8" name="Text 6"/>
          <p:cNvSpPr/>
          <p:nvPr/>
        </p:nvSpPr>
        <p:spPr>
          <a:xfrm>
            <a:off x="365760" y="1435608"/>
            <a:ext cx="2606040" cy="292608"/>
          </a:xfrm>
          <a:prstGeom prst="rect">
            <a:avLst/>
          </a:prstGeom>
          <a:noFill/>
          <a:ln/>
        </p:spPr>
        <p:txBody>
          <a:bodyPr wrap="square"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 Video Input</a:t>
            </a:r>
            <a:endParaRPr lang="en-US" sz="1200" dirty="0"/>
          </a:p>
        </p:txBody>
      </p:sp>
      <p:sp>
        <p:nvSpPr>
          <p:cNvPr id="9" name="Text 7"/>
          <p:cNvSpPr/>
          <p:nvPr/>
        </p:nvSpPr>
        <p:spPr>
          <a:xfrm>
            <a:off x="365760" y="1847088"/>
            <a:ext cx="2606040" cy="100584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Accepts live camera feed or uploaded MP4/AVI video files from mobile devices</a:t>
            </a:r>
            <a:endParaRPr lang="en-US" sz="1100" dirty="0"/>
          </a:p>
        </p:txBody>
      </p:sp>
      <p:sp>
        <p:nvSpPr>
          <p:cNvPr id="10" name="Shape 8"/>
          <p:cNvSpPr/>
          <p:nvPr/>
        </p:nvSpPr>
        <p:spPr>
          <a:xfrm>
            <a:off x="3172968" y="1371600"/>
            <a:ext cx="2788920" cy="1554480"/>
          </a:xfrm>
          <a:prstGeom prst="rect">
            <a:avLst/>
          </a:prstGeom>
          <a:solidFill>
            <a:srgbClr val="F0F4F8"/>
          </a:solidFill>
          <a:ln w="12700">
            <a:solidFill>
              <a:srgbClr val="028090"/>
            </a:solidFill>
            <a:prstDash val="solid"/>
          </a:ln>
          <a:effectLst>
            <a:outerShdw blurRad="63500" dist="25400" dir="8100000" algn="bl" rotWithShape="0">
              <a:srgbClr val="000000">
                <a:alpha val="10000"/>
              </a:srgbClr>
            </a:outerShdw>
          </a:effectLst>
        </p:spPr>
      </p:sp>
      <p:sp>
        <p:nvSpPr>
          <p:cNvPr id="11" name="Shape 9"/>
          <p:cNvSpPr/>
          <p:nvPr/>
        </p:nvSpPr>
        <p:spPr>
          <a:xfrm>
            <a:off x="3172968" y="1371600"/>
            <a:ext cx="2788920" cy="411480"/>
          </a:xfrm>
          <a:prstGeom prst="rect">
            <a:avLst/>
          </a:prstGeom>
          <a:solidFill>
            <a:srgbClr val="1A3A5C"/>
          </a:solidFill>
          <a:ln w="12700">
            <a:solidFill>
              <a:srgbClr val="1A3A5C"/>
            </a:solidFill>
            <a:prstDash val="solid"/>
          </a:ln>
        </p:spPr>
      </p:sp>
      <p:sp>
        <p:nvSpPr>
          <p:cNvPr id="12" name="Text 10"/>
          <p:cNvSpPr/>
          <p:nvPr/>
        </p:nvSpPr>
        <p:spPr>
          <a:xfrm>
            <a:off x="3264408" y="1435608"/>
            <a:ext cx="2606040" cy="292608"/>
          </a:xfrm>
          <a:prstGeom prst="rect">
            <a:avLst/>
          </a:prstGeom>
          <a:noFill/>
          <a:ln/>
        </p:spPr>
        <p:txBody>
          <a:bodyPr wrap="square"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 Pose Detection</a:t>
            </a:r>
            <a:endParaRPr lang="en-US" sz="1200" dirty="0"/>
          </a:p>
        </p:txBody>
      </p:sp>
      <p:sp>
        <p:nvSpPr>
          <p:cNvPr id="13" name="Text 11"/>
          <p:cNvSpPr/>
          <p:nvPr/>
        </p:nvSpPr>
        <p:spPr>
          <a:xfrm>
            <a:off x="3264408" y="1847088"/>
            <a:ext cx="2606040" cy="100584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Detects body joints (shoulders, elbows, hips, knees, ankles) using MediaPipe/OpenCV</a:t>
            </a:r>
            <a:endParaRPr lang="en-US" sz="1100" dirty="0"/>
          </a:p>
        </p:txBody>
      </p:sp>
      <p:sp>
        <p:nvSpPr>
          <p:cNvPr id="14" name="Shape 12"/>
          <p:cNvSpPr/>
          <p:nvPr/>
        </p:nvSpPr>
        <p:spPr>
          <a:xfrm>
            <a:off x="6071616" y="1371600"/>
            <a:ext cx="2788920" cy="1554480"/>
          </a:xfrm>
          <a:prstGeom prst="rect">
            <a:avLst/>
          </a:prstGeom>
          <a:solidFill>
            <a:srgbClr val="F0F4F8"/>
          </a:solidFill>
          <a:ln w="12700">
            <a:solidFill>
              <a:srgbClr val="028090"/>
            </a:solidFill>
            <a:prstDash val="solid"/>
          </a:ln>
          <a:effectLst>
            <a:outerShdw blurRad="63500" dist="25400" dir="8100000" algn="bl" rotWithShape="0">
              <a:srgbClr val="000000">
                <a:alpha val="10000"/>
              </a:srgbClr>
            </a:outerShdw>
          </a:effectLst>
        </p:spPr>
      </p:sp>
      <p:sp>
        <p:nvSpPr>
          <p:cNvPr id="15" name="Shape 13"/>
          <p:cNvSpPr/>
          <p:nvPr/>
        </p:nvSpPr>
        <p:spPr>
          <a:xfrm>
            <a:off x="6071616" y="1371600"/>
            <a:ext cx="2788920" cy="411480"/>
          </a:xfrm>
          <a:prstGeom prst="rect">
            <a:avLst/>
          </a:prstGeom>
          <a:solidFill>
            <a:srgbClr val="1A3A5C"/>
          </a:solidFill>
          <a:ln w="12700">
            <a:solidFill>
              <a:srgbClr val="1A3A5C"/>
            </a:solidFill>
            <a:prstDash val="solid"/>
          </a:ln>
        </p:spPr>
      </p:sp>
      <p:sp>
        <p:nvSpPr>
          <p:cNvPr id="16" name="Text 14"/>
          <p:cNvSpPr/>
          <p:nvPr/>
        </p:nvSpPr>
        <p:spPr>
          <a:xfrm>
            <a:off x="6163056" y="1435608"/>
            <a:ext cx="2606040" cy="292608"/>
          </a:xfrm>
          <a:prstGeom prst="rect">
            <a:avLst/>
          </a:prstGeom>
          <a:noFill/>
          <a:ln/>
        </p:spPr>
        <p:txBody>
          <a:bodyPr wrap="square"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 Feature Extraction</a:t>
            </a:r>
            <a:endParaRPr lang="en-US" sz="1200" dirty="0"/>
          </a:p>
        </p:txBody>
      </p:sp>
      <p:sp>
        <p:nvSpPr>
          <p:cNvPr id="17" name="Text 15"/>
          <p:cNvSpPr/>
          <p:nvPr/>
        </p:nvSpPr>
        <p:spPr>
          <a:xfrm>
            <a:off x="6163056" y="1847088"/>
            <a:ext cx="2606040" cy="100584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Calculates joint angles, body alignment, speed, acceleration, and motion patterns</a:t>
            </a:r>
            <a:endParaRPr lang="en-US" sz="1100" dirty="0"/>
          </a:p>
        </p:txBody>
      </p:sp>
      <p:sp>
        <p:nvSpPr>
          <p:cNvPr id="18" name="Shape 16"/>
          <p:cNvSpPr/>
          <p:nvPr/>
        </p:nvSpPr>
        <p:spPr>
          <a:xfrm>
            <a:off x="274320" y="3063240"/>
            <a:ext cx="2788920" cy="1554480"/>
          </a:xfrm>
          <a:prstGeom prst="rect">
            <a:avLst/>
          </a:prstGeom>
          <a:solidFill>
            <a:srgbClr val="F0F4F8"/>
          </a:solidFill>
          <a:ln w="12700">
            <a:solidFill>
              <a:srgbClr val="028090"/>
            </a:solidFill>
            <a:prstDash val="solid"/>
          </a:ln>
          <a:effectLst>
            <a:outerShdw blurRad="63500" dist="25400" dir="8100000" algn="bl" rotWithShape="0">
              <a:srgbClr val="000000">
                <a:alpha val="10000"/>
              </a:srgbClr>
            </a:outerShdw>
          </a:effectLst>
        </p:spPr>
      </p:sp>
      <p:sp>
        <p:nvSpPr>
          <p:cNvPr id="19" name="Shape 17"/>
          <p:cNvSpPr/>
          <p:nvPr/>
        </p:nvSpPr>
        <p:spPr>
          <a:xfrm>
            <a:off x="274320" y="3063240"/>
            <a:ext cx="2788920" cy="411480"/>
          </a:xfrm>
          <a:prstGeom prst="rect">
            <a:avLst/>
          </a:prstGeom>
          <a:solidFill>
            <a:srgbClr val="1A3A5C"/>
          </a:solidFill>
          <a:ln w="12700">
            <a:solidFill>
              <a:srgbClr val="1A3A5C"/>
            </a:solidFill>
            <a:prstDash val="solid"/>
          </a:ln>
        </p:spPr>
      </p:sp>
      <p:sp>
        <p:nvSpPr>
          <p:cNvPr id="20" name="Text 18"/>
          <p:cNvSpPr/>
          <p:nvPr/>
        </p:nvSpPr>
        <p:spPr>
          <a:xfrm>
            <a:off x="365760" y="3127248"/>
            <a:ext cx="2606040" cy="292608"/>
          </a:xfrm>
          <a:prstGeom prst="rect">
            <a:avLst/>
          </a:prstGeom>
          <a:noFill/>
          <a:ln/>
        </p:spPr>
        <p:txBody>
          <a:bodyPr wrap="square"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 Posture Analysis</a:t>
            </a:r>
            <a:endParaRPr lang="en-US" sz="1200" dirty="0"/>
          </a:p>
        </p:txBody>
      </p:sp>
      <p:sp>
        <p:nvSpPr>
          <p:cNvPr id="21" name="Text 19"/>
          <p:cNvSpPr/>
          <p:nvPr/>
        </p:nvSpPr>
        <p:spPr>
          <a:xfrm>
            <a:off x="365760" y="3538728"/>
            <a:ext cx="2606040" cy="100584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Compares extracted features with ideal cricket technique standards using ML models</a:t>
            </a:r>
            <a:endParaRPr lang="en-US" sz="1100" dirty="0"/>
          </a:p>
        </p:txBody>
      </p:sp>
      <p:sp>
        <p:nvSpPr>
          <p:cNvPr id="22" name="Shape 20"/>
          <p:cNvSpPr/>
          <p:nvPr/>
        </p:nvSpPr>
        <p:spPr>
          <a:xfrm>
            <a:off x="3172968" y="3063240"/>
            <a:ext cx="2788920" cy="1554480"/>
          </a:xfrm>
          <a:prstGeom prst="rect">
            <a:avLst/>
          </a:prstGeom>
          <a:solidFill>
            <a:srgbClr val="F0F4F8"/>
          </a:solidFill>
          <a:ln w="12700">
            <a:solidFill>
              <a:srgbClr val="028090"/>
            </a:solidFill>
            <a:prstDash val="solid"/>
          </a:ln>
          <a:effectLst>
            <a:outerShdw blurRad="63500" dist="25400" dir="8100000" algn="bl" rotWithShape="0">
              <a:srgbClr val="000000">
                <a:alpha val="10000"/>
              </a:srgbClr>
            </a:outerShdw>
          </a:effectLst>
        </p:spPr>
      </p:sp>
      <p:sp>
        <p:nvSpPr>
          <p:cNvPr id="23" name="Shape 21"/>
          <p:cNvSpPr/>
          <p:nvPr/>
        </p:nvSpPr>
        <p:spPr>
          <a:xfrm>
            <a:off x="3172968" y="3063240"/>
            <a:ext cx="2788920" cy="411480"/>
          </a:xfrm>
          <a:prstGeom prst="rect">
            <a:avLst/>
          </a:prstGeom>
          <a:solidFill>
            <a:srgbClr val="1A3A5C"/>
          </a:solidFill>
          <a:ln w="12700">
            <a:solidFill>
              <a:srgbClr val="1A3A5C"/>
            </a:solidFill>
            <a:prstDash val="solid"/>
          </a:ln>
        </p:spPr>
      </p:sp>
      <p:sp>
        <p:nvSpPr>
          <p:cNvPr id="24" name="Text 22"/>
          <p:cNvSpPr/>
          <p:nvPr/>
        </p:nvSpPr>
        <p:spPr>
          <a:xfrm>
            <a:off x="3264408" y="3127248"/>
            <a:ext cx="2606040" cy="292608"/>
          </a:xfrm>
          <a:prstGeom prst="rect">
            <a:avLst/>
          </a:prstGeom>
          <a:noFill/>
          <a:ln/>
        </p:spPr>
        <p:txBody>
          <a:bodyPr wrap="square"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 Performance Scoring</a:t>
            </a:r>
            <a:endParaRPr lang="en-US" sz="1200" dirty="0"/>
          </a:p>
        </p:txBody>
      </p:sp>
      <p:sp>
        <p:nvSpPr>
          <p:cNvPr id="25" name="Text 23"/>
          <p:cNvSpPr/>
          <p:nvPr/>
        </p:nvSpPr>
        <p:spPr>
          <a:xfrm>
            <a:off x="3264408" y="3538728"/>
            <a:ext cx="2606040" cy="100584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Generates accuracy score based on movement quality and technique correctness</a:t>
            </a:r>
            <a:endParaRPr lang="en-US" sz="1100" dirty="0"/>
          </a:p>
        </p:txBody>
      </p:sp>
      <p:sp>
        <p:nvSpPr>
          <p:cNvPr id="26" name="Shape 24"/>
          <p:cNvSpPr/>
          <p:nvPr/>
        </p:nvSpPr>
        <p:spPr>
          <a:xfrm>
            <a:off x="6071616" y="3063240"/>
            <a:ext cx="2788920" cy="1554480"/>
          </a:xfrm>
          <a:prstGeom prst="rect">
            <a:avLst/>
          </a:prstGeom>
          <a:solidFill>
            <a:srgbClr val="F0F4F8"/>
          </a:solidFill>
          <a:ln w="12700">
            <a:solidFill>
              <a:srgbClr val="028090"/>
            </a:solidFill>
            <a:prstDash val="solid"/>
          </a:ln>
          <a:effectLst>
            <a:outerShdw blurRad="63500" dist="25400" dir="8100000" algn="bl" rotWithShape="0">
              <a:srgbClr val="000000">
                <a:alpha val="10000"/>
              </a:srgbClr>
            </a:outerShdw>
          </a:effectLst>
        </p:spPr>
      </p:sp>
      <p:sp>
        <p:nvSpPr>
          <p:cNvPr id="27" name="Shape 25"/>
          <p:cNvSpPr/>
          <p:nvPr/>
        </p:nvSpPr>
        <p:spPr>
          <a:xfrm>
            <a:off x="6071616" y="3063240"/>
            <a:ext cx="2788920" cy="411480"/>
          </a:xfrm>
          <a:prstGeom prst="rect">
            <a:avLst/>
          </a:prstGeom>
          <a:solidFill>
            <a:srgbClr val="1A3A5C"/>
          </a:solidFill>
          <a:ln w="12700">
            <a:solidFill>
              <a:srgbClr val="1A3A5C"/>
            </a:solidFill>
            <a:prstDash val="solid"/>
          </a:ln>
        </p:spPr>
      </p:sp>
      <p:sp>
        <p:nvSpPr>
          <p:cNvPr id="28" name="Text 26"/>
          <p:cNvSpPr/>
          <p:nvPr/>
        </p:nvSpPr>
        <p:spPr>
          <a:xfrm>
            <a:off x="6163056" y="3127248"/>
            <a:ext cx="2606040" cy="292608"/>
          </a:xfrm>
          <a:prstGeom prst="rect">
            <a:avLst/>
          </a:prstGeom>
          <a:noFill/>
          <a:ln/>
        </p:spPr>
        <p:txBody>
          <a:bodyPr wrap="square" rtlCol="0" anchor="ctr"/>
          <a:lstStyle/>
          <a:p>
            <a:pPr marL="0" indent="0">
              <a:buNone/>
            </a:pPr>
            <a:r>
              <a:rPr lang="en-US" sz="1200" b="1" dirty="0">
                <a:solidFill>
                  <a:srgbClr val="02C39A"/>
                </a:solidFill>
                <a:latin typeface="Calibri" pitchFamily="34" charset="0"/>
                <a:ea typeface="Calibri" pitchFamily="34" charset="-122"/>
                <a:cs typeface="Calibri" pitchFamily="34" charset="-120"/>
              </a:rPr>
              <a:t>💡 Feedback System</a:t>
            </a:r>
            <a:endParaRPr lang="en-US" sz="1200" dirty="0"/>
          </a:p>
        </p:txBody>
      </p:sp>
      <p:sp>
        <p:nvSpPr>
          <p:cNvPr id="29" name="Text 27"/>
          <p:cNvSpPr/>
          <p:nvPr/>
        </p:nvSpPr>
        <p:spPr>
          <a:xfrm>
            <a:off x="6163056" y="3538728"/>
            <a:ext cx="2606040" cy="100584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Provides posture correction suggestions, injury risk alerts, and improvement tips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System Scope &amp; Boundaries</a:t>
            </a:r>
            <a:endParaRPr lang="en-US" sz="2200" dirty="0"/>
          </a:p>
        </p:txBody>
      </p:sp>
      <p:sp>
        <p:nvSpPr>
          <p:cNvPr id="5" name="Shape 3"/>
          <p:cNvSpPr/>
          <p:nvPr/>
        </p:nvSpPr>
        <p:spPr>
          <a:xfrm>
            <a:off x="365760" y="777240"/>
            <a:ext cx="4023360" cy="4206240"/>
          </a:xfrm>
          <a:prstGeom prst="rect">
            <a:avLst/>
          </a:prstGeom>
          <a:solidFill>
            <a:srgbClr val="F0FBF8"/>
          </a:solidFill>
          <a:ln w="12700">
            <a:solidFill>
              <a:srgbClr val="27AE60"/>
            </a:solidFill>
            <a:prstDash val="solid"/>
          </a:ln>
        </p:spPr>
      </p:sp>
      <p:sp>
        <p:nvSpPr>
          <p:cNvPr id="6" name="Shape 4"/>
          <p:cNvSpPr/>
          <p:nvPr/>
        </p:nvSpPr>
        <p:spPr>
          <a:xfrm>
            <a:off x="365760" y="777240"/>
            <a:ext cx="4023360" cy="384048"/>
          </a:xfrm>
          <a:prstGeom prst="rect">
            <a:avLst/>
          </a:prstGeom>
          <a:solidFill>
            <a:srgbClr val="27AE60"/>
          </a:solidFill>
          <a:ln w="12700">
            <a:solidFill>
              <a:srgbClr val="27AE60"/>
            </a:solidFill>
            <a:prstDash val="solid"/>
          </a:ln>
        </p:spPr>
      </p:sp>
      <p:sp>
        <p:nvSpPr>
          <p:cNvPr id="7" name="Text 5"/>
          <p:cNvSpPr/>
          <p:nvPr/>
        </p:nvSpPr>
        <p:spPr>
          <a:xfrm>
            <a:off x="457200" y="822960"/>
            <a:ext cx="384048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What the System WILL Do</a:t>
            </a:r>
            <a:endParaRPr lang="en-US" sz="1200" dirty="0"/>
          </a:p>
        </p:txBody>
      </p:sp>
      <p:sp>
        <p:nvSpPr>
          <p:cNvPr id="8" name="Text 6"/>
          <p:cNvSpPr/>
          <p:nvPr/>
        </p:nvSpPr>
        <p:spPr>
          <a:xfrm>
            <a:off x="457200" y="1234440"/>
            <a:ext cx="3794760" cy="3611880"/>
          </a:xfrm>
          <a:prstGeom prst="rect">
            <a:avLst/>
          </a:prstGeom>
          <a:noFill/>
          <a:ln/>
        </p:spPr>
        <p:txBody>
          <a:bodyPr wrap="square" rtlCol="0" anchor="t"/>
          <a:lstStyle/>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Accept video input (live or recorded)</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Detect body joints using pose estimation</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Analyze posture and movement patterns</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Provide feedback and correction suggestions</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Generate performance scores</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Store user data and performance history</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Generate visual reports and analytics</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Allow downloading of reports</a:t>
            </a:r>
            <a:endParaRPr lang="en-US" sz="1200" dirty="0"/>
          </a:p>
        </p:txBody>
      </p:sp>
      <p:sp>
        <p:nvSpPr>
          <p:cNvPr id="9" name="Shape 7"/>
          <p:cNvSpPr/>
          <p:nvPr/>
        </p:nvSpPr>
        <p:spPr>
          <a:xfrm>
            <a:off x="4754880" y="777240"/>
            <a:ext cx="4023360" cy="4206240"/>
          </a:xfrm>
          <a:prstGeom prst="rect">
            <a:avLst/>
          </a:prstGeom>
          <a:solidFill>
            <a:srgbClr val="FDF3F0"/>
          </a:solidFill>
          <a:ln w="12700">
            <a:solidFill>
              <a:srgbClr val="E74C3C"/>
            </a:solidFill>
            <a:prstDash val="solid"/>
          </a:ln>
        </p:spPr>
      </p:sp>
      <p:sp>
        <p:nvSpPr>
          <p:cNvPr id="10" name="Shape 8"/>
          <p:cNvSpPr/>
          <p:nvPr/>
        </p:nvSpPr>
        <p:spPr>
          <a:xfrm>
            <a:off x="4754880" y="777240"/>
            <a:ext cx="4023360" cy="384048"/>
          </a:xfrm>
          <a:prstGeom prst="rect">
            <a:avLst/>
          </a:prstGeom>
          <a:solidFill>
            <a:srgbClr val="E74C3C"/>
          </a:solidFill>
          <a:ln w="12700">
            <a:solidFill>
              <a:srgbClr val="E74C3C"/>
            </a:solidFill>
            <a:prstDash val="solid"/>
          </a:ln>
        </p:spPr>
      </p:sp>
      <p:sp>
        <p:nvSpPr>
          <p:cNvPr id="11" name="Text 9"/>
          <p:cNvSpPr/>
          <p:nvPr/>
        </p:nvSpPr>
        <p:spPr>
          <a:xfrm>
            <a:off x="4846320" y="822960"/>
            <a:ext cx="384048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What the System Will NOT Do</a:t>
            </a:r>
            <a:endParaRPr lang="en-US" sz="1200" dirty="0"/>
          </a:p>
        </p:txBody>
      </p:sp>
      <p:sp>
        <p:nvSpPr>
          <p:cNvPr id="12" name="Text 10"/>
          <p:cNvSpPr/>
          <p:nvPr/>
        </p:nvSpPr>
        <p:spPr>
          <a:xfrm>
            <a:off x="4846320" y="1234440"/>
            <a:ext cx="3794760" cy="3611880"/>
          </a:xfrm>
          <a:prstGeom prst="rect">
            <a:avLst/>
          </a:prstGeom>
          <a:noFill/>
          <a:ln/>
        </p:spPr>
        <p:txBody>
          <a:bodyPr wrap="square" rtlCol="0" anchor="t"/>
          <a:lstStyle/>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Replace human coaches completely</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Work without video input</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Support other sports (v1.0 limited to cricket)</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Provide real-time biomechanical wearable data</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Automatically control training equipment</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Provide live coaching via chat or voice</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Offer certified training certifications</a:t>
            </a:r>
            <a:endParaRPr lang="en-US" sz="1200" dirty="0"/>
          </a:p>
          <a:p>
            <a:pPr marL="342900" indent="-342900">
              <a:spcAft>
                <a:spcPts val="400"/>
              </a:spcAft>
              <a:buSzPct val="100000"/>
              <a:buChar char="•"/>
            </a:pPr>
            <a:r>
              <a:rPr lang="en-US" sz="1200" dirty="0">
                <a:solidFill>
                  <a:srgbClr val="1A2E40"/>
                </a:solidFill>
                <a:latin typeface="Calibri" pitchFamily="34" charset="0"/>
                <a:ea typeface="Calibri" pitchFamily="34" charset="-122"/>
                <a:cs typeface="Calibri" pitchFamily="34" charset="-120"/>
              </a:rPr>
              <a:t>Replace medical diagnosis of injuries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System Architecture</a:t>
            </a:r>
            <a:endParaRPr lang="en-US" sz="2200" dirty="0"/>
          </a:p>
        </p:txBody>
      </p:sp>
      <p:sp>
        <p:nvSpPr>
          <p:cNvPr id="5" name="Text 3"/>
          <p:cNvSpPr/>
          <p:nvPr/>
        </p:nvSpPr>
        <p:spPr>
          <a:xfrm>
            <a:off x="365760" y="749808"/>
            <a:ext cx="8412480" cy="320040"/>
          </a:xfrm>
          <a:prstGeom prst="rect">
            <a:avLst/>
          </a:prstGeom>
          <a:noFill/>
          <a:ln/>
        </p:spPr>
        <p:txBody>
          <a:bodyPr wrap="square" rtlCol="0" anchor="ctr"/>
          <a:lstStyle/>
          <a:p>
            <a:pPr marL="0" indent="0">
              <a:buNone/>
            </a:pPr>
            <a:r>
              <a:rPr lang="en-US" sz="1200" i="1" dirty="0">
                <a:solidFill>
                  <a:srgbClr val="4A6580"/>
                </a:solidFill>
                <a:latin typeface="Calibri" pitchFamily="34" charset="0"/>
                <a:ea typeface="Calibri" pitchFamily="34" charset="-122"/>
                <a:cs typeface="Calibri" pitchFamily="34" charset="-120"/>
              </a:rPr>
              <a:t>Multi-layer pipeline architecture: User Layer → Processing Layer → Analysis Layer → Output Layer</a:t>
            </a:r>
            <a:endParaRPr lang="en-US" sz="1200" dirty="0"/>
          </a:p>
        </p:txBody>
      </p:sp>
      <p:pic>
        <p:nvPicPr>
          <p:cNvPr id="54" name="Picture 53">
            <a:extLst>
              <a:ext uri="{FF2B5EF4-FFF2-40B4-BE49-F238E27FC236}">
                <a16:creationId xmlns:a16="http://schemas.microsoft.com/office/drawing/2014/main" id="{F51BEA3F-8AEB-F3B8-689F-B3F5AAEFD6B1}"/>
              </a:ext>
            </a:extLst>
          </p:cNvPr>
          <p:cNvPicPr>
            <a:picLocks noChangeAspect="1"/>
          </p:cNvPicPr>
          <p:nvPr/>
        </p:nvPicPr>
        <p:blipFill>
          <a:blip r:embed="rId3"/>
          <a:srcRect/>
          <a:stretch/>
        </p:blipFill>
        <p:spPr>
          <a:xfrm>
            <a:off x="4297680" y="1069848"/>
            <a:ext cx="3784210" cy="3727235"/>
          </a:xfrm>
          <a:prstGeom prst="rect">
            <a:avLst/>
          </a:prstGeom>
        </p:spPr>
      </p:pic>
      <p:sp>
        <p:nvSpPr>
          <p:cNvPr id="67" name="TextBox 66">
            <a:extLst>
              <a:ext uri="{FF2B5EF4-FFF2-40B4-BE49-F238E27FC236}">
                <a16:creationId xmlns:a16="http://schemas.microsoft.com/office/drawing/2014/main" id="{ED7DA7EF-31EF-1001-2902-AB50A87163CD}"/>
              </a:ext>
            </a:extLst>
          </p:cNvPr>
          <p:cNvSpPr txBox="1"/>
          <p:nvPr/>
        </p:nvSpPr>
        <p:spPr>
          <a:xfrm>
            <a:off x="344495" y="1019667"/>
            <a:ext cx="3784210" cy="3631763"/>
          </a:xfrm>
          <a:prstGeom prst="rect">
            <a:avLst/>
          </a:prstGeom>
          <a:noFill/>
        </p:spPr>
        <p:txBody>
          <a:bodyPr wrap="square">
            <a:spAutoFit/>
          </a:bodyPr>
          <a:lstStyle/>
          <a:p>
            <a:pPr algn="l"/>
            <a:r>
              <a:rPr lang="en-IN" sz="2000" b="0" i="0" u="none" strike="noStrike" baseline="0" dirty="0">
                <a:solidFill>
                  <a:schemeClr val="accent1"/>
                </a:solidFill>
                <a:latin typeface="T3Font_0"/>
              </a:rPr>
              <a:t>Product Functions</a:t>
            </a:r>
          </a:p>
          <a:p>
            <a:pPr algn="l"/>
            <a:r>
              <a:rPr lang="en-IN" sz="1400" b="0" i="0" u="none" strike="noStrike" baseline="0" dirty="0">
                <a:latin typeface="T3Font_1"/>
              </a:rPr>
              <a:t>The major functions of the system are:</a:t>
            </a:r>
          </a:p>
          <a:p>
            <a:pPr algn="l"/>
            <a:r>
              <a:rPr lang="en-IN" sz="1400" b="0" i="0" u="none" strike="noStrike" baseline="0" dirty="0">
                <a:latin typeface="T3Font_1"/>
              </a:rPr>
              <a:t>1. </a:t>
            </a:r>
            <a:r>
              <a:rPr lang="en-IN" sz="1400" b="0" i="0" u="none" strike="noStrike" baseline="0" dirty="0">
                <a:latin typeface="T3Font_0"/>
              </a:rPr>
              <a:t>Video Capture/Input</a:t>
            </a:r>
          </a:p>
          <a:p>
            <a:pPr algn="l"/>
            <a:r>
              <a:rPr lang="en-IN" sz="1400" b="0" i="0" u="none" strike="noStrike" baseline="0" dirty="0">
                <a:latin typeface="T3Font_1"/>
              </a:rPr>
              <a:t>Accepts live or recorded cricket videos.</a:t>
            </a:r>
          </a:p>
          <a:p>
            <a:pPr algn="l"/>
            <a:r>
              <a:rPr lang="en-IN" sz="1400" b="0" i="0" u="none" strike="noStrike" baseline="0" dirty="0">
                <a:latin typeface="T3Font_1"/>
              </a:rPr>
              <a:t>2. </a:t>
            </a:r>
            <a:r>
              <a:rPr lang="en-IN" sz="1400" b="0" i="0" u="none" strike="noStrike" baseline="0" dirty="0">
                <a:latin typeface="T3Font_0"/>
              </a:rPr>
              <a:t>Pose Detection</a:t>
            </a:r>
          </a:p>
          <a:p>
            <a:pPr algn="l"/>
            <a:r>
              <a:rPr lang="en-IN" sz="1400" b="0" i="0" u="none" strike="noStrike" baseline="0" dirty="0">
                <a:latin typeface="T3Font_1"/>
              </a:rPr>
              <a:t>Detects body joints like elbows, knees, shoulders.</a:t>
            </a:r>
          </a:p>
          <a:p>
            <a:pPr algn="l"/>
            <a:r>
              <a:rPr lang="en-IN" sz="1400" b="0" i="0" u="none" strike="noStrike" baseline="0" dirty="0">
                <a:latin typeface="T3Font_1"/>
              </a:rPr>
              <a:t>3. </a:t>
            </a:r>
            <a:r>
              <a:rPr lang="en-IN" sz="1400" b="0" i="0" u="none" strike="noStrike" baseline="0" dirty="0">
                <a:latin typeface="T3Font_0"/>
              </a:rPr>
              <a:t>Feature Extraction</a:t>
            </a:r>
          </a:p>
          <a:p>
            <a:pPr algn="l"/>
            <a:r>
              <a:rPr lang="en-IN" sz="1400" b="0" i="0" u="none" strike="noStrike" baseline="0" dirty="0">
                <a:latin typeface="T3Font_1"/>
              </a:rPr>
              <a:t>Calculates joint angles and movement patterns.</a:t>
            </a:r>
          </a:p>
          <a:p>
            <a:pPr algn="l"/>
            <a:r>
              <a:rPr lang="en-IN" sz="1400" b="0" i="0" u="none" strike="noStrike" baseline="0" dirty="0">
                <a:latin typeface="T3Font_1"/>
              </a:rPr>
              <a:t>4. </a:t>
            </a:r>
            <a:r>
              <a:rPr lang="en-IN" sz="1400" b="0" i="0" u="none" strike="noStrike" baseline="0" dirty="0">
                <a:latin typeface="T3Font_0"/>
              </a:rPr>
              <a:t>Posture Analysis</a:t>
            </a:r>
          </a:p>
          <a:p>
            <a:pPr algn="l"/>
            <a:r>
              <a:rPr lang="en-IN" sz="1400" b="0" i="0" u="none" strike="noStrike" baseline="0" dirty="0">
                <a:latin typeface="T3Font_1"/>
              </a:rPr>
              <a:t>Compares posture with ideal standards.</a:t>
            </a:r>
          </a:p>
          <a:p>
            <a:pPr algn="l"/>
            <a:r>
              <a:rPr lang="en-IN" sz="1400" b="0" i="0" u="none" strike="noStrike" baseline="0" dirty="0">
                <a:latin typeface="T3Font_1"/>
              </a:rPr>
              <a:t>5. </a:t>
            </a:r>
            <a:r>
              <a:rPr lang="en-IN" sz="1400" b="0" i="0" u="none" strike="noStrike" baseline="0" dirty="0">
                <a:latin typeface="T3Font_0"/>
              </a:rPr>
              <a:t>Performance Scoring</a:t>
            </a:r>
          </a:p>
          <a:p>
            <a:pPr algn="l"/>
            <a:r>
              <a:rPr lang="en-IN" sz="1400" b="0" i="0" u="none" strike="noStrike" baseline="0" dirty="0">
                <a:latin typeface="T3Font_1"/>
              </a:rPr>
              <a:t>Generates </a:t>
            </a:r>
            <a:r>
              <a:rPr lang="en-IN" sz="1400" b="0" i="0" u="none" strike="noStrike" baseline="0" dirty="0" err="1">
                <a:latin typeface="T3Font_1"/>
              </a:rPr>
              <a:t>scorebased</a:t>
            </a:r>
            <a:r>
              <a:rPr lang="en-IN" sz="1400" b="0" i="0" u="none" strike="noStrike" baseline="0" dirty="0">
                <a:latin typeface="T3Font_1"/>
              </a:rPr>
              <a:t> on accuracy.</a:t>
            </a:r>
          </a:p>
          <a:p>
            <a:pPr algn="l"/>
            <a:r>
              <a:rPr lang="en-IN" sz="1400" b="0" i="0" u="none" strike="noStrike" baseline="0" dirty="0">
                <a:latin typeface="T3Font_1"/>
              </a:rPr>
              <a:t>6. </a:t>
            </a:r>
            <a:r>
              <a:rPr lang="en-IN" sz="1400" b="0" i="0" u="none" strike="noStrike" baseline="0" dirty="0">
                <a:latin typeface="T3Font_0"/>
              </a:rPr>
              <a:t>Feedback System</a:t>
            </a:r>
          </a:p>
          <a:p>
            <a:pPr algn="l"/>
            <a:r>
              <a:rPr lang="en-IN" sz="1400" b="0" i="0" u="none" strike="noStrike" baseline="0" dirty="0">
                <a:latin typeface="T3Font_1"/>
              </a:rPr>
              <a:t>Provides suggestions and injury alerts.</a:t>
            </a:r>
          </a:p>
          <a:p>
            <a:pPr algn="l"/>
            <a:r>
              <a:rPr lang="en-IN" sz="1400" b="0" i="0" u="none" strike="noStrike" baseline="0" dirty="0">
                <a:latin typeface="T3Font_1"/>
              </a:rPr>
              <a:t>7. </a:t>
            </a:r>
            <a:r>
              <a:rPr lang="en-IN" sz="1400" b="0" i="0" u="none" strike="noStrike" baseline="0" dirty="0">
                <a:latin typeface="T3Font_0"/>
              </a:rPr>
              <a:t>Data Storage</a:t>
            </a:r>
          </a:p>
          <a:p>
            <a:pPr algn="l"/>
            <a:r>
              <a:rPr lang="en-IN" sz="1400" b="0" i="0" u="none" strike="noStrike" baseline="0" dirty="0">
                <a:latin typeface="T3Font_1"/>
              </a:rPr>
              <a:t>Stores user performance history</a:t>
            </a:r>
            <a:endParaRPr lang="en-IN"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System Processing Workflow</a:t>
            </a:r>
            <a:endParaRPr lang="en-US" sz="2200" dirty="0"/>
          </a:p>
        </p:txBody>
      </p:sp>
      <p:pic>
        <p:nvPicPr>
          <p:cNvPr id="41" name="Picture 40">
            <a:extLst>
              <a:ext uri="{FF2B5EF4-FFF2-40B4-BE49-F238E27FC236}">
                <a16:creationId xmlns:a16="http://schemas.microsoft.com/office/drawing/2014/main" id="{E7DA7559-4566-F00D-B3FF-2287BB36BD7E}"/>
              </a:ext>
            </a:extLst>
          </p:cNvPr>
          <p:cNvPicPr>
            <a:picLocks noChangeAspect="1"/>
          </p:cNvPicPr>
          <p:nvPr/>
        </p:nvPicPr>
        <p:blipFill>
          <a:blip r:embed="rId3"/>
          <a:srcRect/>
          <a:stretch/>
        </p:blipFill>
        <p:spPr>
          <a:xfrm>
            <a:off x="5008389" y="1196893"/>
            <a:ext cx="3878321" cy="3672442"/>
          </a:xfrm>
          <a:prstGeom prst="rect">
            <a:avLst/>
          </a:prstGeom>
        </p:spPr>
      </p:pic>
      <p:sp>
        <p:nvSpPr>
          <p:cNvPr id="43" name="TextBox 42">
            <a:extLst>
              <a:ext uri="{FF2B5EF4-FFF2-40B4-BE49-F238E27FC236}">
                <a16:creationId xmlns:a16="http://schemas.microsoft.com/office/drawing/2014/main" id="{8EBB09B5-7CA7-1FDE-FF7F-05EA3B8C5567}"/>
              </a:ext>
            </a:extLst>
          </p:cNvPr>
          <p:cNvSpPr txBox="1"/>
          <p:nvPr/>
        </p:nvSpPr>
        <p:spPr>
          <a:xfrm>
            <a:off x="326066" y="1380814"/>
            <a:ext cx="4831180" cy="3231654"/>
          </a:xfrm>
          <a:prstGeom prst="rect">
            <a:avLst/>
          </a:prstGeom>
          <a:noFill/>
        </p:spPr>
        <p:txBody>
          <a:bodyPr wrap="square">
            <a:spAutoFit/>
          </a:bodyPr>
          <a:lstStyle/>
          <a:p>
            <a:pPr>
              <a:buFont typeface="Arial" panose="020B0604020202020204" pitchFamily="34" charset="0"/>
              <a:buChar char="•"/>
            </a:pPr>
            <a:r>
              <a:rPr lang="en-US" sz="1200" dirty="0"/>
              <a:t>The system captures player movement using computer vision and AI. </a:t>
            </a:r>
          </a:p>
          <a:p>
            <a:pPr>
              <a:buFont typeface="Arial" panose="020B0604020202020204" pitchFamily="34" charset="0"/>
              <a:buChar char="•"/>
            </a:pPr>
            <a:r>
              <a:rPr lang="en-US" sz="1200" dirty="0"/>
              <a:t>Input is taken from a live camera feed or uploaded video. </a:t>
            </a:r>
          </a:p>
          <a:p>
            <a:pPr>
              <a:buFont typeface="Arial" panose="020B0604020202020204" pitchFamily="34" charset="0"/>
              <a:buChar char="•"/>
            </a:pPr>
            <a:r>
              <a:rPr lang="en-US" sz="1200" dirty="0"/>
              <a:t>The video is divided into multiple frames for processing. </a:t>
            </a:r>
          </a:p>
          <a:p>
            <a:pPr>
              <a:buFont typeface="Arial" panose="020B0604020202020204" pitchFamily="34" charset="0"/>
              <a:buChar char="•"/>
            </a:pPr>
            <a:r>
              <a:rPr lang="en-US" sz="1200" dirty="0"/>
              <a:t>Each frame is analyzed using pose detection algorithms like </a:t>
            </a:r>
            <a:r>
              <a:rPr lang="en-US" sz="1200" dirty="0" err="1"/>
              <a:t>MediaPipe</a:t>
            </a:r>
            <a:endParaRPr lang="en-US" sz="1200" dirty="0"/>
          </a:p>
          <a:p>
            <a:r>
              <a:rPr lang="en-US" sz="1200" dirty="0"/>
              <a:t> or deep learning models. </a:t>
            </a:r>
          </a:p>
          <a:p>
            <a:pPr>
              <a:buFont typeface="Arial" panose="020B0604020202020204" pitchFamily="34" charset="0"/>
              <a:buChar char="•"/>
            </a:pPr>
            <a:r>
              <a:rPr lang="en-US" sz="1200" dirty="0"/>
              <a:t>The system detects key body joints such as shoulders, elbows,</a:t>
            </a:r>
          </a:p>
          <a:p>
            <a:r>
              <a:rPr lang="en-US" sz="1200" dirty="0"/>
              <a:t> hips, knees, and ankles. </a:t>
            </a:r>
          </a:p>
          <a:p>
            <a:pPr>
              <a:buFont typeface="Arial" panose="020B0604020202020204" pitchFamily="34" charset="0"/>
              <a:buChar char="•"/>
            </a:pPr>
            <a:r>
              <a:rPr lang="en-US" sz="1200" dirty="0"/>
              <a:t>Joint movements are tracked across frames to understand motion patterns. </a:t>
            </a:r>
          </a:p>
          <a:p>
            <a:pPr>
              <a:buFont typeface="Arial" panose="020B0604020202020204" pitchFamily="34" charset="0"/>
              <a:buChar char="•"/>
            </a:pPr>
            <a:r>
              <a:rPr lang="en-US" sz="1200" dirty="0"/>
              <a:t>Coordinates of joints are used to calculate metrics like: </a:t>
            </a:r>
          </a:p>
          <a:p>
            <a:pPr marL="742950" lvl="1" indent="-285750">
              <a:buFont typeface="Arial" panose="020B0604020202020204" pitchFamily="34" charset="0"/>
              <a:buChar char="•"/>
            </a:pPr>
            <a:r>
              <a:rPr lang="en-US" sz="1200" dirty="0"/>
              <a:t>Joint angles </a:t>
            </a:r>
          </a:p>
          <a:p>
            <a:pPr marL="742950" lvl="1" indent="-285750">
              <a:buFont typeface="Arial" panose="020B0604020202020204" pitchFamily="34" charset="0"/>
              <a:buChar char="•"/>
            </a:pPr>
            <a:r>
              <a:rPr lang="en-US" sz="1200" dirty="0"/>
              <a:t>Body posture </a:t>
            </a:r>
          </a:p>
          <a:p>
            <a:pPr marL="742950" lvl="1" indent="-285750">
              <a:buFont typeface="Arial" panose="020B0604020202020204" pitchFamily="34" charset="0"/>
              <a:buChar char="•"/>
            </a:pPr>
            <a:r>
              <a:rPr lang="en-US" sz="1200" dirty="0"/>
              <a:t>Speed and acceleration </a:t>
            </a:r>
          </a:p>
          <a:p>
            <a:pPr marL="742950" lvl="1" indent="-285750">
              <a:buFont typeface="Arial" panose="020B0604020202020204" pitchFamily="34" charset="0"/>
              <a:buChar char="•"/>
            </a:pPr>
            <a:r>
              <a:rPr lang="en-US" sz="1200" dirty="0"/>
              <a:t>Movement efficiency </a:t>
            </a:r>
          </a:p>
          <a:p>
            <a:pPr>
              <a:buFont typeface="Arial" panose="020B0604020202020204" pitchFamily="34" charset="0"/>
              <a:buChar char="•"/>
            </a:pPr>
            <a:r>
              <a:rPr lang="en-US" sz="1200" dirty="0"/>
              <a:t>Results are visualized using graphs, skeleton overlays, and analytical reports. </a:t>
            </a:r>
          </a:p>
          <a:p>
            <a:pPr>
              <a:buFont typeface="Arial" panose="020B0604020202020204" pitchFamily="34" charset="0"/>
              <a:buChar char="•"/>
            </a:pPr>
            <a:r>
              <a:rPr lang="en-US" sz="1200" dirty="0"/>
              <a:t>These insights help coaches and athletes evaluate performance.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Motion Analysis Pipeline</a:t>
            </a:r>
            <a:endParaRPr lang="en-US" sz="2200" dirty="0"/>
          </a:p>
        </p:txBody>
      </p:sp>
      <p:sp>
        <p:nvSpPr>
          <p:cNvPr id="11" name="Shape 9"/>
          <p:cNvSpPr/>
          <p:nvPr/>
        </p:nvSpPr>
        <p:spPr>
          <a:xfrm>
            <a:off x="3429000" y="1188720"/>
            <a:ext cx="5349240" cy="502920"/>
          </a:xfrm>
          <a:prstGeom prst="rect">
            <a:avLst/>
          </a:prstGeom>
          <a:solidFill>
            <a:srgbClr val="F0F4F8"/>
          </a:solidFill>
          <a:ln w="12700">
            <a:solidFill>
              <a:srgbClr val="D0DCE8"/>
            </a:solidFill>
            <a:prstDash val="solid"/>
          </a:ln>
        </p:spPr>
      </p:sp>
      <p:sp>
        <p:nvSpPr>
          <p:cNvPr id="12" name="Text 10"/>
          <p:cNvSpPr/>
          <p:nvPr/>
        </p:nvSpPr>
        <p:spPr>
          <a:xfrm>
            <a:off x="3520440" y="1234440"/>
            <a:ext cx="5166360" cy="411480"/>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Continuous frame buffer at 30 FPS from live camera or pre-recorded file</a:t>
            </a:r>
            <a:endParaRPr lang="en-US" sz="1150" dirty="0"/>
          </a:p>
        </p:txBody>
      </p:sp>
      <p:sp>
        <p:nvSpPr>
          <p:cNvPr id="19" name="Shape 17"/>
          <p:cNvSpPr/>
          <p:nvPr/>
        </p:nvSpPr>
        <p:spPr>
          <a:xfrm>
            <a:off x="3429000" y="1819656"/>
            <a:ext cx="5349240" cy="502920"/>
          </a:xfrm>
          <a:prstGeom prst="rect">
            <a:avLst/>
          </a:prstGeom>
          <a:solidFill>
            <a:srgbClr val="F0F4F8"/>
          </a:solidFill>
          <a:ln w="12700">
            <a:solidFill>
              <a:srgbClr val="D0DCE8"/>
            </a:solidFill>
            <a:prstDash val="solid"/>
          </a:ln>
        </p:spPr>
      </p:sp>
      <p:sp>
        <p:nvSpPr>
          <p:cNvPr id="20" name="Text 18"/>
          <p:cNvSpPr/>
          <p:nvPr/>
        </p:nvSpPr>
        <p:spPr>
          <a:xfrm>
            <a:off x="3520440" y="1865376"/>
            <a:ext cx="5166360" cy="411480"/>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MediaPipe Holistic / BlazePose detects 33 body landmarks per frame</a:t>
            </a:r>
            <a:endParaRPr lang="en-US" sz="1150" dirty="0"/>
          </a:p>
        </p:txBody>
      </p:sp>
      <p:sp>
        <p:nvSpPr>
          <p:cNvPr id="27" name="Shape 25"/>
          <p:cNvSpPr/>
          <p:nvPr/>
        </p:nvSpPr>
        <p:spPr>
          <a:xfrm>
            <a:off x="3429000" y="2450592"/>
            <a:ext cx="5349240" cy="502920"/>
          </a:xfrm>
          <a:prstGeom prst="rect">
            <a:avLst/>
          </a:prstGeom>
          <a:solidFill>
            <a:srgbClr val="F0F4F8"/>
          </a:solidFill>
          <a:ln w="12700">
            <a:solidFill>
              <a:srgbClr val="D0DCE8"/>
            </a:solidFill>
            <a:prstDash val="solid"/>
          </a:ln>
        </p:spPr>
      </p:sp>
      <p:sp>
        <p:nvSpPr>
          <p:cNvPr id="28" name="Text 26"/>
          <p:cNvSpPr/>
          <p:nvPr/>
        </p:nvSpPr>
        <p:spPr>
          <a:xfrm>
            <a:off x="3520440" y="2496312"/>
            <a:ext cx="5166360" cy="411480"/>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2D/3D coordinates (x, y, z) extracted for all major joints</a:t>
            </a:r>
            <a:endParaRPr lang="en-US" sz="1150" dirty="0"/>
          </a:p>
        </p:txBody>
      </p:sp>
      <p:sp>
        <p:nvSpPr>
          <p:cNvPr id="35" name="Shape 33"/>
          <p:cNvSpPr/>
          <p:nvPr/>
        </p:nvSpPr>
        <p:spPr>
          <a:xfrm>
            <a:off x="3429000" y="3081528"/>
            <a:ext cx="5349240" cy="502920"/>
          </a:xfrm>
          <a:prstGeom prst="rect">
            <a:avLst/>
          </a:prstGeom>
          <a:solidFill>
            <a:srgbClr val="F0F4F8"/>
          </a:solidFill>
          <a:ln w="12700">
            <a:solidFill>
              <a:srgbClr val="D0DCE8"/>
            </a:solidFill>
            <a:prstDash val="solid"/>
          </a:ln>
        </p:spPr>
      </p:sp>
      <p:sp>
        <p:nvSpPr>
          <p:cNvPr id="36" name="Text 34"/>
          <p:cNvSpPr/>
          <p:nvPr/>
        </p:nvSpPr>
        <p:spPr>
          <a:xfrm>
            <a:off x="3520440" y="3127248"/>
            <a:ext cx="5166360" cy="411480"/>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Joint angles computed using vector cross-product formulas (elbow 160°, knee 120°)</a:t>
            </a:r>
            <a:endParaRPr lang="en-US" sz="1150" dirty="0"/>
          </a:p>
        </p:txBody>
      </p:sp>
      <p:sp>
        <p:nvSpPr>
          <p:cNvPr id="43" name="Shape 41"/>
          <p:cNvSpPr/>
          <p:nvPr/>
        </p:nvSpPr>
        <p:spPr>
          <a:xfrm>
            <a:off x="3429000" y="3712464"/>
            <a:ext cx="5349240" cy="502920"/>
          </a:xfrm>
          <a:prstGeom prst="rect">
            <a:avLst/>
          </a:prstGeom>
          <a:solidFill>
            <a:srgbClr val="F0F4F8"/>
          </a:solidFill>
          <a:ln w="12700">
            <a:solidFill>
              <a:srgbClr val="D0DCE8"/>
            </a:solidFill>
            <a:prstDash val="solid"/>
          </a:ln>
        </p:spPr>
      </p:sp>
      <p:sp>
        <p:nvSpPr>
          <p:cNvPr id="44" name="Text 42"/>
          <p:cNvSpPr/>
          <p:nvPr/>
        </p:nvSpPr>
        <p:spPr>
          <a:xfrm>
            <a:off x="3520440" y="3758184"/>
            <a:ext cx="5166360" cy="411480"/>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Temporal sequence analysis using LSTM/CNN to identify batting/bowling phases</a:t>
            </a:r>
            <a:endParaRPr lang="en-US" sz="1150" dirty="0"/>
          </a:p>
        </p:txBody>
      </p:sp>
      <p:sp>
        <p:nvSpPr>
          <p:cNvPr id="51" name="Shape 49"/>
          <p:cNvSpPr/>
          <p:nvPr/>
        </p:nvSpPr>
        <p:spPr>
          <a:xfrm>
            <a:off x="3429000" y="4343400"/>
            <a:ext cx="5349240" cy="502920"/>
          </a:xfrm>
          <a:prstGeom prst="rect">
            <a:avLst/>
          </a:prstGeom>
          <a:solidFill>
            <a:srgbClr val="F0F4F8"/>
          </a:solidFill>
          <a:ln w="12700">
            <a:solidFill>
              <a:srgbClr val="D0DCE8"/>
            </a:solidFill>
            <a:prstDash val="solid"/>
          </a:ln>
        </p:spPr>
      </p:sp>
      <p:sp>
        <p:nvSpPr>
          <p:cNvPr id="52" name="Text 50"/>
          <p:cNvSpPr/>
          <p:nvPr/>
        </p:nvSpPr>
        <p:spPr>
          <a:xfrm>
            <a:off x="3520440" y="4389120"/>
            <a:ext cx="5166360" cy="411480"/>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ML classifier compares patterns to ideal technique; generates score 0–100</a:t>
            </a:r>
            <a:endParaRPr lang="en-US" sz="1150" dirty="0"/>
          </a:p>
        </p:txBody>
      </p:sp>
      <p:pic>
        <p:nvPicPr>
          <p:cNvPr id="56" name="Picture 55">
            <a:extLst>
              <a:ext uri="{FF2B5EF4-FFF2-40B4-BE49-F238E27FC236}">
                <a16:creationId xmlns:a16="http://schemas.microsoft.com/office/drawing/2014/main" id="{1016B377-B4C6-51CC-8BE8-DDCAE879BDCF}"/>
              </a:ext>
            </a:extLst>
          </p:cNvPr>
          <p:cNvPicPr>
            <a:picLocks noChangeAspect="1"/>
          </p:cNvPicPr>
          <p:nvPr/>
        </p:nvPicPr>
        <p:blipFill>
          <a:blip r:embed="rId3"/>
          <a:srcRect/>
          <a:stretch/>
        </p:blipFill>
        <p:spPr>
          <a:xfrm>
            <a:off x="440003" y="740664"/>
            <a:ext cx="2711897" cy="40625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Functional Requirements</a:t>
            </a:r>
            <a:endParaRPr lang="en-US" sz="2200" dirty="0"/>
          </a:p>
        </p:txBody>
      </p:sp>
      <p:sp>
        <p:nvSpPr>
          <p:cNvPr id="5" name="Shape 3"/>
          <p:cNvSpPr/>
          <p:nvPr/>
        </p:nvSpPr>
        <p:spPr>
          <a:xfrm>
            <a:off x="320040" y="777240"/>
            <a:ext cx="4206240" cy="914400"/>
          </a:xfrm>
          <a:prstGeom prst="rect">
            <a:avLst/>
          </a:prstGeom>
          <a:solidFill>
            <a:srgbClr val="F0F4F8"/>
          </a:solidFill>
          <a:ln w="12700">
            <a:solidFill>
              <a:srgbClr val="CBD5E0"/>
            </a:solidFill>
            <a:prstDash val="solid"/>
          </a:ln>
        </p:spPr>
      </p:sp>
      <p:sp>
        <p:nvSpPr>
          <p:cNvPr id="6" name="Shape 4"/>
          <p:cNvSpPr/>
          <p:nvPr/>
        </p:nvSpPr>
        <p:spPr>
          <a:xfrm>
            <a:off x="320040" y="777240"/>
            <a:ext cx="777240" cy="914400"/>
          </a:xfrm>
          <a:prstGeom prst="rect">
            <a:avLst/>
          </a:prstGeom>
          <a:solidFill>
            <a:srgbClr val="028090"/>
          </a:solidFill>
          <a:ln w="12700">
            <a:solidFill>
              <a:srgbClr val="028090"/>
            </a:solidFill>
            <a:prstDash val="solid"/>
          </a:ln>
        </p:spPr>
      </p:sp>
      <p:sp>
        <p:nvSpPr>
          <p:cNvPr id="7" name="Text 5"/>
          <p:cNvSpPr/>
          <p:nvPr/>
        </p:nvSpPr>
        <p:spPr>
          <a:xfrm>
            <a:off x="320040" y="777240"/>
            <a:ext cx="777240" cy="9144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FR-01</a:t>
            </a:r>
            <a:endParaRPr lang="en-US" sz="1000" dirty="0"/>
          </a:p>
        </p:txBody>
      </p:sp>
      <p:sp>
        <p:nvSpPr>
          <p:cNvPr id="8" name="Text 6"/>
          <p:cNvSpPr/>
          <p:nvPr/>
        </p:nvSpPr>
        <p:spPr>
          <a:xfrm>
            <a:off x="1188720" y="841248"/>
            <a:ext cx="3246120" cy="27432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Video Upload / Capture</a:t>
            </a:r>
            <a:endParaRPr lang="en-US" sz="1200" dirty="0"/>
          </a:p>
        </p:txBody>
      </p:sp>
      <p:sp>
        <p:nvSpPr>
          <p:cNvPr id="9" name="Text 7"/>
          <p:cNvSpPr/>
          <p:nvPr/>
        </p:nvSpPr>
        <p:spPr>
          <a:xfrm>
            <a:off x="1188720" y="1124712"/>
            <a:ext cx="3246120" cy="50292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System shall allow users to upload or capture video recordings via mobile camera or file upload</a:t>
            </a:r>
            <a:endParaRPr lang="en-US" sz="1100" dirty="0"/>
          </a:p>
        </p:txBody>
      </p:sp>
      <p:sp>
        <p:nvSpPr>
          <p:cNvPr id="10" name="Shape 8"/>
          <p:cNvSpPr/>
          <p:nvPr/>
        </p:nvSpPr>
        <p:spPr>
          <a:xfrm>
            <a:off x="4754880" y="777240"/>
            <a:ext cx="4206240" cy="914400"/>
          </a:xfrm>
          <a:prstGeom prst="rect">
            <a:avLst/>
          </a:prstGeom>
          <a:solidFill>
            <a:srgbClr val="EBF5FB"/>
          </a:solidFill>
          <a:ln w="12700">
            <a:solidFill>
              <a:srgbClr val="CBD5E0"/>
            </a:solidFill>
            <a:prstDash val="solid"/>
          </a:ln>
        </p:spPr>
      </p:sp>
      <p:sp>
        <p:nvSpPr>
          <p:cNvPr id="11" name="Shape 9"/>
          <p:cNvSpPr/>
          <p:nvPr/>
        </p:nvSpPr>
        <p:spPr>
          <a:xfrm>
            <a:off x="4754880" y="777240"/>
            <a:ext cx="777240" cy="914400"/>
          </a:xfrm>
          <a:prstGeom prst="rect">
            <a:avLst/>
          </a:prstGeom>
          <a:solidFill>
            <a:srgbClr val="028090"/>
          </a:solidFill>
          <a:ln w="12700">
            <a:solidFill>
              <a:srgbClr val="028090"/>
            </a:solidFill>
            <a:prstDash val="solid"/>
          </a:ln>
        </p:spPr>
      </p:sp>
      <p:sp>
        <p:nvSpPr>
          <p:cNvPr id="12" name="Text 10"/>
          <p:cNvSpPr/>
          <p:nvPr/>
        </p:nvSpPr>
        <p:spPr>
          <a:xfrm>
            <a:off x="4754880" y="777240"/>
            <a:ext cx="777240" cy="9144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FR-02</a:t>
            </a:r>
            <a:endParaRPr lang="en-US" sz="1000" dirty="0"/>
          </a:p>
        </p:txBody>
      </p:sp>
      <p:sp>
        <p:nvSpPr>
          <p:cNvPr id="13" name="Text 11"/>
          <p:cNvSpPr/>
          <p:nvPr/>
        </p:nvSpPr>
        <p:spPr>
          <a:xfrm>
            <a:off x="5623560" y="841248"/>
            <a:ext cx="3246120" cy="27432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Joint Detection &amp; Tracking</a:t>
            </a:r>
            <a:endParaRPr lang="en-US" sz="1200" dirty="0"/>
          </a:p>
        </p:txBody>
      </p:sp>
      <p:sp>
        <p:nvSpPr>
          <p:cNvPr id="14" name="Text 12"/>
          <p:cNvSpPr/>
          <p:nvPr/>
        </p:nvSpPr>
        <p:spPr>
          <a:xfrm>
            <a:off x="5623560" y="1124712"/>
            <a:ext cx="3246120" cy="50292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System shall detect and track human body joints (33 keypoints) using AI pose estimation models</a:t>
            </a:r>
            <a:endParaRPr lang="en-US" sz="1100" dirty="0"/>
          </a:p>
        </p:txBody>
      </p:sp>
      <p:sp>
        <p:nvSpPr>
          <p:cNvPr id="15" name="Shape 13"/>
          <p:cNvSpPr/>
          <p:nvPr/>
        </p:nvSpPr>
        <p:spPr>
          <a:xfrm>
            <a:off x="320040" y="1801368"/>
            <a:ext cx="4206240" cy="914400"/>
          </a:xfrm>
          <a:prstGeom prst="rect">
            <a:avLst/>
          </a:prstGeom>
          <a:solidFill>
            <a:srgbClr val="F0F4F8"/>
          </a:solidFill>
          <a:ln w="12700">
            <a:solidFill>
              <a:srgbClr val="CBD5E0"/>
            </a:solidFill>
            <a:prstDash val="solid"/>
          </a:ln>
        </p:spPr>
      </p:sp>
      <p:sp>
        <p:nvSpPr>
          <p:cNvPr id="16" name="Shape 14"/>
          <p:cNvSpPr/>
          <p:nvPr/>
        </p:nvSpPr>
        <p:spPr>
          <a:xfrm>
            <a:off x="320040" y="1801368"/>
            <a:ext cx="777240" cy="914400"/>
          </a:xfrm>
          <a:prstGeom prst="rect">
            <a:avLst/>
          </a:prstGeom>
          <a:solidFill>
            <a:srgbClr val="028090"/>
          </a:solidFill>
          <a:ln w="12700">
            <a:solidFill>
              <a:srgbClr val="028090"/>
            </a:solidFill>
            <a:prstDash val="solid"/>
          </a:ln>
        </p:spPr>
      </p:sp>
      <p:sp>
        <p:nvSpPr>
          <p:cNvPr id="17" name="Text 15"/>
          <p:cNvSpPr/>
          <p:nvPr/>
        </p:nvSpPr>
        <p:spPr>
          <a:xfrm>
            <a:off x="320040" y="1801368"/>
            <a:ext cx="777240" cy="9144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FR-03</a:t>
            </a:r>
            <a:endParaRPr lang="en-US" sz="1000" dirty="0"/>
          </a:p>
        </p:txBody>
      </p:sp>
      <p:sp>
        <p:nvSpPr>
          <p:cNvPr id="18" name="Text 16"/>
          <p:cNvSpPr/>
          <p:nvPr/>
        </p:nvSpPr>
        <p:spPr>
          <a:xfrm>
            <a:off x="1188720" y="1865376"/>
            <a:ext cx="3246120" cy="27432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Joint Angle Computation</a:t>
            </a:r>
            <a:endParaRPr lang="en-US" sz="1200" dirty="0"/>
          </a:p>
        </p:txBody>
      </p:sp>
      <p:sp>
        <p:nvSpPr>
          <p:cNvPr id="19" name="Text 17"/>
          <p:cNvSpPr/>
          <p:nvPr/>
        </p:nvSpPr>
        <p:spPr>
          <a:xfrm>
            <a:off x="1188720" y="2148840"/>
            <a:ext cx="3246120" cy="50292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System shall compute joint angles and body posture metrics from detected keypoints</a:t>
            </a:r>
            <a:endParaRPr lang="en-US" sz="1100" dirty="0"/>
          </a:p>
        </p:txBody>
      </p:sp>
      <p:sp>
        <p:nvSpPr>
          <p:cNvPr id="20" name="Shape 18"/>
          <p:cNvSpPr/>
          <p:nvPr/>
        </p:nvSpPr>
        <p:spPr>
          <a:xfrm>
            <a:off x="4754880" y="1801368"/>
            <a:ext cx="4206240" cy="914400"/>
          </a:xfrm>
          <a:prstGeom prst="rect">
            <a:avLst/>
          </a:prstGeom>
          <a:solidFill>
            <a:srgbClr val="EBF5FB"/>
          </a:solidFill>
          <a:ln w="12700">
            <a:solidFill>
              <a:srgbClr val="CBD5E0"/>
            </a:solidFill>
            <a:prstDash val="solid"/>
          </a:ln>
        </p:spPr>
      </p:sp>
      <p:sp>
        <p:nvSpPr>
          <p:cNvPr id="21" name="Shape 19"/>
          <p:cNvSpPr/>
          <p:nvPr/>
        </p:nvSpPr>
        <p:spPr>
          <a:xfrm>
            <a:off x="4754880" y="1801368"/>
            <a:ext cx="777240" cy="914400"/>
          </a:xfrm>
          <a:prstGeom prst="rect">
            <a:avLst/>
          </a:prstGeom>
          <a:solidFill>
            <a:srgbClr val="028090"/>
          </a:solidFill>
          <a:ln w="12700">
            <a:solidFill>
              <a:srgbClr val="028090"/>
            </a:solidFill>
            <a:prstDash val="solid"/>
          </a:ln>
        </p:spPr>
      </p:sp>
      <p:sp>
        <p:nvSpPr>
          <p:cNvPr id="22" name="Text 20"/>
          <p:cNvSpPr/>
          <p:nvPr/>
        </p:nvSpPr>
        <p:spPr>
          <a:xfrm>
            <a:off x="4754880" y="1801368"/>
            <a:ext cx="777240" cy="9144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FR-04</a:t>
            </a:r>
            <a:endParaRPr lang="en-US" sz="1000" dirty="0"/>
          </a:p>
        </p:txBody>
      </p:sp>
      <p:sp>
        <p:nvSpPr>
          <p:cNvPr id="23" name="Text 21"/>
          <p:cNvSpPr/>
          <p:nvPr/>
        </p:nvSpPr>
        <p:spPr>
          <a:xfrm>
            <a:off x="5623560" y="1865376"/>
            <a:ext cx="3246120" cy="27432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Motion Analysis</a:t>
            </a:r>
            <a:endParaRPr lang="en-US" sz="1200" dirty="0"/>
          </a:p>
        </p:txBody>
      </p:sp>
      <p:sp>
        <p:nvSpPr>
          <p:cNvPr id="24" name="Text 22"/>
          <p:cNvSpPr/>
          <p:nvPr/>
        </p:nvSpPr>
        <p:spPr>
          <a:xfrm>
            <a:off x="5623560" y="2148840"/>
            <a:ext cx="3246120" cy="50292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System shall analyze player speed, acceleration, and motion patterns across video frames</a:t>
            </a:r>
            <a:endParaRPr lang="en-US" sz="1100" dirty="0"/>
          </a:p>
        </p:txBody>
      </p:sp>
      <p:sp>
        <p:nvSpPr>
          <p:cNvPr id="25" name="Shape 23"/>
          <p:cNvSpPr/>
          <p:nvPr/>
        </p:nvSpPr>
        <p:spPr>
          <a:xfrm>
            <a:off x="320040" y="2825496"/>
            <a:ext cx="4206240" cy="914400"/>
          </a:xfrm>
          <a:prstGeom prst="rect">
            <a:avLst/>
          </a:prstGeom>
          <a:solidFill>
            <a:srgbClr val="F0F4F8"/>
          </a:solidFill>
          <a:ln w="12700">
            <a:solidFill>
              <a:srgbClr val="CBD5E0"/>
            </a:solidFill>
            <a:prstDash val="solid"/>
          </a:ln>
        </p:spPr>
      </p:sp>
      <p:sp>
        <p:nvSpPr>
          <p:cNvPr id="26" name="Shape 24"/>
          <p:cNvSpPr/>
          <p:nvPr/>
        </p:nvSpPr>
        <p:spPr>
          <a:xfrm>
            <a:off x="320040" y="2825496"/>
            <a:ext cx="777240" cy="914400"/>
          </a:xfrm>
          <a:prstGeom prst="rect">
            <a:avLst/>
          </a:prstGeom>
          <a:solidFill>
            <a:srgbClr val="028090"/>
          </a:solidFill>
          <a:ln w="12700">
            <a:solidFill>
              <a:srgbClr val="028090"/>
            </a:solidFill>
            <a:prstDash val="solid"/>
          </a:ln>
        </p:spPr>
      </p:sp>
      <p:sp>
        <p:nvSpPr>
          <p:cNvPr id="27" name="Text 25"/>
          <p:cNvSpPr/>
          <p:nvPr/>
        </p:nvSpPr>
        <p:spPr>
          <a:xfrm>
            <a:off x="320040" y="2825496"/>
            <a:ext cx="777240" cy="9144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FR-05</a:t>
            </a:r>
            <a:endParaRPr lang="en-US" sz="1000" dirty="0"/>
          </a:p>
        </p:txBody>
      </p:sp>
      <p:sp>
        <p:nvSpPr>
          <p:cNvPr id="28" name="Text 26"/>
          <p:cNvSpPr/>
          <p:nvPr/>
        </p:nvSpPr>
        <p:spPr>
          <a:xfrm>
            <a:off x="1188720" y="2889504"/>
            <a:ext cx="3246120" cy="27432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Data Storage</a:t>
            </a:r>
            <a:endParaRPr lang="en-US" sz="1200" dirty="0"/>
          </a:p>
        </p:txBody>
      </p:sp>
      <p:sp>
        <p:nvSpPr>
          <p:cNvPr id="29" name="Text 27"/>
          <p:cNvSpPr/>
          <p:nvPr/>
        </p:nvSpPr>
        <p:spPr>
          <a:xfrm>
            <a:off x="1188720" y="3172968"/>
            <a:ext cx="3246120" cy="50292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System shall store analysis results, user profiles, and performance history in the database</a:t>
            </a:r>
            <a:endParaRPr lang="en-US" sz="1100" dirty="0"/>
          </a:p>
        </p:txBody>
      </p:sp>
      <p:sp>
        <p:nvSpPr>
          <p:cNvPr id="30" name="Shape 28"/>
          <p:cNvSpPr/>
          <p:nvPr/>
        </p:nvSpPr>
        <p:spPr>
          <a:xfrm>
            <a:off x="4754880" y="2825496"/>
            <a:ext cx="4206240" cy="914400"/>
          </a:xfrm>
          <a:prstGeom prst="rect">
            <a:avLst/>
          </a:prstGeom>
          <a:solidFill>
            <a:srgbClr val="EBF5FB"/>
          </a:solidFill>
          <a:ln w="12700">
            <a:solidFill>
              <a:srgbClr val="CBD5E0"/>
            </a:solidFill>
            <a:prstDash val="solid"/>
          </a:ln>
        </p:spPr>
      </p:sp>
      <p:sp>
        <p:nvSpPr>
          <p:cNvPr id="31" name="Shape 29"/>
          <p:cNvSpPr/>
          <p:nvPr/>
        </p:nvSpPr>
        <p:spPr>
          <a:xfrm>
            <a:off x="4754880" y="2825496"/>
            <a:ext cx="777240" cy="914400"/>
          </a:xfrm>
          <a:prstGeom prst="rect">
            <a:avLst/>
          </a:prstGeom>
          <a:solidFill>
            <a:srgbClr val="028090"/>
          </a:solidFill>
          <a:ln w="12700">
            <a:solidFill>
              <a:srgbClr val="028090"/>
            </a:solidFill>
            <a:prstDash val="solid"/>
          </a:ln>
        </p:spPr>
      </p:sp>
      <p:sp>
        <p:nvSpPr>
          <p:cNvPr id="32" name="Text 30"/>
          <p:cNvSpPr/>
          <p:nvPr/>
        </p:nvSpPr>
        <p:spPr>
          <a:xfrm>
            <a:off x="4754880" y="2825496"/>
            <a:ext cx="777240" cy="9144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FR-06</a:t>
            </a:r>
            <a:endParaRPr lang="en-US" sz="1000" dirty="0"/>
          </a:p>
        </p:txBody>
      </p:sp>
      <p:sp>
        <p:nvSpPr>
          <p:cNvPr id="33" name="Text 31"/>
          <p:cNvSpPr/>
          <p:nvPr/>
        </p:nvSpPr>
        <p:spPr>
          <a:xfrm>
            <a:off x="5623560" y="2889504"/>
            <a:ext cx="3246120" cy="27432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Visual Reports</a:t>
            </a:r>
            <a:endParaRPr lang="en-US" sz="1200" dirty="0"/>
          </a:p>
        </p:txBody>
      </p:sp>
      <p:sp>
        <p:nvSpPr>
          <p:cNvPr id="34" name="Text 32"/>
          <p:cNvSpPr/>
          <p:nvPr/>
        </p:nvSpPr>
        <p:spPr>
          <a:xfrm>
            <a:off x="5623560" y="3172968"/>
            <a:ext cx="3246120" cy="50292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System shall generate visual reports including skeleton overlays, heatmaps, and performance charts</a:t>
            </a:r>
            <a:endParaRPr lang="en-US" sz="1100" dirty="0"/>
          </a:p>
        </p:txBody>
      </p:sp>
      <p:sp>
        <p:nvSpPr>
          <p:cNvPr id="35" name="Shape 33"/>
          <p:cNvSpPr/>
          <p:nvPr/>
        </p:nvSpPr>
        <p:spPr>
          <a:xfrm>
            <a:off x="320040" y="3849624"/>
            <a:ext cx="4206240" cy="914400"/>
          </a:xfrm>
          <a:prstGeom prst="rect">
            <a:avLst/>
          </a:prstGeom>
          <a:solidFill>
            <a:srgbClr val="F0F4F8"/>
          </a:solidFill>
          <a:ln w="12700">
            <a:solidFill>
              <a:srgbClr val="CBD5E0"/>
            </a:solidFill>
            <a:prstDash val="solid"/>
          </a:ln>
        </p:spPr>
      </p:sp>
      <p:sp>
        <p:nvSpPr>
          <p:cNvPr id="36" name="Shape 34"/>
          <p:cNvSpPr/>
          <p:nvPr/>
        </p:nvSpPr>
        <p:spPr>
          <a:xfrm>
            <a:off x="320040" y="3849624"/>
            <a:ext cx="777240" cy="914400"/>
          </a:xfrm>
          <a:prstGeom prst="rect">
            <a:avLst/>
          </a:prstGeom>
          <a:solidFill>
            <a:srgbClr val="028090"/>
          </a:solidFill>
          <a:ln w="12700">
            <a:solidFill>
              <a:srgbClr val="028090"/>
            </a:solidFill>
            <a:prstDash val="solid"/>
          </a:ln>
        </p:spPr>
      </p:sp>
      <p:sp>
        <p:nvSpPr>
          <p:cNvPr id="37" name="Text 35"/>
          <p:cNvSpPr/>
          <p:nvPr/>
        </p:nvSpPr>
        <p:spPr>
          <a:xfrm>
            <a:off x="320040" y="3849624"/>
            <a:ext cx="777240" cy="9144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FR-07</a:t>
            </a:r>
            <a:endParaRPr lang="en-US" sz="1000" dirty="0"/>
          </a:p>
        </p:txBody>
      </p:sp>
      <p:sp>
        <p:nvSpPr>
          <p:cNvPr id="38" name="Text 36"/>
          <p:cNvSpPr/>
          <p:nvPr/>
        </p:nvSpPr>
        <p:spPr>
          <a:xfrm>
            <a:off x="1188720" y="3913632"/>
            <a:ext cx="3246120" cy="27432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Report Download</a:t>
            </a:r>
            <a:endParaRPr lang="en-US" sz="1200" dirty="0"/>
          </a:p>
        </p:txBody>
      </p:sp>
      <p:sp>
        <p:nvSpPr>
          <p:cNvPr id="39" name="Text 37"/>
          <p:cNvSpPr/>
          <p:nvPr/>
        </p:nvSpPr>
        <p:spPr>
          <a:xfrm>
            <a:off x="1188720" y="4197096"/>
            <a:ext cx="3246120" cy="50292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System shall allow users to download performance reports in PDF format for further study</a:t>
            </a:r>
            <a:endParaRPr lang="en-US" sz="1100" dirty="0"/>
          </a:p>
        </p:txBody>
      </p:sp>
      <p:sp>
        <p:nvSpPr>
          <p:cNvPr id="40" name="Shape 38"/>
          <p:cNvSpPr/>
          <p:nvPr/>
        </p:nvSpPr>
        <p:spPr>
          <a:xfrm>
            <a:off x="4754880" y="3849624"/>
            <a:ext cx="4206240" cy="914400"/>
          </a:xfrm>
          <a:prstGeom prst="rect">
            <a:avLst/>
          </a:prstGeom>
          <a:solidFill>
            <a:srgbClr val="EBF5FB"/>
          </a:solidFill>
          <a:ln w="12700">
            <a:solidFill>
              <a:srgbClr val="CBD5E0"/>
            </a:solidFill>
            <a:prstDash val="solid"/>
          </a:ln>
        </p:spPr>
      </p:sp>
      <p:sp>
        <p:nvSpPr>
          <p:cNvPr id="41" name="Shape 39"/>
          <p:cNvSpPr/>
          <p:nvPr/>
        </p:nvSpPr>
        <p:spPr>
          <a:xfrm>
            <a:off x="4754880" y="3849624"/>
            <a:ext cx="777240" cy="914400"/>
          </a:xfrm>
          <a:prstGeom prst="rect">
            <a:avLst/>
          </a:prstGeom>
          <a:solidFill>
            <a:srgbClr val="028090"/>
          </a:solidFill>
          <a:ln w="12700">
            <a:solidFill>
              <a:srgbClr val="028090"/>
            </a:solidFill>
            <a:prstDash val="solid"/>
          </a:ln>
        </p:spPr>
      </p:sp>
      <p:sp>
        <p:nvSpPr>
          <p:cNvPr id="42" name="Text 40"/>
          <p:cNvSpPr/>
          <p:nvPr/>
        </p:nvSpPr>
        <p:spPr>
          <a:xfrm>
            <a:off x="4754880" y="3849624"/>
            <a:ext cx="777240" cy="9144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FR-08</a:t>
            </a:r>
            <a:endParaRPr lang="en-US" sz="1000" dirty="0"/>
          </a:p>
        </p:txBody>
      </p:sp>
      <p:sp>
        <p:nvSpPr>
          <p:cNvPr id="43" name="Text 41"/>
          <p:cNvSpPr/>
          <p:nvPr/>
        </p:nvSpPr>
        <p:spPr>
          <a:xfrm>
            <a:off x="5623560" y="3913632"/>
            <a:ext cx="3246120" cy="27432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User Authentication</a:t>
            </a:r>
            <a:endParaRPr lang="en-US" sz="1200" dirty="0"/>
          </a:p>
        </p:txBody>
      </p:sp>
      <p:sp>
        <p:nvSpPr>
          <p:cNvPr id="44" name="Text 42"/>
          <p:cNvSpPr/>
          <p:nvPr/>
        </p:nvSpPr>
        <p:spPr>
          <a:xfrm>
            <a:off x="5623560" y="4197096"/>
            <a:ext cx="3246120" cy="50292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System shall provide secure login and player profile management functionality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Non-Functional Requirements</a:t>
            </a:r>
            <a:endParaRPr lang="en-US" sz="2200" dirty="0"/>
          </a:p>
        </p:txBody>
      </p:sp>
      <p:sp>
        <p:nvSpPr>
          <p:cNvPr id="5" name="Shape 3"/>
          <p:cNvSpPr/>
          <p:nvPr/>
        </p:nvSpPr>
        <p:spPr>
          <a:xfrm>
            <a:off x="274320" y="777240"/>
            <a:ext cx="2788920" cy="1920240"/>
          </a:xfrm>
          <a:prstGeom prst="rect">
            <a:avLst/>
          </a:prstGeom>
          <a:solidFill>
            <a:srgbClr val="F0F4F8"/>
          </a:solidFill>
          <a:ln w="12700">
            <a:solidFill>
              <a:srgbClr val="CBD5E0"/>
            </a:solidFill>
            <a:prstDash val="solid"/>
          </a:ln>
        </p:spPr>
      </p:sp>
      <p:sp>
        <p:nvSpPr>
          <p:cNvPr id="6" name="Shape 4"/>
          <p:cNvSpPr/>
          <p:nvPr/>
        </p:nvSpPr>
        <p:spPr>
          <a:xfrm>
            <a:off x="274320" y="777240"/>
            <a:ext cx="2788920" cy="457200"/>
          </a:xfrm>
          <a:prstGeom prst="rect">
            <a:avLst/>
          </a:prstGeom>
          <a:solidFill>
            <a:srgbClr val="1A3A5C"/>
          </a:solidFill>
          <a:ln w="12700">
            <a:solidFill>
              <a:srgbClr val="1A3A5C"/>
            </a:solidFill>
            <a:prstDash val="solid"/>
          </a:ln>
        </p:spPr>
      </p:sp>
      <p:sp>
        <p:nvSpPr>
          <p:cNvPr id="7" name="Text 5"/>
          <p:cNvSpPr/>
          <p:nvPr/>
        </p:nvSpPr>
        <p:spPr>
          <a:xfrm>
            <a:off x="365760" y="850392"/>
            <a:ext cx="2606040" cy="329184"/>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Reliability</a:t>
            </a:r>
            <a:endParaRPr lang="en-US" sz="1250" dirty="0"/>
          </a:p>
        </p:txBody>
      </p:sp>
      <p:sp>
        <p:nvSpPr>
          <p:cNvPr id="8" name="Text 6"/>
          <p:cNvSpPr/>
          <p:nvPr/>
        </p:nvSpPr>
        <p:spPr>
          <a:xfrm>
            <a:off x="365760" y="1307592"/>
            <a:ext cx="2606040" cy="1325880"/>
          </a:xfrm>
          <a:prstGeom prst="rect">
            <a:avLst/>
          </a:prstGeom>
          <a:noFill/>
          <a:ln/>
        </p:spPr>
        <p:txBody>
          <a:bodyPr wrap="square" rtlCol="0" anchor="t"/>
          <a:lstStyle/>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≥90% accuracy in body joint detection</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≥85% accuracy in posture classification</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Error handling for poor quality videos</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Consistent results across different lighting conditions</a:t>
            </a:r>
            <a:endParaRPr lang="en-US" sz="1050" dirty="0"/>
          </a:p>
        </p:txBody>
      </p:sp>
      <p:sp>
        <p:nvSpPr>
          <p:cNvPr id="9" name="Shape 7"/>
          <p:cNvSpPr/>
          <p:nvPr/>
        </p:nvSpPr>
        <p:spPr>
          <a:xfrm>
            <a:off x="3172968" y="777240"/>
            <a:ext cx="2788920" cy="1920240"/>
          </a:xfrm>
          <a:prstGeom prst="rect">
            <a:avLst/>
          </a:prstGeom>
          <a:solidFill>
            <a:srgbClr val="F0F4F8"/>
          </a:solidFill>
          <a:ln w="12700">
            <a:solidFill>
              <a:srgbClr val="CBD5E0"/>
            </a:solidFill>
            <a:prstDash val="solid"/>
          </a:ln>
        </p:spPr>
      </p:sp>
      <p:sp>
        <p:nvSpPr>
          <p:cNvPr id="10" name="Shape 8"/>
          <p:cNvSpPr/>
          <p:nvPr/>
        </p:nvSpPr>
        <p:spPr>
          <a:xfrm>
            <a:off x="3172968" y="777240"/>
            <a:ext cx="2788920" cy="457200"/>
          </a:xfrm>
          <a:prstGeom prst="rect">
            <a:avLst/>
          </a:prstGeom>
          <a:solidFill>
            <a:srgbClr val="028090"/>
          </a:solidFill>
          <a:ln w="12700">
            <a:solidFill>
              <a:srgbClr val="028090"/>
            </a:solidFill>
            <a:prstDash val="solid"/>
          </a:ln>
        </p:spPr>
      </p:sp>
      <p:sp>
        <p:nvSpPr>
          <p:cNvPr id="11" name="Text 9"/>
          <p:cNvSpPr/>
          <p:nvPr/>
        </p:nvSpPr>
        <p:spPr>
          <a:xfrm>
            <a:off x="3264408" y="850392"/>
            <a:ext cx="2606040" cy="329184"/>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Performance</a:t>
            </a:r>
            <a:endParaRPr lang="en-US" sz="1250" dirty="0"/>
          </a:p>
        </p:txBody>
      </p:sp>
      <p:sp>
        <p:nvSpPr>
          <p:cNvPr id="12" name="Text 10"/>
          <p:cNvSpPr/>
          <p:nvPr/>
        </p:nvSpPr>
        <p:spPr>
          <a:xfrm>
            <a:off x="3264408" y="1307592"/>
            <a:ext cx="2606040" cy="1325880"/>
          </a:xfrm>
          <a:prstGeom prst="rect">
            <a:avLst/>
          </a:prstGeom>
          <a:noFill/>
          <a:ln/>
        </p:spPr>
        <p:txBody>
          <a:bodyPr wrap="square" rtlCol="0" anchor="t"/>
          <a:lstStyle/>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Support ≥50 concurrent users</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30 FPS video processing for smooth tracking</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Analysis results in &lt;1 second response time</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Efficient handling of large video files</a:t>
            </a:r>
            <a:endParaRPr lang="en-US" sz="1050" dirty="0"/>
          </a:p>
        </p:txBody>
      </p:sp>
      <p:sp>
        <p:nvSpPr>
          <p:cNvPr id="13" name="Shape 11"/>
          <p:cNvSpPr/>
          <p:nvPr/>
        </p:nvSpPr>
        <p:spPr>
          <a:xfrm>
            <a:off x="6071616" y="777240"/>
            <a:ext cx="2788920" cy="1920240"/>
          </a:xfrm>
          <a:prstGeom prst="rect">
            <a:avLst/>
          </a:prstGeom>
          <a:solidFill>
            <a:srgbClr val="F0F4F8"/>
          </a:solidFill>
          <a:ln w="12700">
            <a:solidFill>
              <a:srgbClr val="CBD5E0"/>
            </a:solidFill>
            <a:prstDash val="solid"/>
          </a:ln>
        </p:spPr>
      </p:sp>
      <p:sp>
        <p:nvSpPr>
          <p:cNvPr id="14" name="Shape 12"/>
          <p:cNvSpPr/>
          <p:nvPr/>
        </p:nvSpPr>
        <p:spPr>
          <a:xfrm>
            <a:off x="6071616" y="777240"/>
            <a:ext cx="2788920" cy="457200"/>
          </a:xfrm>
          <a:prstGeom prst="rect">
            <a:avLst/>
          </a:prstGeom>
          <a:solidFill>
            <a:srgbClr val="8E44AD"/>
          </a:solidFill>
          <a:ln w="12700">
            <a:solidFill>
              <a:srgbClr val="8E44AD"/>
            </a:solidFill>
            <a:prstDash val="solid"/>
          </a:ln>
        </p:spPr>
      </p:sp>
      <p:sp>
        <p:nvSpPr>
          <p:cNvPr id="15" name="Text 13"/>
          <p:cNvSpPr/>
          <p:nvPr/>
        </p:nvSpPr>
        <p:spPr>
          <a:xfrm>
            <a:off x="6163056" y="850392"/>
            <a:ext cx="2606040" cy="329184"/>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Security</a:t>
            </a:r>
            <a:endParaRPr lang="en-US" sz="1250" dirty="0"/>
          </a:p>
        </p:txBody>
      </p:sp>
      <p:sp>
        <p:nvSpPr>
          <p:cNvPr id="16" name="Text 14"/>
          <p:cNvSpPr/>
          <p:nvPr/>
        </p:nvSpPr>
        <p:spPr>
          <a:xfrm>
            <a:off x="6163056" y="1307592"/>
            <a:ext cx="2606040" cy="1325880"/>
          </a:xfrm>
          <a:prstGeom prst="rect">
            <a:avLst/>
          </a:prstGeom>
          <a:noFill/>
          <a:ln/>
        </p:spPr>
        <p:txBody>
          <a:bodyPr wrap="square" rtlCol="0" anchor="t"/>
          <a:lstStyle/>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Secure login with authentication</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Encrypted data storage</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User data privacy protection</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Session management &amp; access control</a:t>
            </a:r>
            <a:endParaRPr lang="en-US" sz="1050" dirty="0"/>
          </a:p>
        </p:txBody>
      </p:sp>
      <p:sp>
        <p:nvSpPr>
          <p:cNvPr id="17" name="Shape 15"/>
          <p:cNvSpPr/>
          <p:nvPr/>
        </p:nvSpPr>
        <p:spPr>
          <a:xfrm>
            <a:off x="274320" y="2807208"/>
            <a:ext cx="2788920" cy="1920240"/>
          </a:xfrm>
          <a:prstGeom prst="rect">
            <a:avLst/>
          </a:prstGeom>
          <a:solidFill>
            <a:srgbClr val="F0F4F8"/>
          </a:solidFill>
          <a:ln w="12700">
            <a:solidFill>
              <a:srgbClr val="CBD5E0"/>
            </a:solidFill>
            <a:prstDash val="solid"/>
          </a:ln>
        </p:spPr>
      </p:sp>
      <p:sp>
        <p:nvSpPr>
          <p:cNvPr id="18" name="Shape 16"/>
          <p:cNvSpPr/>
          <p:nvPr/>
        </p:nvSpPr>
        <p:spPr>
          <a:xfrm>
            <a:off x="274320" y="2807208"/>
            <a:ext cx="2788920" cy="457200"/>
          </a:xfrm>
          <a:prstGeom prst="rect">
            <a:avLst/>
          </a:prstGeom>
          <a:solidFill>
            <a:srgbClr val="27AE60"/>
          </a:solidFill>
          <a:ln w="12700">
            <a:solidFill>
              <a:srgbClr val="27AE60"/>
            </a:solidFill>
            <a:prstDash val="solid"/>
          </a:ln>
        </p:spPr>
      </p:sp>
      <p:sp>
        <p:nvSpPr>
          <p:cNvPr id="19" name="Text 17"/>
          <p:cNvSpPr/>
          <p:nvPr/>
        </p:nvSpPr>
        <p:spPr>
          <a:xfrm>
            <a:off x="365760" y="2880360"/>
            <a:ext cx="2606040" cy="329184"/>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Portability</a:t>
            </a:r>
            <a:endParaRPr lang="en-US" sz="1250" dirty="0"/>
          </a:p>
        </p:txBody>
      </p:sp>
      <p:sp>
        <p:nvSpPr>
          <p:cNvPr id="20" name="Text 18"/>
          <p:cNvSpPr/>
          <p:nvPr/>
        </p:nvSpPr>
        <p:spPr>
          <a:xfrm>
            <a:off x="365760" y="3337560"/>
            <a:ext cx="2606040" cy="1325880"/>
          </a:xfrm>
          <a:prstGeom prst="rect">
            <a:avLst/>
          </a:prstGeom>
          <a:noFill/>
          <a:ln/>
        </p:spPr>
        <p:txBody>
          <a:bodyPr wrap="square" rtlCol="0" anchor="t"/>
          <a:lstStyle/>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Cross-platform: Windows, Linux, macOS</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Multiple browser support</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Android mobile application</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Responsive interface for tablets</a:t>
            </a:r>
            <a:endParaRPr lang="en-US" sz="1050" dirty="0"/>
          </a:p>
        </p:txBody>
      </p:sp>
      <p:sp>
        <p:nvSpPr>
          <p:cNvPr id="21" name="Shape 19"/>
          <p:cNvSpPr/>
          <p:nvPr/>
        </p:nvSpPr>
        <p:spPr>
          <a:xfrm>
            <a:off x="3172968" y="2807208"/>
            <a:ext cx="2788920" cy="1920240"/>
          </a:xfrm>
          <a:prstGeom prst="rect">
            <a:avLst/>
          </a:prstGeom>
          <a:solidFill>
            <a:srgbClr val="F0F4F8"/>
          </a:solidFill>
          <a:ln w="12700">
            <a:solidFill>
              <a:srgbClr val="CBD5E0"/>
            </a:solidFill>
            <a:prstDash val="solid"/>
          </a:ln>
        </p:spPr>
      </p:sp>
      <p:sp>
        <p:nvSpPr>
          <p:cNvPr id="22" name="Shape 20"/>
          <p:cNvSpPr/>
          <p:nvPr/>
        </p:nvSpPr>
        <p:spPr>
          <a:xfrm>
            <a:off x="3172968" y="2807208"/>
            <a:ext cx="2788920" cy="457200"/>
          </a:xfrm>
          <a:prstGeom prst="rect">
            <a:avLst/>
          </a:prstGeom>
          <a:solidFill>
            <a:srgbClr val="F5A623"/>
          </a:solidFill>
          <a:ln w="12700">
            <a:solidFill>
              <a:srgbClr val="F5A623"/>
            </a:solidFill>
            <a:prstDash val="solid"/>
          </a:ln>
        </p:spPr>
      </p:sp>
      <p:sp>
        <p:nvSpPr>
          <p:cNvPr id="23" name="Text 21"/>
          <p:cNvSpPr/>
          <p:nvPr/>
        </p:nvSpPr>
        <p:spPr>
          <a:xfrm>
            <a:off x="3264408" y="2880360"/>
            <a:ext cx="2606040" cy="329184"/>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Maintainability</a:t>
            </a:r>
            <a:endParaRPr lang="en-US" sz="1250" dirty="0"/>
          </a:p>
        </p:txBody>
      </p:sp>
      <p:sp>
        <p:nvSpPr>
          <p:cNvPr id="24" name="Text 22"/>
          <p:cNvSpPr/>
          <p:nvPr/>
        </p:nvSpPr>
        <p:spPr>
          <a:xfrm>
            <a:off x="3264408" y="3337560"/>
            <a:ext cx="2606040" cy="1325880"/>
          </a:xfrm>
          <a:prstGeom prst="rect">
            <a:avLst/>
          </a:prstGeom>
          <a:noFill/>
          <a:ln/>
        </p:spPr>
        <p:txBody>
          <a:bodyPr wrap="square" rtlCol="0" anchor="t"/>
          <a:lstStyle/>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Modular system design for easy updates</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Well-documented codebase</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Bug tracking &amp; debugging support</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Version-controlled source code</a:t>
            </a:r>
            <a:endParaRPr lang="en-US" sz="1050" dirty="0"/>
          </a:p>
        </p:txBody>
      </p:sp>
      <p:sp>
        <p:nvSpPr>
          <p:cNvPr id="25" name="Shape 23"/>
          <p:cNvSpPr/>
          <p:nvPr/>
        </p:nvSpPr>
        <p:spPr>
          <a:xfrm>
            <a:off x="6071616" y="2807208"/>
            <a:ext cx="2788920" cy="1920240"/>
          </a:xfrm>
          <a:prstGeom prst="rect">
            <a:avLst/>
          </a:prstGeom>
          <a:solidFill>
            <a:srgbClr val="F0F4F8"/>
          </a:solidFill>
          <a:ln w="12700">
            <a:solidFill>
              <a:srgbClr val="CBD5E0"/>
            </a:solidFill>
            <a:prstDash val="solid"/>
          </a:ln>
        </p:spPr>
      </p:sp>
      <p:sp>
        <p:nvSpPr>
          <p:cNvPr id="26" name="Shape 24"/>
          <p:cNvSpPr/>
          <p:nvPr/>
        </p:nvSpPr>
        <p:spPr>
          <a:xfrm>
            <a:off x="6071616" y="2807208"/>
            <a:ext cx="2788920" cy="457200"/>
          </a:xfrm>
          <a:prstGeom prst="rect">
            <a:avLst/>
          </a:prstGeom>
          <a:solidFill>
            <a:srgbClr val="E74C3C"/>
          </a:solidFill>
          <a:ln w="12700">
            <a:solidFill>
              <a:srgbClr val="E74C3C"/>
            </a:solidFill>
            <a:prstDash val="solid"/>
          </a:ln>
        </p:spPr>
      </p:sp>
      <p:sp>
        <p:nvSpPr>
          <p:cNvPr id="27" name="Text 25"/>
          <p:cNvSpPr/>
          <p:nvPr/>
        </p:nvSpPr>
        <p:spPr>
          <a:xfrm>
            <a:off x="6163056" y="2880360"/>
            <a:ext cx="2606040" cy="329184"/>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  Availability</a:t>
            </a:r>
            <a:endParaRPr lang="en-US" sz="1250" dirty="0"/>
          </a:p>
        </p:txBody>
      </p:sp>
      <p:sp>
        <p:nvSpPr>
          <p:cNvPr id="28" name="Text 26"/>
          <p:cNvSpPr/>
          <p:nvPr/>
        </p:nvSpPr>
        <p:spPr>
          <a:xfrm>
            <a:off x="6163056" y="3337560"/>
            <a:ext cx="2606040" cy="1325880"/>
          </a:xfrm>
          <a:prstGeom prst="rect">
            <a:avLst/>
          </a:prstGeom>
          <a:noFill/>
          <a:ln/>
        </p:spPr>
        <p:txBody>
          <a:bodyPr wrap="square" rtlCol="0" anchor="t"/>
          <a:lstStyle/>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24/7 online accessibility</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Minimal downtime with cloud hosting</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Auto-recovery from failure states</a:t>
            </a:r>
            <a:endParaRPr lang="en-US" sz="1050" dirty="0"/>
          </a:p>
          <a:p>
            <a:pPr marL="342900" indent="-342900">
              <a:spcAft>
                <a:spcPts val="300"/>
              </a:spcAft>
              <a:buSzPct val="100000"/>
              <a:buChar char="•"/>
            </a:pPr>
            <a:r>
              <a:rPr lang="en-US" sz="1050" dirty="0">
                <a:solidFill>
                  <a:srgbClr val="1A2E40"/>
                </a:solidFill>
                <a:latin typeface="Calibri" pitchFamily="34" charset="0"/>
                <a:ea typeface="Calibri" pitchFamily="34" charset="-122"/>
                <a:cs typeface="Calibri" pitchFamily="34" charset="-120"/>
              </a:rPr>
              <a:t>Regular backup of user data</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Performance Requirements</a:t>
            </a:r>
            <a:endParaRPr lang="en-US" sz="2200" dirty="0"/>
          </a:p>
        </p:txBody>
      </p:sp>
      <p:sp>
        <p:nvSpPr>
          <p:cNvPr id="5" name="Shape 3"/>
          <p:cNvSpPr/>
          <p:nvPr/>
        </p:nvSpPr>
        <p:spPr>
          <a:xfrm>
            <a:off x="365760" y="777240"/>
            <a:ext cx="1920240" cy="1691640"/>
          </a:xfrm>
          <a:prstGeom prst="rect">
            <a:avLst/>
          </a:prstGeom>
          <a:solidFill>
            <a:srgbClr val="028090"/>
          </a:solidFill>
          <a:ln w="12700">
            <a:solidFill>
              <a:srgbClr val="028090"/>
            </a:solidFill>
            <a:prstDash val="solid"/>
          </a:ln>
          <a:effectLst>
            <a:outerShdw blurRad="76200" dist="25400" dir="8100000" algn="bl" rotWithShape="0">
              <a:srgbClr val="000000">
                <a:alpha val="15000"/>
              </a:srgbClr>
            </a:outerShdw>
          </a:effectLst>
        </p:spPr>
      </p:sp>
      <p:sp>
        <p:nvSpPr>
          <p:cNvPr id="6" name="Text 4"/>
          <p:cNvSpPr/>
          <p:nvPr/>
        </p:nvSpPr>
        <p:spPr>
          <a:xfrm>
            <a:off x="365760" y="868680"/>
            <a:ext cx="1920240" cy="777240"/>
          </a:xfrm>
          <a:prstGeom prst="rect">
            <a:avLst/>
          </a:prstGeom>
          <a:noFill/>
          <a:ln/>
        </p:spPr>
        <p:txBody>
          <a:bodyPr wrap="square" lIns="0" tIns="0" rIns="0" bIns="0"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30</a:t>
            </a:r>
            <a:endParaRPr lang="en-US" sz="4200" dirty="0"/>
          </a:p>
        </p:txBody>
      </p:sp>
      <p:sp>
        <p:nvSpPr>
          <p:cNvPr id="7" name="Text 5"/>
          <p:cNvSpPr/>
          <p:nvPr/>
        </p:nvSpPr>
        <p:spPr>
          <a:xfrm>
            <a:off x="365760" y="1627632"/>
            <a:ext cx="1920240" cy="274320"/>
          </a:xfrm>
          <a:prstGeom prst="rect">
            <a:avLst/>
          </a:prstGeom>
          <a:noFill/>
          <a:ln/>
        </p:spPr>
        <p:txBody>
          <a:bodyPr wrap="square" lIns="0" tIns="0" rIns="0" bIns="0" rtlCol="0" anchor="ctr"/>
          <a:lstStyle/>
          <a:p>
            <a:pPr marL="0" indent="0" algn="ctr">
              <a:buNone/>
            </a:pPr>
            <a:r>
              <a:rPr lang="en-US" sz="1400" b="1" dirty="0">
                <a:solidFill>
                  <a:srgbClr val="000000"/>
                </a:solidFill>
                <a:latin typeface="Calibri" pitchFamily="34" charset="0"/>
                <a:ea typeface="Calibri" pitchFamily="34" charset="-122"/>
                <a:cs typeface="Calibri" pitchFamily="34" charset="-120"/>
              </a:rPr>
              <a:t>FPS</a:t>
            </a:r>
            <a:endParaRPr lang="en-US" sz="1400" dirty="0"/>
          </a:p>
        </p:txBody>
      </p:sp>
      <p:sp>
        <p:nvSpPr>
          <p:cNvPr id="8" name="Text 6"/>
          <p:cNvSpPr/>
          <p:nvPr/>
        </p:nvSpPr>
        <p:spPr>
          <a:xfrm>
            <a:off x="365760" y="1947672"/>
            <a:ext cx="1920240" cy="384048"/>
          </a:xfrm>
          <a:prstGeom prst="rect">
            <a:avLst/>
          </a:prstGeom>
          <a:noFill/>
          <a:ln/>
        </p:spPr>
        <p:txBody>
          <a:bodyPr wrap="square" rtlCol="0" anchor="ctr"/>
          <a:lstStyle/>
          <a:p>
            <a:pPr marL="0" indent="0" algn="ctr">
              <a:buNone/>
            </a:pPr>
            <a:r>
              <a:rPr lang="en-US" sz="1100" dirty="0">
                <a:solidFill>
                  <a:srgbClr val="1A2E40"/>
                </a:solidFill>
                <a:latin typeface="Calibri" pitchFamily="34" charset="0"/>
                <a:ea typeface="Calibri" pitchFamily="34" charset="-122"/>
                <a:cs typeface="Calibri" pitchFamily="34" charset="-120"/>
              </a:rPr>
              <a:t>Video Processing Speed</a:t>
            </a:r>
            <a:endParaRPr lang="en-US" sz="1100" dirty="0"/>
          </a:p>
        </p:txBody>
      </p:sp>
      <p:sp>
        <p:nvSpPr>
          <p:cNvPr id="9" name="Shape 7"/>
          <p:cNvSpPr/>
          <p:nvPr/>
        </p:nvSpPr>
        <p:spPr>
          <a:xfrm>
            <a:off x="2468880" y="777240"/>
            <a:ext cx="1920240" cy="1691640"/>
          </a:xfrm>
          <a:prstGeom prst="rect">
            <a:avLst/>
          </a:prstGeom>
          <a:solidFill>
            <a:srgbClr val="1A3A5C"/>
          </a:solidFill>
          <a:ln w="12700">
            <a:solidFill>
              <a:srgbClr val="1A3A5C"/>
            </a:solidFill>
            <a:prstDash val="solid"/>
          </a:ln>
          <a:effectLst>
            <a:outerShdw blurRad="76200" dist="25400" dir="8100000" algn="bl" rotWithShape="0">
              <a:srgbClr val="000000">
                <a:alpha val="15000"/>
              </a:srgbClr>
            </a:outerShdw>
          </a:effectLst>
        </p:spPr>
      </p:sp>
      <p:sp>
        <p:nvSpPr>
          <p:cNvPr id="10" name="Text 8"/>
          <p:cNvSpPr/>
          <p:nvPr/>
        </p:nvSpPr>
        <p:spPr>
          <a:xfrm>
            <a:off x="2468880" y="868680"/>
            <a:ext cx="1920240" cy="777240"/>
          </a:xfrm>
          <a:prstGeom prst="rect">
            <a:avLst/>
          </a:prstGeom>
          <a:noFill/>
          <a:ln/>
        </p:spPr>
        <p:txBody>
          <a:bodyPr wrap="square" lIns="0" tIns="0" rIns="0" bIns="0"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50+</a:t>
            </a:r>
            <a:endParaRPr lang="en-US" sz="4200" dirty="0"/>
          </a:p>
        </p:txBody>
      </p:sp>
      <p:sp>
        <p:nvSpPr>
          <p:cNvPr id="11" name="Text 9"/>
          <p:cNvSpPr/>
          <p:nvPr/>
        </p:nvSpPr>
        <p:spPr>
          <a:xfrm>
            <a:off x="2468880" y="1627632"/>
            <a:ext cx="1920240" cy="274320"/>
          </a:xfrm>
          <a:prstGeom prst="rect">
            <a:avLst/>
          </a:prstGeom>
          <a:noFill/>
          <a:ln/>
        </p:spPr>
        <p:txBody>
          <a:bodyPr wrap="square" lIns="0" tIns="0" rIns="0" bIns="0" rtlCol="0" anchor="ctr"/>
          <a:lstStyle/>
          <a:p>
            <a:pPr marL="0" indent="0" algn="ctr">
              <a:buNone/>
            </a:pPr>
            <a:r>
              <a:rPr lang="en-US" sz="1400" b="1" dirty="0">
                <a:solidFill>
                  <a:srgbClr val="000000"/>
                </a:solidFill>
                <a:latin typeface="Calibri" pitchFamily="34" charset="0"/>
                <a:ea typeface="Calibri" pitchFamily="34" charset="-122"/>
                <a:cs typeface="Calibri" pitchFamily="34" charset="-120"/>
              </a:rPr>
              <a:t>Users</a:t>
            </a:r>
            <a:endParaRPr lang="en-US" sz="1400" dirty="0"/>
          </a:p>
        </p:txBody>
      </p:sp>
      <p:sp>
        <p:nvSpPr>
          <p:cNvPr id="12" name="Text 10"/>
          <p:cNvSpPr/>
          <p:nvPr/>
        </p:nvSpPr>
        <p:spPr>
          <a:xfrm>
            <a:off x="2468880" y="1947672"/>
            <a:ext cx="1920240" cy="384048"/>
          </a:xfrm>
          <a:prstGeom prst="rect">
            <a:avLst/>
          </a:prstGeom>
          <a:noFill/>
          <a:ln/>
        </p:spPr>
        <p:txBody>
          <a:bodyPr wrap="square" rtlCol="0" anchor="ctr"/>
          <a:lstStyle/>
          <a:p>
            <a:pPr marL="0" indent="0" algn="ctr">
              <a:buNone/>
            </a:pPr>
            <a:r>
              <a:rPr lang="en-US" sz="1100" dirty="0">
                <a:solidFill>
                  <a:srgbClr val="1A2E40"/>
                </a:solidFill>
                <a:latin typeface="Calibri" pitchFamily="34" charset="0"/>
                <a:ea typeface="Calibri" pitchFamily="34" charset="-122"/>
                <a:cs typeface="Calibri" pitchFamily="34" charset="-120"/>
              </a:rPr>
              <a:t>Concurrent Users Supported</a:t>
            </a:r>
            <a:endParaRPr lang="en-US" sz="1100" dirty="0"/>
          </a:p>
        </p:txBody>
      </p:sp>
      <p:sp>
        <p:nvSpPr>
          <p:cNvPr id="13" name="Shape 11"/>
          <p:cNvSpPr/>
          <p:nvPr/>
        </p:nvSpPr>
        <p:spPr>
          <a:xfrm>
            <a:off x="4572000" y="777240"/>
            <a:ext cx="1920240" cy="1691640"/>
          </a:xfrm>
          <a:prstGeom prst="rect">
            <a:avLst/>
          </a:prstGeom>
          <a:solidFill>
            <a:srgbClr val="6C3483"/>
          </a:solidFill>
          <a:ln w="12700">
            <a:solidFill>
              <a:srgbClr val="6C3483"/>
            </a:solidFill>
            <a:prstDash val="solid"/>
          </a:ln>
          <a:effectLst>
            <a:outerShdw blurRad="76200" dist="25400" dir="8100000" algn="bl" rotWithShape="0">
              <a:srgbClr val="000000">
                <a:alpha val="15000"/>
              </a:srgbClr>
            </a:outerShdw>
          </a:effectLst>
        </p:spPr>
      </p:sp>
      <p:sp>
        <p:nvSpPr>
          <p:cNvPr id="14" name="Text 12"/>
          <p:cNvSpPr/>
          <p:nvPr/>
        </p:nvSpPr>
        <p:spPr>
          <a:xfrm>
            <a:off x="4572000" y="868680"/>
            <a:ext cx="1920240" cy="777240"/>
          </a:xfrm>
          <a:prstGeom prst="rect">
            <a:avLst/>
          </a:prstGeom>
          <a:noFill/>
          <a:ln/>
        </p:spPr>
        <p:txBody>
          <a:bodyPr wrap="square" lIns="0" tIns="0" rIns="0" bIns="0"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&lt;1s</a:t>
            </a:r>
            <a:endParaRPr lang="en-US" sz="4200" dirty="0"/>
          </a:p>
        </p:txBody>
      </p:sp>
      <p:sp>
        <p:nvSpPr>
          <p:cNvPr id="15" name="Text 13"/>
          <p:cNvSpPr/>
          <p:nvPr/>
        </p:nvSpPr>
        <p:spPr>
          <a:xfrm>
            <a:off x="4572000" y="1627632"/>
            <a:ext cx="1920240" cy="274320"/>
          </a:xfrm>
          <a:prstGeom prst="rect">
            <a:avLst/>
          </a:prstGeom>
          <a:noFill/>
          <a:ln/>
        </p:spPr>
        <p:txBody>
          <a:bodyPr wrap="square" lIns="0" tIns="0" rIns="0" bIns="0" rtlCol="0" anchor="ctr"/>
          <a:lstStyle/>
          <a:p>
            <a:pPr marL="0" indent="0" algn="ctr">
              <a:buNone/>
            </a:pPr>
            <a:r>
              <a:rPr lang="en-US" sz="1400" b="1" dirty="0">
                <a:solidFill>
                  <a:srgbClr val="000000"/>
                </a:solidFill>
                <a:latin typeface="Calibri" pitchFamily="34" charset="0"/>
                <a:ea typeface="Calibri" pitchFamily="34" charset="-122"/>
                <a:cs typeface="Calibri" pitchFamily="34" charset="-120"/>
              </a:rPr>
              <a:t>Latency</a:t>
            </a:r>
            <a:endParaRPr lang="en-US" sz="1400" dirty="0"/>
          </a:p>
        </p:txBody>
      </p:sp>
      <p:sp>
        <p:nvSpPr>
          <p:cNvPr id="16" name="Text 14"/>
          <p:cNvSpPr/>
          <p:nvPr/>
        </p:nvSpPr>
        <p:spPr>
          <a:xfrm>
            <a:off x="4572000" y="1947672"/>
            <a:ext cx="1920240" cy="384048"/>
          </a:xfrm>
          <a:prstGeom prst="rect">
            <a:avLst/>
          </a:prstGeom>
          <a:noFill/>
          <a:ln/>
        </p:spPr>
        <p:txBody>
          <a:bodyPr wrap="square" rtlCol="0" anchor="ctr"/>
          <a:lstStyle/>
          <a:p>
            <a:pPr marL="0" indent="0" algn="ctr">
              <a:buNone/>
            </a:pPr>
            <a:r>
              <a:rPr lang="en-US" sz="1100" dirty="0">
                <a:solidFill>
                  <a:srgbClr val="1A2E40"/>
                </a:solidFill>
                <a:latin typeface="Calibri" pitchFamily="34" charset="0"/>
                <a:ea typeface="Calibri" pitchFamily="34" charset="-122"/>
                <a:cs typeface="Calibri" pitchFamily="34" charset="-120"/>
              </a:rPr>
              <a:t>Analysis Response Time</a:t>
            </a:r>
            <a:endParaRPr lang="en-US" sz="1100" dirty="0"/>
          </a:p>
        </p:txBody>
      </p:sp>
      <p:sp>
        <p:nvSpPr>
          <p:cNvPr id="17" name="Shape 15"/>
          <p:cNvSpPr/>
          <p:nvPr/>
        </p:nvSpPr>
        <p:spPr>
          <a:xfrm>
            <a:off x="6675120" y="777240"/>
            <a:ext cx="1920240" cy="1691640"/>
          </a:xfrm>
          <a:prstGeom prst="rect">
            <a:avLst/>
          </a:prstGeom>
          <a:solidFill>
            <a:srgbClr val="27AE60"/>
          </a:solidFill>
          <a:ln w="12700">
            <a:solidFill>
              <a:srgbClr val="27AE60"/>
            </a:solidFill>
            <a:prstDash val="solid"/>
          </a:ln>
          <a:effectLst>
            <a:outerShdw blurRad="76200" dist="25400" dir="8100000" algn="bl" rotWithShape="0">
              <a:srgbClr val="000000">
                <a:alpha val="15000"/>
              </a:srgbClr>
            </a:outerShdw>
          </a:effectLst>
        </p:spPr>
      </p:sp>
      <p:sp>
        <p:nvSpPr>
          <p:cNvPr id="18" name="Text 16"/>
          <p:cNvSpPr/>
          <p:nvPr/>
        </p:nvSpPr>
        <p:spPr>
          <a:xfrm>
            <a:off x="6675120" y="868680"/>
            <a:ext cx="1920240" cy="777240"/>
          </a:xfrm>
          <a:prstGeom prst="rect">
            <a:avLst/>
          </a:prstGeom>
          <a:noFill/>
          <a:ln/>
        </p:spPr>
        <p:txBody>
          <a:bodyPr wrap="square" lIns="0" tIns="0" rIns="0" bIns="0"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90%</a:t>
            </a:r>
            <a:endParaRPr lang="en-US" sz="4200" dirty="0"/>
          </a:p>
        </p:txBody>
      </p:sp>
      <p:sp>
        <p:nvSpPr>
          <p:cNvPr id="19" name="Text 17"/>
          <p:cNvSpPr/>
          <p:nvPr/>
        </p:nvSpPr>
        <p:spPr>
          <a:xfrm>
            <a:off x="6675120" y="1627632"/>
            <a:ext cx="1920240" cy="274320"/>
          </a:xfrm>
          <a:prstGeom prst="rect">
            <a:avLst/>
          </a:prstGeom>
          <a:noFill/>
          <a:ln/>
        </p:spPr>
        <p:txBody>
          <a:bodyPr wrap="square" lIns="0" tIns="0" rIns="0" bIns="0" rtlCol="0" anchor="ctr"/>
          <a:lstStyle/>
          <a:p>
            <a:pPr marL="0" indent="0" algn="ctr">
              <a:buNone/>
            </a:pPr>
            <a:r>
              <a:rPr lang="en-US" sz="1400" b="1" dirty="0">
                <a:solidFill>
                  <a:srgbClr val="000000"/>
                </a:solidFill>
                <a:latin typeface="Calibri" pitchFamily="34" charset="0"/>
                <a:ea typeface="Calibri" pitchFamily="34" charset="-122"/>
                <a:cs typeface="Calibri" pitchFamily="34" charset="-120"/>
              </a:rPr>
              <a:t>Accuracy</a:t>
            </a:r>
            <a:endParaRPr lang="en-US" sz="1400" dirty="0"/>
          </a:p>
        </p:txBody>
      </p:sp>
      <p:sp>
        <p:nvSpPr>
          <p:cNvPr id="20" name="Text 18"/>
          <p:cNvSpPr/>
          <p:nvPr/>
        </p:nvSpPr>
        <p:spPr>
          <a:xfrm>
            <a:off x="6675120" y="1947672"/>
            <a:ext cx="1920240" cy="384048"/>
          </a:xfrm>
          <a:prstGeom prst="rect">
            <a:avLst/>
          </a:prstGeom>
          <a:noFill/>
          <a:ln/>
        </p:spPr>
        <p:txBody>
          <a:bodyPr wrap="square" rtlCol="0" anchor="ctr"/>
          <a:lstStyle/>
          <a:p>
            <a:pPr marL="0" indent="0" algn="ctr">
              <a:buNone/>
            </a:pPr>
            <a:r>
              <a:rPr lang="en-US" sz="1100" dirty="0">
                <a:solidFill>
                  <a:srgbClr val="1A2E40"/>
                </a:solidFill>
                <a:latin typeface="Calibri" pitchFamily="34" charset="0"/>
                <a:ea typeface="Calibri" pitchFamily="34" charset="-122"/>
                <a:cs typeface="Calibri" pitchFamily="34" charset="-120"/>
              </a:rPr>
              <a:t>Joint Detection Accuracy</a:t>
            </a:r>
            <a:endParaRPr lang="en-US" sz="1100" dirty="0"/>
          </a:p>
        </p:txBody>
      </p:sp>
      <p:sp>
        <p:nvSpPr>
          <p:cNvPr id="21" name="Shape 19"/>
          <p:cNvSpPr/>
          <p:nvPr/>
        </p:nvSpPr>
        <p:spPr>
          <a:xfrm>
            <a:off x="365760" y="2468880"/>
            <a:ext cx="8412480" cy="0"/>
          </a:xfrm>
          <a:prstGeom prst="line">
            <a:avLst/>
          </a:prstGeom>
          <a:noFill/>
          <a:ln w="12700">
            <a:solidFill>
              <a:srgbClr val="D0DCE8"/>
            </a:solidFill>
            <a:prstDash val="solid"/>
          </a:ln>
        </p:spPr>
      </p:sp>
      <p:sp>
        <p:nvSpPr>
          <p:cNvPr id="22" name="Text 20"/>
          <p:cNvSpPr/>
          <p:nvPr/>
        </p:nvSpPr>
        <p:spPr>
          <a:xfrm>
            <a:off x="365760" y="2560320"/>
            <a:ext cx="8412480" cy="320040"/>
          </a:xfrm>
          <a:prstGeom prst="rect">
            <a:avLst/>
          </a:prstGeom>
          <a:noFill/>
          <a:ln/>
        </p:spPr>
        <p:txBody>
          <a:bodyPr wrap="square" rtlCol="0" anchor="ctr"/>
          <a:lstStyle/>
          <a:p>
            <a:pPr marL="0" indent="0">
              <a:buNone/>
            </a:pPr>
            <a:r>
              <a:rPr lang="en-US" sz="1400" b="1" dirty="0">
                <a:solidFill>
                  <a:srgbClr val="1A3A5C"/>
                </a:solidFill>
                <a:latin typeface="Calibri" pitchFamily="34" charset="0"/>
                <a:ea typeface="Calibri" pitchFamily="34" charset="-122"/>
                <a:cs typeface="Calibri" pitchFamily="34" charset="-120"/>
              </a:rPr>
              <a:t>Additional Performance Specifications</a:t>
            </a:r>
            <a:endParaRPr lang="en-US" sz="1400" dirty="0"/>
          </a:p>
        </p:txBody>
      </p:sp>
      <p:sp>
        <p:nvSpPr>
          <p:cNvPr id="23" name="Shape 21"/>
          <p:cNvSpPr/>
          <p:nvPr/>
        </p:nvSpPr>
        <p:spPr>
          <a:xfrm>
            <a:off x="365760" y="2944368"/>
            <a:ext cx="8412480" cy="420624"/>
          </a:xfrm>
          <a:prstGeom prst="rect">
            <a:avLst/>
          </a:prstGeom>
          <a:solidFill>
            <a:srgbClr val="F0F4F8"/>
          </a:solidFill>
          <a:ln w="12700">
            <a:solidFill>
              <a:srgbClr val="CBD5E0"/>
            </a:solidFill>
            <a:prstDash val="solid"/>
          </a:ln>
        </p:spPr>
      </p:sp>
      <p:sp>
        <p:nvSpPr>
          <p:cNvPr id="24" name="Text 22"/>
          <p:cNvSpPr/>
          <p:nvPr/>
        </p:nvSpPr>
        <p:spPr>
          <a:xfrm>
            <a:off x="438912" y="3035808"/>
            <a:ext cx="274320" cy="256032"/>
          </a:xfrm>
          <a:prstGeom prst="rect">
            <a:avLst/>
          </a:prstGeom>
          <a:noFill/>
          <a:ln/>
        </p:spPr>
        <p:txBody>
          <a:bodyPr wrap="square" rtlCol="0" anchor="ctr"/>
          <a:lstStyle/>
          <a:p>
            <a:pPr marL="0" indent="0">
              <a:buNone/>
            </a:pPr>
            <a:r>
              <a:rPr lang="en-US" sz="1000" dirty="0">
                <a:solidFill>
                  <a:srgbClr val="028090"/>
                </a:solidFill>
                <a:latin typeface="Calibri" pitchFamily="34" charset="0"/>
                <a:ea typeface="Calibri" pitchFamily="34" charset="-122"/>
                <a:cs typeface="Calibri" pitchFamily="34" charset="-120"/>
              </a:rPr>
              <a:t>◆</a:t>
            </a:r>
            <a:endParaRPr lang="en-US" sz="1000" dirty="0"/>
          </a:p>
        </p:txBody>
      </p:sp>
      <p:sp>
        <p:nvSpPr>
          <p:cNvPr id="25" name="Text 23"/>
          <p:cNvSpPr/>
          <p:nvPr/>
        </p:nvSpPr>
        <p:spPr>
          <a:xfrm>
            <a:off x="658368" y="3008376"/>
            <a:ext cx="2011680" cy="292608"/>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GPU Acceleration:</a:t>
            </a:r>
            <a:endParaRPr lang="en-US" sz="1200" dirty="0"/>
          </a:p>
        </p:txBody>
      </p:sp>
      <p:sp>
        <p:nvSpPr>
          <p:cNvPr id="26" name="Text 24"/>
          <p:cNvSpPr/>
          <p:nvPr/>
        </p:nvSpPr>
        <p:spPr>
          <a:xfrm>
            <a:off x="2697480" y="3008376"/>
            <a:ext cx="5943600" cy="292608"/>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Optional GPU hardware integration for faster computation and intensive video analysis</a:t>
            </a:r>
            <a:endParaRPr lang="en-US" sz="1150" dirty="0"/>
          </a:p>
        </p:txBody>
      </p:sp>
      <p:sp>
        <p:nvSpPr>
          <p:cNvPr id="27" name="Shape 25"/>
          <p:cNvSpPr/>
          <p:nvPr/>
        </p:nvSpPr>
        <p:spPr>
          <a:xfrm>
            <a:off x="365760" y="3429000"/>
            <a:ext cx="8412480" cy="420624"/>
          </a:xfrm>
          <a:prstGeom prst="rect">
            <a:avLst/>
          </a:prstGeom>
          <a:solidFill>
            <a:srgbClr val="EBF5FB"/>
          </a:solidFill>
          <a:ln w="12700">
            <a:solidFill>
              <a:srgbClr val="CBD5E0"/>
            </a:solidFill>
            <a:prstDash val="solid"/>
          </a:ln>
        </p:spPr>
      </p:sp>
      <p:sp>
        <p:nvSpPr>
          <p:cNvPr id="28" name="Text 26"/>
          <p:cNvSpPr/>
          <p:nvPr/>
        </p:nvSpPr>
        <p:spPr>
          <a:xfrm>
            <a:off x="438912" y="3520440"/>
            <a:ext cx="274320" cy="256032"/>
          </a:xfrm>
          <a:prstGeom prst="rect">
            <a:avLst/>
          </a:prstGeom>
          <a:noFill/>
          <a:ln/>
        </p:spPr>
        <p:txBody>
          <a:bodyPr wrap="square" rtlCol="0" anchor="ctr"/>
          <a:lstStyle/>
          <a:p>
            <a:pPr marL="0" indent="0">
              <a:buNone/>
            </a:pPr>
            <a:r>
              <a:rPr lang="en-US" sz="1000" dirty="0">
                <a:solidFill>
                  <a:srgbClr val="028090"/>
                </a:solidFill>
                <a:latin typeface="Calibri" pitchFamily="34" charset="0"/>
                <a:ea typeface="Calibri" pitchFamily="34" charset="-122"/>
                <a:cs typeface="Calibri" pitchFamily="34" charset="-120"/>
              </a:rPr>
              <a:t>◆</a:t>
            </a:r>
            <a:endParaRPr lang="en-US" sz="1000" dirty="0"/>
          </a:p>
        </p:txBody>
      </p:sp>
      <p:sp>
        <p:nvSpPr>
          <p:cNvPr id="29" name="Text 27"/>
          <p:cNvSpPr/>
          <p:nvPr/>
        </p:nvSpPr>
        <p:spPr>
          <a:xfrm>
            <a:off x="658368" y="3493008"/>
            <a:ext cx="2011680" cy="292608"/>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Video File Support:</a:t>
            </a:r>
            <a:endParaRPr lang="en-US" sz="1200" dirty="0"/>
          </a:p>
        </p:txBody>
      </p:sp>
      <p:sp>
        <p:nvSpPr>
          <p:cNvPr id="30" name="Text 28"/>
          <p:cNvSpPr/>
          <p:nvPr/>
        </p:nvSpPr>
        <p:spPr>
          <a:xfrm>
            <a:off x="2697480" y="3493008"/>
            <a:ext cx="5943600" cy="292608"/>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Efficient processing of large video files (up to 1GB) without significant delays</a:t>
            </a:r>
            <a:endParaRPr lang="en-US" sz="1150" dirty="0"/>
          </a:p>
        </p:txBody>
      </p:sp>
      <p:sp>
        <p:nvSpPr>
          <p:cNvPr id="31" name="Shape 29"/>
          <p:cNvSpPr/>
          <p:nvPr/>
        </p:nvSpPr>
        <p:spPr>
          <a:xfrm>
            <a:off x="365760" y="3913632"/>
            <a:ext cx="8412480" cy="420624"/>
          </a:xfrm>
          <a:prstGeom prst="rect">
            <a:avLst/>
          </a:prstGeom>
          <a:solidFill>
            <a:srgbClr val="F0F4F8"/>
          </a:solidFill>
          <a:ln w="12700">
            <a:solidFill>
              <a:srgbClr val="CBD5E0"/>
            </a:solidFill>
            <a:prstDash val="solid"/>
          </a:ln>
        </p:spPr>
      </p:sp>
      <p:sp>
        <p:nvSpPr>
          <p:cNvPr id="32" name="Text 30"/>
          <p:cNvSpPr/>
          <p:nvPr/>
        </p:nvSpPr>
        <p:spPr>
          <a:xfrm>
            <a:off x="438912" y="4005072"/>
            <a:ext cx="274320" cy="256032"/>
          </a:xfrm>
          <a:prstGeom prst="rect">
            <a:avLst/>
          </a:prstGeom>
          <a:noFill/>
          <a:ln/>
        </p:spPr>
        <p:txBody>
          <a:bodyPr wrap="square" rtlCol="0" anchor="ctr"/>
          <a:lstStyle/>
          <a:p>
            <a:pPr marL="0" indent="0">
              <a:buNone/>
            </a:pPr>
            <a:r>
              <a:rPr lang="en-US" sz="1000" dirty="0">
                <a:solidFill>
                  <a:srgbClr val="028090"/>
                </a:solidFill>
                <a:latin typeface="Calibri" pitchFamily="34" charset="0"/>
                <a:ea typeface="Calibri" pitchFamily="34" charset="-122"/>
                <a:cs typeface="Calibri" pitchFamily="34" charset="-120"/>
              </a:rPr>
              <a:t>◆</a:t>
            </a:r>
            <a:endParaRPr lang="en-US" sz="1000" dirty="0"/>
          </a:p>
        </p:txBody>
      </p:sp>
      <p:sp>
        <p:nvSpPr>
          <p:cNvPr id="33" name="Text 31"/>
          <p:cNvSpPr/>
          <p:nvPr/>
        </p:nvSpPr>
        <p:spPr>
          <a:xfrm>
            <a:off x="658368" y="3977640"/>
            <a:ext cx="2011680" cy="292608"/>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Scalability:</a:t>
            </a:r>
            <a:endParaRPr lang="en-US" sz="1200" dirty="0"/>
          </a:p>
        </p:txBody>
      </p:sp>
      <p:sp>
        <p:nvSpPr>
          <p:cNvPr id="34" name="Text 32"/>
          <p:cNvSpPr/>
          <p:nvPr/>
        </p:nvSpPr>
        <p:spPr>
          <a:xfrm>
            <a:off x="2697480" y="3977640"/>
            <a:ext cx="5943600" cy="292608"/>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Horizontal scaling support via cloud infrastructure to handle peak usage loads</a:t>
            </a:r>
            <a:endParaRPr lang="en-US" sz="1150" dirty="0"/>
          </a:p>
        </p:txBody>
      </p:sp>
      <p:sp>
        <p:nvSpPr>
          <p:cNvPr id="35" name="Shape 33"/>
          <p:cNvSpPr/>
          <p:nvPr/>
        </p:nvSpPr>
        <p:spPr>
          <a:xfrm>
            <a:off x="365760" y="4398264"/>
            <a:ext cx="8412480" cy="420624"/>
          </a:xfrm>
          <a:prstGeom prst="rect">
            <a:avLst/>
          </a:prstGeom>
          <a:solidFill>
            <a:srgbClr val="EBF5FB"/>
          </a:solidFill>
          <a:ln w="12700">
            <a:solidFill>
              <a:srgbClr val="CBD5E0"/>
            </a:solidFill>
            <a:prstDash val="solid"/>
          </a:ln>
        </p:spPr>
      </p:sp>
      <p:sp>
        <p:nvSpPr>
          <p:cNvPr id="36" name="Text 34"/>
          <p:cNvSpPr/>
          <p:nvPr/>
        </p:nvSpPr>
        <p:spPr>
          <a:xfrm>
            <a:off x="438912" y="4489704"/>
            <a:ext cx="274320" cy="256032"/>
          </a:xfrm>
          <a:prstGeom prst="rect">
            <a:avLst/>
          </a:prstGeom>
          <a:noFill/>
          <a:ln/>
        </p:spPr>
        <p:txBody>
          <a:bodyPr wrap="square" rtlCol="0" anchor="ctr"/>
          <a:lstStyle/>
          <a:p>
            <a:pPr marL="0" indent="0">
              <a:buNone/>
            </a:pPr>
            <a:r>
              <a:rPr lang="en-US" sz="1000" dirty="0">
                <a:solidFill>
                  <a:srgbClr val="028090"/>
                </a:solidFill>
                <a:latin typeface="Calibri" pitchFamily="34" charset="0"/>
                <a:ea typeface="Calibri" pitchFamily="34" charset="-122"/>
                <a:cs typeface="Calibri" pitchFamily="34" charset="-120"/>
              </a:rPr>
              <a:t>◆</a:t>
            </a:r>
            <a:endParaRPr lang="en-US" sz="1000" dirty="0"/>
          </a:p>
        </p:txBody>
      </p:sp>
      <p:sp>
        <p:nvSpPr>
          <p:cNvPr id="37" name="Text 35"/>
          <p:cNvSpPr/>
          <p:nvPr/>
        </p:nvSpPr>
        <p:spPr>
          <a:xfrm>
            <a:off x="658368" y="4462272"/>
            <a:ext cx="2011680" cy="292608"/>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Memory Efficiency:</a:t>
            </a:r>
            <a:endParaRPr lang="en-US" sz="1200" dirty="0"/>
          </a:p>
        </p:txBody>
      </p:sp>
      <p:sp>
        <p:nvSpPr>
          <p:cNvPr id="38" name="Text 36"/>
          <p:cNvSpPr/>
          <p:nvPr/>
        </p:nvSpPr>
        <p:spPr>
          <a:xfrm>
            <a:off x="2697480" y="4462272"/>
            <a:ext cx="5943600" cy="292608"/>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Optimized memory management for mobile device compatibility (≥8GB RAM PC/laptop)</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Hardware &amp; Software Requirements</a:t>
            </a:r>
            <a:endParaRPr lang="en-US" sz="2200" dirty="0"/>
          </a:p>
        </p:txBody>
      </p:sp>
      <p:sp>
        <p:nvSpPr>
          <p:cNvPr id="5" name="Text 3"/>
          <p:cNvSpPr/>
          <p:nvPr/>
        </p:nvSpPr>
        <p:spPr>
          <a:xfrm>
            <a:off x="365760" y="777240"/>
            <a:ext cx="4023360" cy="320040"/>
          </a:xfrm>
          <a:prstGeom prst="rect">
            <a:avLst/>
          </a:prstGeom>
          <a:noFill/>
          <a:ln/>
        </p:spPr>
        <p:txBody>
          <a:bodyPr wrap="square"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Hardware Requirements</a:t>
            </a:r>
            <a:endParaRPr lang="en-US" sz="1300" dirty="0"/>
          </a:p>
        </p:txBody>
      </p:sp>
      <p:sp>
        <p:nvSpPr>
          <p:cNvPr id="6" name="Shape 4"/>
          <p:cNvSpPr/>
          <p:nvPr/>
        </p:nvSpPr>
        <p:spPr>
          <a:xfrm>
            <a:off x="365760" y="1170432"/>
            <a:ext cx="4023360" cy="777240"/>
          </a:xfrm>
          <a:prstGeom prst="rect">
            <a:avLst/>
          </a:prstGeom>
          <a:solidFill>
            <a:srgbClr val="F0F4F8"/>
          </a:solidFill>
          <a:ln w="12700">
            <a:solidFill>
              <a:srgbClr val="CBD5E0"/>
            </a:solidFill>
            <a:prstDash val="solid"/>
          </a:ln>
        </p:spPr>
      </p:sp>
      <p:sp>
        <p:nvSpPr>
          <p:cNvPr id="7" name="Text 5"/>
          <p:cNvSpPr/>
          <p:nvPr/>
        </p:nvSpPr>
        <p:spPr>
          <a:xfrm>
            <a:off x="502920" y="1225296"/>
            <a:ext cx="3749040" cy="27432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 PC / Laptop</a:t>
            </a:r>
            <a:endParaRPr lang="en-US" sz="1200" dirty="0"/>
          </a:p>
        </p:txBody>
      </p:sp>
      <p:sp>
        <p:nvSpPr>
          <p:cNvPr id="8" name="Text 6"/>
          <p:cNvSpPr/>
          <p:nvPr/>
        </p:nvSpPr>
        <p:spPr>
          <a:xfrm>
            <a:off x="502920" y="1517904"/>
            <a:ext cx="3749040" cy="347472"/>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Intel i5 or higher processor, minimum 8GB RAM (16GB recommended)</a:t>
            </a:r>
            <a:endParaRPr lang="en-US" sz="1100" dirty="0"/>
          </a:p>
        </p:txBody>
      </p:sp>
      <p:sp>
        <p:nvSpPr>
          <p:cNvPr id="9" name="Shape 7"/>
          <p:cNvSpPr/>
          <p:nvPr/>
        </p:nvSpPr>
        <p:spPr>
          <a:xfrm>
            <a:off x="365760" y="2066544"/>
            <a:ext cx="4023360" cy="777240"/>
          </a:xfrm>
          <a:prstGeom prst="rect">
            <a:avLst/>
          </a:prstGeom>
          <a:solidFill>
            <a:srgbClr val="EBF5FB"/>
          </a:solidFill>
          <a:ln w="12700">
            <a:solidFill>
              <a:srgbClr val="CBD5E0"/>
            </a:solidFill>
            <a:prstDash val="solid"/>
          </a:ln>
        </p:spPr>
      </p:sp>
      <p:sp>
        <p:nvSpPr>
          <p:cNvPr id="10" name="Text 8"/>
          <p:cNvSpPr/>
          <p:nvPr/>
        </p:nvSpPr>
        <p:spPr>
          <a:xfrm>
            <a:off x="502920" y="2121408"/>
            <a:ext cx="3749040" cy="27432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 Android Device</a:t>
            </a:r>
            <a:endParaRPr lang="en-US" sz="1200" dirty="0"/>
          </a:p>
        </p:txBody>
      </p:sp>
      <p:sp>
        <p:nvSpPr>
          <p:cNvPr id="11" name="Text 9"/>
          <p:cNvSpPr/>
          <p:nvPr/>
        </p:nvSpPr>
        <p:spPr>
          <a:xfrm>
            <a:off x="502920" y="2414016"/>
            <a:ext cx="3749040" cy="347472"/>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Smartphone with camera for live video capture and app usage</a:t>
            </a:r>
            <a:endParaRPr lang="en-US" sz="1100" dirty="0"/>
          </a:p>
        </p:txBody>
      </p:sp>
      <p:sp>
        <p:nvSpPr>
          <p:cNvPr id="12" name="Shape 10"/>
          <p:cNvSpPr/>
          <p:nvPr/>
        </p:nvSpPr>
        <p:spPr>
          <a:xfrm>
            <a:off x="365760" y="2962656"/>
            <a:ext cx="4023360" cy="777240"/>
          </a:xfrm>
          <a:prstGeom prst="rect">
            <a:avLst/>
          </a:prstGeom>
          <a:solidFill>
            <a:srgbClr val="F0F4F8"/>
          </a:solidFill>
          <a:ln w="12700">
            <a:solidFill>
              <a:srgbClr val="CBD5E0"/>
            </a:solidFill>
            <a:prstDash val="solid"/>
          </a:ln>
        </p:spPr>
      </p:sp>
      <p:sp>
        <p:nvSpPr>
          <p:cNvPr id="13" name="Text 11"/>
          <p:cNvSpPr/>
          <p:nvPr/>
        </p:nvSpPr>
        <p:spPr>
          <a:xfrm>
            <a:off x="502920" y="3017520"/>
            <a:ext cx="3749040" cy="27432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 Internet</a:t>
            </a:r>
            <a:endParaRPr lang="en-US" sz="1200" dirty="0"/>
          </a:p>
        </p:txBody>
      </p:sp>
      <p:sp>
        <p:nvSpPr>
          <p:cNvPr id="14" name="Text 12"/>
          <p:cNvSpPr/>
          <p:nvPr/>
        </p:nvSpPr>
        <p:spPr>
          <a:xfrm>
            <a:off x="502920" y="3310128"/>
            <a:ext cx="3749040" cy="347472"/>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Stable internet connection for cloud database access and sync</a:t>
            </a:r>
            <a:endParaRPr lang="en-US" sz="1100" dirty="0"/>
          </a:p>
        </p:txBody>
      </p:sp>
      <p:sp>
        <p:nvSpPr>
          <p:cNvPr id="15" name="Shape 13"/>
          <p:cNvSpPr/>
          <p:nvPr/>
        </p:nvSpPr>
        <p:spPr>
          <a:xfrm>
            <a:off x="365760" y="3858768"/>
            <a:ext cx="4023360" cy="777240"/>
          </a:xfrm>
          <a:prstGeom prst="rect">
            <a:avLst/>
          </a:prstGeom>
          <a:solidFill>
            <a:srgbClr val="EBF5FB"/>
          </a:solidFill>
          <a:ln w="12700">
            <a:solidFill>
              <a:srgbClr val="CBD5E0"/>
            </a:solidFill>
            <a:prstDash val="solid"/>
          </a:ln>
        </p:spPr>
      </p:sp>
      <p:sp>
        <p:nvSpPr>
          <p:cNvPr id="16" name="Text 14"/>
          <p:cNvSpPr/>
          <p:nvPr/>
        </p:nvSpPr>
        <p:spPr>
          <a:xfrm>
            <a:off x="502920" y="3913632"/>
            <a:ext cx="3749040" cy="27432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 GPU (Optional)</a:t>
            </a:r>
            <a:endParaRPr lang="en-US" sz="1200" dirty="0"/>
          </a:p>
        </p:txBody>
      </p:sp>
      <p:sp>
        <p:nvSpPr>
          <p:cNvPr id="17" name="Text 15"/>
          <p:cNvSpPr/>
          <p:nvPr/>
        </p:nvSpPr>
        <p:spPr>
          <a:xfrm>
            <a:off x="502920" y="4206240"/>
            <a:ext cx="3749040" cy="347472"/>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NVIDIA GPU for faster ML model inference and video processing</a:t>
            </a:r>
            <a:endParaRPr lang="en-US" sz="1100" dirty="0"/>
          </a:p>
        </p:txBody>
      </p:sp>
      <p:sp>
        <p:nvSpPr>
          <p:cNvPr id="18" name="Text 16"/>
          <p:cNvSpPr/>
          <p:nvPr/>
        </p:nvSpPr>
        <p:spPr>
          <a:xfrm>
            <a:off x="4754880" y="777240"/>
            <a:ext cx="4023360" cy="320040"/>
          </a:xfrm>
          <a:prstGeom prst="rect">
            <a:avLst/>
          </a:prstGeom>
          <a:noFill/>
          <a:ln/>
        </p:spPr>
        <p:txBody>
          <a:bodyPr wrap="square"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Software Requirements</a:t>
            </a:r>
            <a:endParaRPr lang="en-US" sz="1300" dirty="0"/>
          </a:p>
        </p:txBody>
      </p:sp>
      <p:sp>
        <p:nvSpPr>
          <p:cNvPr id="19" name="Shape 17"/>
          <p:cNvSpPr/>
          <p:nvPr/>
        </p:nvSpPr>
        <p:spPr>
          <a:xfrm>
            <a:off x="4754880" y="1170432"/>
            <a:ext cx="4023360" cy="530352"/>
          </a:xfrm>
          <a:prstGeom prst="rect">
            <a:avLst/>
          </a:prstGeom>
          <a:solidFill>
            <a:srgbClr val="F0F4F8"/>
          </a:solidFill>
          <a:ln w="12700">
            <a:solidFill>
              <a:srgbClr val="CBD5E0"/>
            </a:solidFill>
            <a:prstDash val="solid"/>
          </a:ln>
        </p:spPr>
      </p:sp>
      <p:sp>
        <p:nvSpPr>
          <p:cNvPr id="20" name="Shape 18"/>
          <p:cNvSpPr/>
          <p:nvPr/>
        </p:nvSpPr>
        <p:spPr>
          <a:xfrm>
            <a:off x="4754880" y="1170432"/>
            <a:ext cx="1371600" cy="530352"/>
          </a:xfrm>
          <a:prstGeom prst="rect">
            <a:avLst/>
          </a:prstGeom>
          <a:solidFill>
            <a:srgbClr val="028090"/>
          </a:solidFill>
          <a:ln w="12700">
            <a:solidFill>
              <a:srgbClr val="028090"/>
            </a:solidFill>
            <a:prstDash val="solid"/>
          </a:ln>
        </p:spPr>
      </p:sp>
      <p:sp>
        <p:nvSpPr>
          <p:cNvPr id="21" name="Text 19"/>
          <p:cNvSpPr/>
          <p:nvPr/>
        </p:nvSpPr>
        <p:spPr>
          <a:xfrm>
            <a:off x="4754880" y="1170432"/>
            <a:ext cx="1371600"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Language</a:t>
            </a:r>
            <a:endParaRPr lang="en-US" sz="1100" dirty="0"/>
          </a:p>
        </p:txBody>
      </p:sp>
      <p:sp>
        <p:nvSpPr>
          <p:cNvPr id="22" name="Text 20"/>
          <p:cNvSpPr/>
          <p:nvPr/>
        </p:nvSpPr>
        <p:spPr>
          <a:xfrm>
            <a:off x="6236208" y="1261872"/>
            <a:ext cx="2423160" cy="347472"/>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Python (backend), Java/Kotlin (Android)</a:t>
            </a:r>
            <a:endParaRPr lang="en-US" sz="1100" dirty="0"/>
          </a:p>
        </p:txBody>
      </p:sp>
      <p:sp>
        <p:nvSpPr>
          <p:cNvPr id="23" name="Shape 21"/>
          <p:cNvSpPr/>
          <p:nvPr/>
        </p:nvSpPr>
        <p:spPr>
          <a:xfrm>
            <a:off x="4754880" y="1764792"/>
            <a:ext cx="4023360" cy="530352"/>
          </a:xfrm>
          <a:prstGeom prst="rect">
            <a:avLst/>
          </a:prstGeom>
          <a:solidFill>
            <a:srgbClr val="F0FBF8"/>
          </a:solidFill>
          <a:ln w="12700">
            <a:solidFill>
              <a:srgbClr val="CBD5E0"/>
            </a:solidFill>
            <a:prstDash val="solid"/>
          </a:ln>
        </p:spPr>
      </p:sp>
      <p:sp>
        <p:nvSpPr>
          <p:cNvPr id="24" name="Shape 22"/>
          <p:cNvSpPr/>
          <p:nvPr/>
        </p:nvSpPr>
        <p:spPr>
          <a:xfrm>
            <a:off x="4754880" y="1764792"/>
            <a:ext cx="1371600" cy="530352"/>
          </a:xfrm>
          <a:prstGeom prst="rect">
            <a:avLst/>
          </a:prstGeom>
          <a:solidFill>
            <a:srgbClr val="028090"/>
          </a:solidFill>
          <a:ln w="12700">
            <a:solidFill>
              <a:srgbClr val="028090"/>
            </a:solidFill>
            <a:prstDash val="solid"/>
          </a:ln>
        </p:spPr>
      </p:sp>
      <p:sp>
        <p:nvSpPr>
          <p:cNvPr id="25" name="Text 23"/>
          <p:cNvSpPr/>
          <p:nvPr/>
        </p:nvSpPr>
        <p:spPr>
          <a:xfrm>
            <a:off x="4754880" y="1764792"/>
            <a:ext cx="1371600"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Mobile Dev</a:t>
            </a:r>
            <a:endParaRPr lang="en-US" sz="1100" dirty="0"/>
          </a:p>
        </p:txBody>
      </p:sp>
      <p:sp>
        <p:nvSpPr>
          <p:cNvPr id="26" name="Text 24"/>
          <p:cNvSpPr/>
          <p:nvPr/>
        </p:nvSpPr>
        <p:spPr>
          <a:xfrm>
            <a:off x="6236208" y="1856232"/>
            <a:ext cx="2423160" cy="347472"/>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Android Studio for mobile app development</a:t>
            </a:r>
            <a:endParaRPr lang="en-US" sz="1100" dirty="0"/>
          </a:p>
        </p:txBody>
      </p:sp>
      <p:sp>
        <p:nvSpPr>
          <p:cNvPr id="27" name="Shape 25"/>
          <p:cNvSpPr/>
          <p:nvPr/>
        </p:nvSpPr>
        <p:spPr>
          <a:xfrm>
            <a:off x="4754880" y="2359152"/>
            <a:ext cx="4023360" cy="530352"/>
          </a:xfrm>
          <a:prstGeom prst="rect">
            <a:avLst/>
          </a:prstGeom>
          <a:solidFill>
            <a:srgbClr val="F0F4F8"/>
          </a:solidFill>
          <a:ln w="12700">
            <a:solidFill>
              <a:srgbClr val="CBD5E0"/>
            </a:solidFill>
            <a:prstDash val="solid"/>
          </a:ln>
        </p:spPr>
      </p:sp>
      <p:sp>
        <p:nvSpPr>
          <p:cNvPr id="28" name="Shape 26"/>
          <p:cNvSpPr/>
          <p:nvPr/>
        </p:nvSpPr>
        <p:spPr>
          <a:xfrm>
            <a:off x="4754880" y="2359152"/>
            <a:ext cx="1371600" cy="530352"/>
          </a:xfrm>
          <a:prstGeom prst="rect">
            <a:avLst/>
          </a:prstGeom>
          <a:solidFill>
            <a:srgbClr val="028090"/>
          </a:solidFill>
          <a:ln w="12700">
            <a:solidFill>
              <a:srgbClr val="028090"/>
            </a:solidFill>
            <a:prstDash val="solid"/>
          </a:ln>
        </p:spPr>
      </p:sp>
      <p:sp>
        <p:nvSpPr>
          <p:cNvPr id="29" name="Text 27"/>
          <p:cNvSpPr/>
          <p:nvPr/>
        </p:nvSpPr>
        <p:spPr>
          <a:xfrm>
            <a:off x="4754880" y="2359152"/>
            <a:ext cx="1371600"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Vision Libs</a:t>
            </a:r>
            <a:endParaRPr lang="en-US" sz="1100" dirty="0"/>
          </a:p>
        </p:txBody>
      </p:sp>
      <p:sp>
        <p:nvSpPr>
          <p:cNvPr id="30" name="Text 28"/>
          <p:cNvSpPr/>
          <p:nvPr/>
        </p:nvSpPr>
        <p:spPr>
          <a:xfrm>
            <a:off x="6236208" y="2450592"/>
            <a:ext cx="2423160" cy="347472"/>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OpenCV for image processing, MediaPipe for pose detection</a:t>
            </a:r>
            <a:endParaRPr lang="en-US" sz="1100" dirty="0"/>
          </a:p>
        </p:txBody>
      </p:sp>
      <p:sp>
        <p:nvSpPr>
          <p:cNvPr id="31" name="Shape 29"/>
          <p:cNvSpPr/>
          <p:nvPr/>
        </p:nvSpPr>
        <p:spPr>
          <a:xfrm>
            <a:off x="4754880" y="2953512"/>
            <a:ext cx="4023360" cy="530352"/>
          </a:xfrm>
          <a:prstGeom prst="rect">
            <a:avLst/>
          </a:prstGeom>
          <a:solidFill>
            <a:srgbClr val="F0FBF8"/>
          </a:solidFill>
          <a:ln w="12700">
            <a:solidFill>
              <a:srgbClr val="CBD5E0"/>
            </a:solidFill>
            <a:prstDash val="solid"/>
          </a:ln>
        </p:spPr>
      </p:sp>
      <p:sp>
        <p:nvSpPr>
          <p:cNvPr id="32" name="Shape 30"/>
          <p:cNvSpPr/>
          <p:nvPr/>
        </p:nvSpPr>
        <p:spPr>
          <a:xfrm>
            <a:off x="4754880" y="2953512"/>
            <a:ext cx="1371600" cy="530352"/>
          </a:xfrm>
          <a:prstGeom prst="rect">
            <a:avLst/>
          </a:prstGeom>
          <a:solidFill>
            <a:srgbClr val="028090"/>
          </a:solidFill>
          <a:ln w="12700">
            <a:solidFill>
              <a:srgbClr val="028090"/>
            </a:solidFill>
            <a:prstDash val="solid"/>
          </a:ln>
        </p:spPr>
      </p:sp>
      <p:sp>
        <p:nvSpPr>
          <p:cNvPr id="33" name="Text 31"/>
          <p:cNvSpPr/>
          <p:nvPr/>
        </p:nvSpPr>
        <p:spPr>
          <a:xfrm>
            <a:off x="4754880" y="2953512"/>
            <a:ext cx="1371600"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ML Frameworks</a:t>
            </a:r>
            <a:endParaRPr lang="en-US" sz="1100" dirty="0"/>
          </a:p>
        </p:txBody>
      </p:sp>
      <p:sp>
        <p:nvSpPr>
          <p:cNvPr id="34" name="Text 32"/>
          <p:cNvSpPr/>
          <p:nvPr/>
        </p:nvSpPr>
        <p:spPr>
          <a:xfrm>
            <a:off x="6236208" y="3044952"/>
            <a:ext cx="2423160" cy="347472"/>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TensorFlow / PyTorch for ML model training and inference</a:t>
            </a:r>
            <a:endParaRPr lang="en-US" sz="1100" dirty="0"/>
          </a:p>
        </p:txBody>
      </p:sp>
      <p:sp>
        <p:nvSpPr>
          <p:cNvPr id="35" name="Shape 33"/>
          <p:cNvSpPr/>
          <p:nvPr/>
        </p:nvSpPr>
        <p:spPr>
          <a:xfrm>
            <a:off x="4754880" y="3547872"/>
            <a:ext cx="4023360" cy="530352"/>
          </a:xfrm>
          <a:prstGeom prst="rect">
            <a:avLst/>
          </a:prstGeom>
          <a:solidFill>
            <a:srgbClr val="F0F4F8"/>
          </a:solidFill>
          <a:ln w="12700">
            <a:solidFill>
              <a:srgbClr val="CBD5E0"/>
            </a:solidFill>
            <a:prstDash val="solid"/>
          </a:ln>
        </p:spPr>
      </p:sp>
      <p:sp>
        <p:nvSpPr>
          <p:cNvPr id="36" name="Shape 34"/>
          <p:cNvSpPr/>
          <p:nvPr/>
        </p:nvSpPr>
        <p:spPr>
          <a:xfrm>
            <a:off x="4754880" y="3547872"/>
            <a:ext cx="1371600" cy="530352"/>
          </a:xfrm>
          <a:prstGeom prst="rect">
            <a:avLst/>
          </a:prstGeom>
          <a:solidFill>
            <a:srgbClr val="028090"/>
          </a:solidFill>
          <a:ln w="12700">
            <a:solidFill>
              <a:srgbClr val="028090"/>
            </a:solidFill>
            <a:prstDash val="solid"/>
          </a:ln>
        </p:spPr>
      </p:sp>
      <p:sp>
        <p:nvSpPr>
          <p:cNvPr id="37" name="Text 35"/>
          <p:cNvSpPr/>
          <p:nvPr/>
        </p:nvSpPr>
        <p:spPr>
          <a:xfrm>
            <a:off x="4754880" y="3547872"/>
            <a:ext cx="1371600"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Database</a:t>
            </a:r>
            <a:endParaRPr lang="en-US" sz="1100" dirty="0"/>
          </a:p>
        </p:txBody>
      </p:sp>
      <p:sp>
        <p:nvSpPr>
          <p:cNvPr id="38" name="Text 36"/>
          <p:cNvSpPr/>
          <p:nvPr/>
        </p:nvSpPr>
        <p:spPr>
          <a:xfrm>
            <a:off x="6236208" y="3639312"/>
            <a:ext cx="2423160" cy="347472"/>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Firebase (real-time) or MySQL (relational) for data storage</a:t>
            </a:r>
            <a:endParaRPr lang="en-US" sz="1100" dirty="0"/>
          </a:p>
        </p:txBody>
      </p:sp>
      <p:sp>
        <p:nvSpPr>
          <p:cNvPr id="39" name="Shape 37"/>
          <p:cNvSpPr/>
          <p:nvPr/>
        </p:nvSpPr>
        <p:spPr>
          <a:xfrm>
            <a:off x="4754880" y="4142232"/>
            <a:ext cx="4023360" cy="530352"/>
          </a:xfrm>
          <a:prstGeom prst="rect">
            <a:avLst/>
          </a:prstGeom>
          <a:solidFill>
            <a:srgbClr val="F0FBF8"/>
          </a:solidFill>
          <a:ln w="12700">
            <a:solidFill>
              <a:srgbClr val="CBD5E0"/>
            </a:solidFill>
            <a:prstDash val="solid"/>
          </a:ln>
        </p:spPr>
      </p:sp>
      <p:sp>
        <p:nvSpPr>
          <p:cNvPr id="40" name="Shape 38"/>
          <p:cNvSpPr/>
          <p:nvPr/>
        </p:nvSpPr>
        <p:spPr>
          <a:xfrm>
            <a:off x="4754880" y="4142232"/>
            <a:ext cx="1371600" cy="530352"/>
          </a:xfrm>
          <a:prstGeom prst="rect">
            <a:avLst/>
          </a:prstGeom>
          <a:solidFill>
            <a:srgbClr val="028090"/>
          </a:solidFill>
          <a:ln w="12700">
            <a:solidFill>
              <a:srgbClr val="028090"/>
            </a:solidFill>
            <a:prstDash val="solid"/>
          </a:ln>
        </p:spPr>
      </p:sp>
      <p:sp>
        <p:nvSpPr>
          <p:cNvPr id="41" name="Text 39"/>
          <p:cNvSpPr/>
          <p:nvPr/>
        </p:nvSpPr>
        <p:spPr>
          <a:xfrm>
            <a:off x="4754880" y="4142232"/>
            <a:ext cx="1371600"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OS Support</a:t>
            </a:r>
            <a:endParaRPr lang="en-US" sz="1100" dirty="0"/>
          </a:p>
        </p:txBody>
      </p:sp>
      <p:sp>
        <p:nvSpPr>
          <p:cNvPr id="42" name="Text 40"/>
          <p:cNvSpPr/>
          <p:nvPr/>
        </p:nvSpPr>
        <p:spPr>
          <a:xfrm>
            <a:off x="6236208" y="4233672"/>
            <a:ext cx="2423160" cy="347472"/>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Windows / Linux / macOS (cross-platform compatibility)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Technology Stack</a:t>
            </a:r>
            <a:endParaRPr lang="en-US" sz="2200" dirty="0"/>
          </a:p>
        </p:txBody>
      </p:sp>
      <p:sp>
        <p:nvSpPr>
          <p:cNvPr id="5" name="Shape 3"/>
          <p:cNvSpPr/>
          <p:nvPr/>
        </p:nvSpPr>
        <p:spPr>
          <a:xfrm>
            <a:off x="274320" y="777240"/>
            <a:ext cx="2788920" cy="1975104"/>
          </a:xfrm>
          <a:prstGeom prst="rect">
            <a:avLst/>
          </a:prstGeom>
          <a:solidFill>
            <a:srgbClr val="F8FAFB"/>
          </a:solidFill>
          <a:ln w="12700">
            <a:solidFill>
              <a:srgbClr val="CBD5E0"/>
            </a:solidFill>
            <a:prstDash val="solid"/>
          </a:ln>
        </p:spPr>
      </p:sp>
      <p:sp>
        <p:nvSpPr>
          <p:cNvPr id="6" name="Shape 4"/>
          <p:cNvSpPr/>
          <p:nvPr/>
        </p:nvSpPr>
        <p:spPr>
          <a:xfrm>
            <a:off x="274320" y="777240"/>
            <a:ext cx="2788920" cy="438912"/>
          </a:xfrm>
          <a:prstGeom prst="rect">
            <a:avLst/>
          </a:prstGeom>
          <a:solidFill>
            <a:srgbClr val="3498DB"/>
          </a:solidFill>
          <a:ln w="12700">
            <a:solidFill>
              <a:srgbClr val="3498DB"/>
            </a:solidFill>
            <a:prstDash val="solid"/>
          </a:ln>
        </p:spPr>
      </p:sp>
      <p:sp>
        <p:nvSpPr>
          <p:cNvPr id="7" name="Text 5"/>
          <p:cNvSpPr/>
          <p:nvPr/>
        </p:nvSpPr>
        <p:spPr>
          <a:xfrm>
            <a:off x="365760" y="850392"/>
            <a:ext cx="260604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Frontend / Mobile</a:t>
            </a:r>
            <a:endParaRPr lang="en-US" sz="1200" dirty="0"/>
          </a:p>
        </p:txBody>
      </p:sp>
      <p:sp>
        <p:nvSpPr>
          <p:cNvPr id="8" name="Shape 6"/>
          <p:cNvSpPr/>
          <p:nvPr/>
        </p:nvSpPr>
        <p:spPr>
          <a:xfrm>
            <a:off x="384048" y="1280160"/>
            <a:ext cx="2578608" cy="274320"/>
          </a:xfrm>
          <a:prstGeom prst="rect">
            <a:avLst/>
          </a:prstGeom>
          <a:solidFill>
            <a:srgbClr val="F0F4F8"/>
          </a:solidFill>
          <a:ln w="12700">
            <a:solidFill>
              <a:srgbClr val="D0DCE8"/>
            </a:solidFill>
            <a:prstDash val="solid"/>
          </a:ln>
        </p:spPr>
      </p:sp>
      <p:sp>
        <p:nvSpPr>
          <p:cNvPr id="9" name="Text 7"/>
          <p:cNvSpPr/>
          <p:nvPr/>
        </p:nvSpPr>
        <p:spPr>
          <a:xfrm>
            <a:off x="457200" y="1298448"/>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Android (Java/Kotlin)</a:t>
            </a:r>
            <a:endParaRPr lang="en-US" sz="1100" dirty="0"/>
          </a:p>
        </p:txBody>
      </p:sp>
      <p:sp>
        <p:nvSpPr>
          <p:cNvPr id="10" name="Shape 8"/>
          <p:cNvSpPr/>
          <p:nvPr/>
        </p:nvSpPr>
        <p:spPr>
          <a:xfrm>
            <a:off x="384048" y="1627632"/>
            <a:ext cx="2578608" cy="274320"/>
          </a:xfrm>
          <a:prstGeom prst="rect">
            <a:avLst/>
          </a:prstGeom>
          <a:solidFill>
            <a:srgbClr val="EBF5FB"/>
          </a:solidFill>
          <a:ln w="12700">
            <a:solidFill>
              <a:srgbClr val="D0DCE8"/>
            </a:solidFill>
            <a:prstDash val="solid"/>
          </a:ln>
        </p:spPr>
      </p:sp>
      <p:sp>
        <p:nvSpPr>
          <p:cNvPr id="11" name="Text 9"/>
          <p:cNvSpPr/>
          <p:nvPr/>
        </p:nvSpPr>
        <p:spPr>
          <a:xfrm>
            <a:off x="457200" y="1645920"/>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Android Studio</a:t>
            </a:r>
            <a:endParaRPr lang="en-US" sz="1100" dirty="0"/>
          </a:p>
        </p:txBody>
      </p:sp>
      <p:sp>
        <p:nvSpPr>
          <p:cNvPr id="12" name="Shape 10"/>
          <p:cNvSpPr/>
          <p:nvPr/>
        </p:nvSpPr>
        <p:spPr>
          <a:xfrm>
            <a:off x="384048" y="1975104"/>
            <a:ext cx="2578608" cy="274320"/>
          </a:xfrm>
          <a:prstGeom prst="rect">
            <a:avLst/>
          </a:prstGeom>
          <a:solidFill>
            <a:srgbClr val="F0F4F8"/>
          </a:solidFill>
          <a:ln w="12700">
            <a:solidFill>
              <a:srgbClr val="D0DCE8"/>
            </a:solidFill>
            <a:prstDash val="solid"/>
          </a:ln>
        </p:spPr>
      </p:sp>
      <p:sp>
        <p:nvSpPr>
          <p:cNvPr id="13" name="Text 11"/>
          <p:cNvSpPr/>
          <p:nvPr/>
        </p:nvSpPr>
        <p:spPr>
          <a:xfrm>
            <a:off x="457200" y="1993392"/>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XML Layouts</a:t>
            </a:r>
            <a:endParaRPr lang="en-US" sz="1100" dirty="0"/>
          </a:p>
        </p:txBody>
      </p:sp>
      <p:sp>
        <p:nvSpPr>
          <p:cNvPr id="14" name="Shape 12"/>
          <p:cNvSpPr/>
          <p:nvPr/>
        </p:nvSpPr>
        <p:spPr>
          <a:xfrm>
            <a:off x="384048" y="2322576"/>
            <a:ext cx="2578608" cy="274320"/>
          </a:xfrm>
          <a:prstGeom prst="rect">
            <a:avLst/>
          </a:prstGeom>
          <a:solidFill>
            <a:srgbClr val="EBF5FB"/>
          </a:solidFill>
          <a:ln w="12700">
            <a:solidFill>
              <a:srgbClr val="D0DCE8"/>
            </a:solidFill>
            <a:prstDash val="solid"/>
          </a:ln>
        </p:spPr>
      </p:sp>
      <p:sp>
        <p:nvSpPr>
          <p:cNvPr id="15" name="Text 13"/>
          <p:cNvSpPr/>
          <p:nvPr/>
        </p:nvSpPr>
        <p:spPr>
          <a:xfrm>
            <a:off x="457200" y="2340864"/>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Material Design UI</a:t>
            </a:r>
            <a:endParaRPr lang="en-US" sz="1100" dirty="0"/>
          </a:p>
        </p:txBody>
      </p:sp>
      <p:sp>
        <p:nvSpPr>
          <p:cNvPr id="16" name="Shape 14"/>
          <p:cNvSpPr/>
          <p:nvPr/>
        </p:nvSpPr>
        <p:spPr>
          <a:xfrm>
            <a:off x="3172968" y="777240"/>
            <a:ext cx="2788920" cy="1975104"/>
          </a:xfrm>
          <a:prstGeom prst="rect">
            <a:avLst/>
          </a:prstGeom>
          <a:solidFill>
            <a:srgbClr val="F8FAFB"/>
          </a:solidFill>
          <a:ln w="12700">
            <a:solidFill>
              <a:srgbClr val="CBD5E0"/>
            </a:solidFill>
            <a:prstDash val="solid"/>
          </a:ln>
        </p:spPr>
      </p:sp>
      <p:sp>
        <p:nvSpPr>
          <p:cNvPr id="17" name="Shape 15"/>
          <p:cNvSpPr/>
          <p:nvPr/>
        </p:nvSpPr>
        <p:spPr>
          <a:xfrm>
            <a:off x="3172968" y="777240"/>
            <a:ext cx="2788920" cy="438912"/>
          </a:xfrm>
          <a:prstGeom prst="rect">
            <a:avLst/>
          </a:prstGeom>
          <a:solidFill>
            <a:srgbClr val="028090"/>
          </a:solidFill>
          <a:ln w="12700">
            <a:solidFill>
              <a:srgbClr val="028090"/>
            </a:solidFill>
            <a:prstDash val="solid"/>
          </a:ln>
        </p:spPr>
      </p:sp>
      <p:sp>
        <p:nvSpPr>
          <p:cNvPr id="18" name="Text 16"/>
          <p:cNvSpPr/>
          <p:nvPr/>
        </p:nvSpPr>
        <p:spPr>
          <a:xfrm>
            <a:off x="3264408" y="850392"/>
            <a:ext cx="260604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Computer Vision</a:t>
            </a:r>
            <a:endParaRPr lang="en-US" sz="1200" dirty="0"/>
          </a:p>
        </p:txBody>
      </p:sp>
      <p:sp>
        <p:nvSpPr>
          <p:cNvPr id="19" name="Shape 17"/>
          <p:cNvSpPr/>
          <p:nvPr/>
        </p:nvSpPr>
        <p:spPr>
          <a:xfrm>
            <a:off x="3282696" y="1280160"/>
            <a:ext cx="2578608" cy="274320"/>
          </a:xfrm>
          <a:prstGeom prst="rect">
            <a:avLst/>
          </a:prstGeom>
          <a:solidFill>
            <a:srgbClr val="F0F4F8"/>
          </a:solidFill>
          <a:ln w="12700">
            <a:solidFill>
              <a:srgbClr val="D0DCE8"/>
            </a:solidFill>
            <a:prstDash val="solid"/>
          </a:ln>
        </p:spPr>
      </p:sp>
      <p:sp>
        <p:nvSpPr>
          <p:cNvPr id="20" name="Text 18"/>
          <p:cNvSpPr/>
          <p:nvPr/>
        </p:nvSpPr>
        <p:spPr>
          <a:xfrm>
            <a:off x="3355848" y="1298448"/>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MediaPipe (Pose)</a:t>
            </a:r>
            <a:endParaRPr lang="en-US" sz="1100" dirty="0"/>
          </a:p>
        </p:txBody>
      </p:sp>
      <p:sp>
        <p:nvSpPr>
          <p:cNvPr id="21" name="Shape 19"/>
          <p:cNvSpPr/>
          <p:nvPr/>
        </p:nvSpPr>
        <p:spPr>
          <a:xfrm>
            <a:off x="3282696" y="1627632"/>
            <a:ext cx="2578608" cy="274320"/>
          </a:xfrm>
          <a:prstGeom prst="rect">
            <a:avLst/>
          </a:prstGeom>
          <a:solidFill>
            <a:srgbClr val="EBF5FB"/>
          </a:solidFill>
          <a:ln w="12700">
            <a:solidFill>
              <a:srgbClr val="D0DCE8"/>
            </a:solidFill>
            <a:prstDash val="solid"/>
          </a:ln>
        </p:spPr>
      </p:sp>
      <p:sp>
        <p:nvSpPr>
          <p:cNvPr id="22" name="Text 20"/>
          <p:cNvSpPr/>
          <p:nvPr/>
        </p:nvSpPr>
        <p:spPr>
          <a:xfrm>
            <a:off x="3355848" y="1645920"/>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OpenCV (Image Processing)</a:t>
            </a:r>
            <a:endParaRPr lang="en-US" sz="1100" dirty="0"/>
          </a:p>
        </p:txBody>
      </p:sp>
      <p:sp>
        <p:nvSpPr>
          <p:cNvPr id="23" name="Shape 21"/>
          <p:cNvSpPr/>
          <p:nvPr/>
        </p:nvSpPr>
        <p:spPr>
          <a:xfrm>
            <a:off x="3282696" y="1975104"/>
            <a:ext cx="2578608" cy="274320"/>
          </a:xfrm>
          <a:prstGeom prst="rect">
            <a:avLst/>
          </a:prstGeom>
          <a:solidFill>
            <a:srgbClr val="F0F4F8"/>
          </a:solidFill>
          <a:ln w="12700">
            <a:solidFill>
              <a:srgbClr val="D0DCE8"/>
            </a:solidFill>
            <a:prstDash val="solid"/>
          </a:ln>
        </p:spPr>
      </p:sp>
      <p:sp>
        <p:nvSpPr>
          <p:cNvPr id="24" name="Text 22"/>
          <p:cNvSpPr/>
          <p:nvPr/>
        </p:nvSpPr>
        <p:spPr>
          <a:xfrm>
            <a:off x="3355848" y="1993392"/>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BlazePose Model</a:t>
            </a:r>
            <a:endParaRPr lang="en-US" sz="1100" dirty="0"/>
          </a:p>
        </p:txBody>
      </p:sp>
      <p:sp>
        <p:nvSpPr>
          <p:cNvPr id="25" name="Shape 23"/>
          <p:cNvSpPr/>
          <p:nvPr/>
        </p:nvSpPr>
        <p:spPr>
          <a:xfrm>
            <a:off x="3282696" y="2322576"/>
            <a:ext cx="2578608" cy="274320"/>
          </a:xfrm>
          <a:prstGeom prst="rect">
            <a:avLst/>
          </a:prstGeom>
          <a:solidFill>
            <a:srgbClr val="EBF5FB"/>
          </a:solidFill>
          <a:ln w="12700">
            <a:solidFill>
              <a:srgbClr val="D0DCE8"/>
            </a:solidFill>
            <a:prstDash val="solid"/>
          </a:ln>
        </p:spPr>
      </p:sp>
      <p:sp>
        <p:nvSpPr>
          <p:cNvPr id="26" name="Text 24"/>
          <p:cNvSpPr/>
          <p:nvPr/>
        </p:nvSpPr>
        <p:spPr>
          <a:xfrm>
            <a:off x="3355848" y="2340864"/>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Landmark Detection</a:t>
            </a:r>
            <a:endParaRPr lang="en-US" sz="1100" dirty="0"/>
          </a:p>
        </p:txBody>
      </p:sp>
      <p:sp>
        <p:nvSpPr>
          <p:cNvPr id="27" name="Shape 25"/>
          <p:cNvSpPr/>
          <p:nvPr/>
        </p:nvSpPr>
        <p:spPr>
          <a:xfrm>
            <a:off x="6071616" y="777240"/>
            <a:ext cx="2788920" cy="1975104"/>
          </a:xfrm>
          <a:prstGeom prst="rect">
            <a:avLst/>
          </a:prstGeom>
          <a:solidFill>
            <a:srgbClr val="F8FAFB"/>
          </a:solidFill>
          <a:ln w="12700">
            <a:solidFill>
              <a:srgbClr val="CBD5E0"/>
            </a:solidFill>
            <a:prstDash val="solid"/>
          </a:ln>
        </p:spPr>
      </p:sp>
      <p:sp>
        <p:nvSpPr>
          <p:cNvPr id="28" name="Shape 26"/>
          <p:cNvSpPr/>
          <p:nvPr/>
        </p:nvSpPr>
        <p:spPr>
          <a:xfrm>
            <a:off x="6071616" y="777240"/>
            <a:ext cx="2788920" cy="438912"/>
          </a:xfrm>
          <a:prstGeom prst="rect">
            <a:avLst/>
          </a:prstGeom>
          <a:solidFill>
            <a:srgbClr val="8E44AD"/>
          </a:solidFill>
          <a:ln w="12700">
            <a:solidFill>
              <a:srgbClr val="8E44AD"/>
            </a:solidFill>
            <a:prstDash val="solid"/>
          </a:ln>
        </p:spPr>
      </p:sp>
      <p:sp>
        <p:nvSpPr>
          <p:cNvPr id="29" name="Text 27"/>
          <p:cNvSpPr/>
          <p:nvPr/>
        </p:nvSpPr>
        <p:spPr>
          <a:xfrm>
            <a:off x="6163056" y="850392"/>
            <a:ext cx="260604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Machine Learning</a:t>
            </a:r>
            <a:endParaRPr lang="en-US" sz="1200" dirty="0"/>
          </a:p>
        </p:txBody>
      </p:sp>
      <p:sp>
        <p:nvSpPr>
          <p:cNvPr id="30" name="Shape 28"/>
          <p:cNvSpPr/>
          <p:nvPr/>
        </p:nvSpPr>
        <p:spPr>
          <a:xfrm>
            <a:off x="6181344" y="1280160"/>
            <a:ext cx="2578608" cy="274320"/>
          </a:xfrm>
          <a:prstGeom prst="rect">
            <a:avLst/>
          </a:prstGeom>
          <a:solidFill>
            <a:srgbClr val="F0F4F8"/>
          </a:solidFill>
          <a:ln w="12700">
            <a:solidFill>
              <a:srgbClr val="D0DCE8"/>
            </a:solidFill>
            <a:prstDash val="solid"/>
          </a:ln>
        </p:spPr>
      </p:sp>
      <p:sp>
        <p:nvSpPr>
          <p:cNvPr id="31" name="Text 29"/>
          <p:cNvSpPr/>
          <p:nvPr/>
        </p:nvSpPr>
        <p:spPr>
          <a:xfrm>
            <a:off x="6254496" y="1298448"/>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TensorFlow 2.x</a:t>
            </a:r>
            <a:endParaRPr lang="en-US" sz="1100" dirty="0"/>
          </a:p>
        </p:txBody>
      </p:sp>
      <p:sp>
        <p:nvSpPr>
          <p:cNvPr id="32" name="Shape 30"/>
          <p:cNvSpPr/>
          <p:nvPr/>
        </p:nvSpPr>
        <p:spPr>
          <a:xfrm>
            <a:off x="6181344" y="1627632"/>
            <a:ext cx="2578608" cy="274320"/>
          </a:xfrm>
          <a:prstGeom prst="rect">
            <a:avLst/>
          </a:prstGeom>
          <a:solidFill>
            <a:srgbClr val="EBF5FB"/>
          </a:solidFill>
          <a:ln w="12700">
            <a:solidFill>
              <a:srgbClr val="D0DCE8"/>
            </a:solidFill>
            <a:prstDash val="solid"/>
          </a:ln>
        </p:spPr>
      </p:sp>
      <p:sp>
        <p:nvSpPr>
          <p:cNvPr id="33" name="Text 31"/>
          <p:cNvSpPr/>
          <p:nvPr/>
        </p:nvSpPr>
        <p:spPr>
          <a:xfrm>
            <a:off x="6254496" y="1645920"/>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PyTorch</a:t>
            </a:r>
            <a:endParaRPr lang="en-US" sz="1100" dirty="0"/>
          </a:p>
        </p:txBody>
      </p:sp>
      <p:sp>
        <p:nvSpPr>
          <p:cNvPr id="34" name="Shape 32"/>
          <p:cNvSpPr/>
          <p:nvPr/>
        </p:nvSpPr>
        <p:spPr>
          <a:xfrm>
            <a:off x="6181344" y="1975104"/>
            <a:ext cx="2578608" cy="274320"/>
          </a:xfrm>
          <a:prstGeom prst="rect">
            <a:avLst/>
          </a:prstGeom>
          <a:solidFill>
            <a:srgbClr val="F0F4F8"/>
          </a:solidFill>
          <a:ln w="12700">
            <a:solidFill>
              <a:srgbClr val="D0DCE8"/>
            </a:solidFill>
            <a:prstDash val="solid"/>
          </a:ln>
        </p:spPr>
      </p:sp>
      <p:sp>
        <p:nvSpPr>
          <p:cNvPr id="35" name="Text 33"/>
          <p:cNvSpPr/>
          <p:nvPr/>
        </p:nvSpPr>
        <p:spPr>
          <a:xfrm>
            <a:off x="6254496" y="1993392"/>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CNN / LSTM Models</a:t>
            </a:r>
            <a:endParaRPr lang="en-US" sz="1100" dirty="0"/>
          </a:p>
        </p:txBody>
      </p:sp>
      <p:sp>
        <p:nvSpPr>
          <p:cNvPr id="36" name="Shape 34"/>
          <p:cNvSpPr/>
          <p:nvPr/>
        </p:nvSpPr>
        <p:spPr>
          <a:xfrm>
            <a:off x="6181344" y="2322576"/>
            <a:ext cx="2578608" cy="274320"/>
          </a:xfrm>
          <a:prstGeom prst="rect">
            <a:avLst/>
          </a:prstGeom>
          <a:solidFill>
            <a:srgbClr val="EBF5FB"/>
          </a:solidFill>
          <a:ln w="12700">
            <a:solidFill>
              <a:srgbClr val="D0DCE8"/>
            </a:solidFill>
            <a:prstDash val="solid"/>
          </a:ln>
        </p:spPr>
      </p:sp>
      <p:sp>
        <p:nvSpPr>
          <p:cNvPr id="37" name="Text 35"/>
          <p:cNvSpPr/>
          <p:nvPr/>
        </p:nvSpPr>
        <p:spPr>
          <a:xfrm>
            <a:off x="6254496" y="2340864"/>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Scikit-learn (Metrics)</a:t>
            </a:r>
            <a:endParaRPr lang="en-US" sz="1100" dirty="0"/>
          </a:p>
        </p:txBody>
      </p:sp>
      <p:sp>
        <p:nvSpPr>
          <p:cNvPr id="38" name="Shape 36"/>
          <p:cNvSpPr/>
          <p:nvPr/>
        </p:nvSpPr>
        <p:spPr>
          <a:xfrm>
            <a:off x="274320" y="2862072"/>
            <a:ext cx="2788920" cy="1975104"/>
          </a:xfrm>
          <a:prstGeom prst="rect">
            <a:avLst/>
          </a:prstGeom>
          <a:solidFill>
            <a:srgbClr val="F8FAFB"/>
          </a:solidFill>
          <a:ln w="12700">
            <a:solidFill>
              <a:srgbClr val="CBD5E0"/>
            </a:solidFill>
            <a:prstDash val="solid"/>
          </a:ln>
        </p:spPr>
      </p:sp>
      <p:sp>
        <p:nvSpPr>
          <p:cNvPr id="39" name="Shape 37"/>
          <p:cNvSpPr/>
          <p:nvPr/>
        </p:nvSpPr>
        <p:spPr>
          <a:xfrm>
            <a:off x="274320" y="2862072"/>
            <a:ext cx="2788920" cy="438912"/>
          </a:xfrm>
          <a:prstGeom prst="rect">
            <a:avLst/>
          </a:prstGeom>
          <a:solidFill>
            <a:srgbClr val="1A3A5C"/>
          </a:solidFill>
          <a:ln w="12700">
            <a:solidFill>
              <a:srgbClr val="1A3A5C"/>
            </a:solidFill>
            <a:prstDash val="solid"/>
          </a:ln>
        </p:spPr>
      </p:sp>
      <p:sp>
        <p:nvSpPr>
          <p:cNvPr id="40" name="Text 38"/>
          <p:cNvSpPr/>
          <p:nvPr/>
        </p:nvSpPr>
        <p:spPr>
          <a:xfrm>
            <a:off x="365760" y="2935224"/>
            <a:ext cx="260604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Backend / API</a:t>
            </a:r>
            <a:endParaRPr lang="en-US" sz="1200" dirty="0"/>
          </a:p>
        </p:txBody>
      </p:sp>
      <p:sp>
        <p:nvSpPr>
          <p:cNvPr id="41" name="Shape 39"/>
          <p:cNvSpPr/>
          <p:nvPr/>
        </p:nvSpPr>
        <p:spPr>
          <a:xfrm>
            <a:off x="384048" y="3364992"/>
            <a:ext cx="2578608" cy="274320"/>
          </a:xfrm>
          <a:prstGeom prst="rect">
            <a:avLst/>
          </a:prstGeom>
          <a:solidFill>
            <a:srgbClr val="F0F4F8"/>
          </a:solidFill>
          <a:ln w="12700">
            <a:solidFill>
              <a:srgbClr val="D0DCE8"/>
            </a:solidFill>
            <a:prstDash val="solid"/>
          </a:ln>
        </p:spPr>
      </p:sp>
      <p:sp>
        <p:nvSpPr>
          <p:cNvPr id="42" name="Text 40"/>
          <p:cNvSpPr/>
          <p:nvPr/>
        </p:nvSpPr>
        <p:spPr>
          <a:xfrm>
            <a:off x="457200" y="3383280"/>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Python (Flask/FastAPI)</a:t>
            </a:r>
            <a:endParaRPr lang="en-US" sz="1100" dirty="0"/>
          </a:p>
        </p:txBody>
      </p:sp>
      <p:sp>
        <p:nvSpPr>
          <p:cNvPr id="43" name="Shape 41"/>
          <p:cNvSpPr/>
          <p:nvPr/>
        </p:nvSpPr>
        <p:spPr>
          <a:xfrm>
            <a:off x="384048" y="3712464"/>
            <a:ext cx="2578608" cy="274320"/>
          </a:xfrm>
          <a:prstGeom prst="rect">
            <a:avLst/>
          </a:prstGeom>
          <a:solidFill>
            <a:srgbClr val="EBF5FB"/>
          </a:solidFill>
          <a:ln w="12700">
            <a:solidFill>
              <a:srgbClr val="D0DCE8"/>
            </a:solidFill>
            <a:prstDash val="solid"/>
          </a:ln>
        </p:spPr>
      </p:sp>
      <p:sp>
        <p:nvSpPr>
          <p:cNvPr id="44" name="Text 42"/>
          <p:cNvSpPr/>
          <p:nvPr/>
        </p:nvSpPr>
        <p:spPr>
          <a:xfrm>
            <a:off x="457200" y="3730752"/>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REST API</a:t>
            </a:r>
            <a:endParaRPr lang="en-US" sz="1100" dirty="0"/>
          </a:p>
        </p:txBody>
      </p:sp>
      <p:sp>
        <p:nvSpPr>
          <p:cNvPr id="45" name="Shape 43"/>
          <p:cNvSpPr/>
          <p:nvPr/>
        </p:nvSpPr>
        <p:spPr>
          <a:xfrm>
            <a:off x="384048" y="4059936"/>
            <a:ext cx="2578608" cy="274320"/>
          </a:xfrm>
          <a:prstGeom prst="rect">
            <a:avLst/>
          </a:prstGeom>
          <a:solidFill>
            <a:srgbClr val="F0F4F8"/>
          </a:solidFill>
          <a:ln w="12700">
            <a:solidFill>
              <a:srgbClr val="D0DCE8"/>
            </a:solidFill>
            <a:prstDash val="solid"/>
          </a:ln>
        </p:spPr>
      </p:sp>
      <p:sp>
        <p:nvSpPr>
          <p:cNvPr id="46" name="Text 44"/>
          <p:cNvSpPr/>
          <p:nvPr/>
        </p:nvSpPr>
        <p:spPr>
          <a:xfrm>
            <a:off x="457200" y="4078224"/>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Video Processing</a:t>
            </a:r>
            <a:endParaRPr lang="en-US" sz="1100" dirty="0"/>
          </a:p>
        </p:txBody>
      </p:sp>
      <p:sp>
        <p:nvSpPr>
          <p:cNvPr id="47" name="Shape 45"/>
          <p:cNvSpPr/>
          <p:nvPr/>
        </p:nvSpPr>
        <p:spPr>
          <a:xfrm>
            <a:off x="384048" y="4407408"/>
            <a:ext cx="2578608" cy="274320"/>
          </a:xfrm>
          <a:prstGeom prst="rect">
            <a:avLst/>
          </a:prstGeom>
          <a:solidFill>
            <a:srgbClr val="EBF5FB"/>
          </a:solidFill>
          <a:ln w="12700">
            <a:solidFill>
              <a:srgbClr val="D0DCE8"/>
            </a:solidFill>
            <a:prstDash val="solid"/>
          </a:ln>
        </p:spPr>
      </p:sp>
      <p:sp>
        <p:nvSpPr>
          <p:cNvPr id="48" name="Text 46"/>
          <p:cNvSpPr/>
          <p:nvPr/>
        </p:nvSpPr>
        <p:spPr>
          <a:xfrm>
            <a:off x="457200" y="4425696"/>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JSON Data Exchange</a:t>
            </a:r>
            <a:endParaRPr lang="en-US" sz="1100" dirty="0"/>
          </a:p>
        </p:txBody>
      </p:sp>
      <p:sp>
        <p:nvSpPr>
          <p:cNvPr id="49" name="Shape 47"/>
          <p:cNvSpPr/>
          <p:nvPr/>
        </p:nvSpPr>
        <p:spPr>
          <a:xfrm>
            <a:off x="3172968" y="2862072"/>
            <a:ext cx="2788920" cy="1975104"/>
          </a:xfrm>
          <a:prstGeom prst="rect">
            <a:avLst/>
          </a:prstGeom>
          <a:solidFill>
            <a:srgbClr val="F8FAFB"/>
          </a:solidFill>
          <a:ln w="12700">
            <a:solidFill>
              <a:srgbClr val="CBD5E0"/>
            </a:solidFill>
            <a:prstDash val="solid"/>
          </a:ln>
        </p:spPr>
      </p:sp>
      <p:sp>
        <p:nvSpPr>
          <p:cNvPr id="50" name="Shape 48"/>
          <p:cNvSpPr/>
          <p:nvPr/>
        </p:nvSpPr>
        <p:spPr>
          <a:xfrm>
            <a:off x="3172968" y="2862072"/>
            <a:ext cx="2788920" cy="438912"/>
          </a:xfrm>
          <a:prstGeom prst="rect">
            <a:avLst/>
          </a:prstGeom>
          <a:solidFill>
            <a:srgbClr val="27AE60"/>
          </a:solidFill>
          <a:ln w="12700">
            <a:solidFill>
              <a:srgbClr val="27AE60"/>
            </a:solidFill>
            <a:prstDash val="solid"/>
          </a:ln>
        </p:spPr>
      </p:sp>
      <p:sp>
        <p:nvSpPr>
          <p:cNvPr id="51" name="Text 49"/>
          <p:cNvSpPr/>
          <p:nvPr/>
        </p:nvSpPr>
        <p:spPr>
          <a:xfrm>
            <a:off x="3264408" y="2935224"/>
            <a:ext cx="260604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Database / Cloud</a:t>
            </a:r>
            <a:endParaRPr lang="en-US" sz="1200" dirty="0"/>
          </a:p>
        </p:txBody>
      </p:sp>
      <p:sp>
        <p:nvSpPr>
          <p:cNvPr id="52" name="Shape 50"/>
          <p:cNvSpPr/>
          <p:nvPr/>
        </p:nvSpPr>
        <p:spPr>
          <a:xfrm>
            <a:off x="3282696" y="3364992"/>
            <a:ext cx="2578608" cy="274320"/>
          </a:xfrm>
          <a:prstGeom prst="rect">
            <a:avLst/>
          </a:prstGeom>
          <a:solidFill>
            <a:srgbClr val="F0F4F8"/>
          </a:solidFill>
          <a:ln w="12700">
            <a:solidFill>
              <a:srgbClr val="D0DCE8"/>
            </a:solidFill>
            <a:prstDash val="solid"/>
          </a:ln>
        </p:spPr>
      </p:sp>
      <p:sp>
        <p:nvSpPr>
          <p:cNvPr id="53" name="Text 51"/>
          <p:cNvSpPr/>
          <p:nvPr/>
        </p:nvSpPr>
        <p:spPr>
          <a:xfrm>
            <a:off x="3355848" y="3383280"/>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Firebase Realtime DB</a:t>
            </a:r>
            <a:endParaRPr lang="en-US" sz="1100" dirty="0"/>
          </a:p>
        </p:txBody>
      </p:sp>
      <p:sp>
        <p:nvSpPr>
          <p:cNvPr id="54" name="Shape 52"/>
          <p:cNvSpPr/>
          <p:nvPr/>
        </p:nvSpPr>
        <p:spPr>
          <a:xfrm>
            <a:off x="3282696" y="3712464"/>
            <a:ext cx="2578608" cy="274320"/>
          </a:xfrm>
          <a:prstGeom prst="rect">
            <a:avLst/>
          </a:prstGeom>
          <a:solidFill>
            <a:srgbClr val="EBF5FB"/>
          </a:solidFill>
          <a:ln w="12700">
            <a:solidFill>
              <a:srgbClr val="D0DCE8"/>
            </a:solidFill>
            <a:prstDash val="solid"/>
          </a:ln>
        </p:spPr>
      </p:sp>
      <p:sp>
        <p:nvSpPr>
          <p:cNvPr id="55" name="Text 53"/>
          <p:cNvSpPr/>
          <p:nvPr/>
        </p:nvSpPr>
        <p:spPr>
          <a:xfrm>
            <a:off x="3355848" y="3730752"/>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MySQL</a:t>
            </a:r>
            <a:endParaRPr lang="en-US" sz="1100" dirty="0"/>
          </a:p>
        </p:txBody>
      </p:sp>
      <p:sp>
        <p:nvSpPr>
          <p:cNvPr id="56" name="Shape 54"/>
          <p:cNvSpPr/>
          <p:nvPr/>
        </p:nvSpPr>
        <p:spPr>
          <a:xfrm>
            <a:off x="3282696" y="4059936"/>
            <a:ext cx="2578608" cy="274320"/>
          </a:xfrm>
          <a:prstGeom prst="rect">
            <a:avLst/>
          </a:prstGeom>
          <a:solidFill>
            <a:srgbClr val="F0F4F8"/>
          </a:solidFill>
          <a:ln w="12700">
            <a:solidFill>
              <a:srgbClr val="D0DCE8"/>
            </a:solidFill>
            <a:prstDash val="solid"/>
          </a:ln>
        </p:spPr>
      </p:sp>
      <p:sp>
        <p:nvSpPr>
          <p:cNvPr id="57" name="Text 55"/>
          <p:cNvSpPr/>
          <p:nvPr/>
        </p:nvSpPr>
        <p:spPr>
          <a:xfrm>
            <a:off x="3355848" y="4078224"/>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Cloud Storage</a:t>
            </a:r>
            <a:endParaRPr lang="en-US" sz="1100" dirty="0"/>
          </a:p>
        </p:txBody>
      </p:sp>
      <p:sp>
        <p:nvSpPr>
          <p:cNvPr id="58" name="Shape 56"/>
          <p:cNvSpPr/>
          <p:nvPr/>
        </p:nvSpPr>
        <p:spPr>
          <a:xfrm>
            <a:off x="3282696" y="4407408"/>
            <a:ext cx="2578608" cy="274320"/>
          </a:xfrm>
          <a:prstGeom prst="rect">
            <a:avLst/>
          </a:prstGeom>
          <a:solidFill>
            <a:srgbClr val="EBF5FB"/>
          </a:solidFill>
          <a:ln w="12700">
            <a:solidFill>
              <a:srgbClr val="D0DCE8"/>
            </a:solidFill>
            <a:prstDash val="solid"/>
          </a:ln>
        </p:spPr>
      </p:sp>
      <p:sp>
        <p:nvSpPr>
          <p:cNvPr id="59" name="Text 57"/>
          <p:cNvSpPr/>
          <p:nvPr/>
        </p:nvSpPr>
        <p:spPr>
          <a:xfrm>
            <a:off x="3355848" y="4425696"/>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Firebase Auth</a:t>
            </a:r>
            <a:endParaRPr lang="en-US" sz="1100" dirty="0"/>
          </a:p>
        </p:txBody>
      </p:sp>
      <p:sp>
        <p:nvSpPr>
          <p:cNvPr id="60" name="Shape 58"/>
          <p:cNvSpPr/>
          <p:nvPr/>
        </p:nvSpPr>
        <p:spPr>
          <a:xfrm>
            <a:off x="6071616" y="2862072"/>
            <a:ext cx="2788920" cy="1975104"/>
          </a:xfrm>
          <a:prstGeom prst="rect">
            <a:avLst/>
          </a:prstGeom>
          <a:solidFill>
            <a:srgbClr val="F8FAFB"/>
          </a:solidFill>
          <a:ln w="12700">
            <a:solidFill>
              <a:srgbClr val="CBD5E0"/>
            </a:solidFill>
            <a:prstDash val="solid"/>
          </a:ln>
        </p:spPr>
      </p:sp>
      <p:sp>
        <p:nvSpPr>
          <p:cNvPr id="61" name="Shape 59"/>
          <p:cNvSpPr/>
          <p:nvPr/>
        </p:nvSpPr>
        <p:spPr>
          <a:xfrm>
            <a:off x="6071616" y="2862072"/>
            <a:ext cx="2788920" cy="438912"/>
          </a:xfrm>
          <a:prstGeom prst="rect">
            <a:avLst/>
          </a:prstGeom>
          <a:solidFill>
            <a:srgbClr val="E67E22"/>
          </a:solidFill>
          <a:ln w="12700">
            <a:solidFill>
              <a:srgbClr val="E67E22"/>
            </a:solidFill>
            <a:prstDash val="solid"/>
          </a:ln>
        </p:spPr>
      </p:sp>
      <p:sp>
        <p:nvSpPr>
          <p:cNvPr id="62" name="Text 60"/>
          <p:cNvSpPr/>
          <p:nvPr/>
        </p:nvSpPr>
        <p:spPr>
          <a:xfrm>
            <a:off x="6163056" y="2935224"/>
            <a:ext cx="260604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Tools &amp; DevOps</a:t>
            </a:r>
            <a:endParaRPr lang="en-US" sz="1200" dirty="0"/>
          </a:p>
        </p:txBody>
      </p:sp>
      <p:sp>
        <p:nvSpPr>
          <p:cNvPr id="63" name="Shape 61"/>
          <p:cNvSpPr/>
          <p:nvPr/>
        </p:nvSpPr>
        <p:spPr>
          <a:xfrm>
            <a:off x="6181344" y="3364992"/>
            <a:ext cx="2578608" cy="274320"/>
          </a:xfrm>
          <a:prstGeom prst="rect">
            <a:avLst/>
          </a:prstGeom>
          <a:solidFill>
            <a:srgbClr val="F0F4F8"/>
          </a:solidFill>
          <a:ln w="12700">
            <a:solidFill>
              <a:srgbClr val="D0DCE8"/>
            </a:solidFill>
            <a:prstDash val="solid"/>
          </a:ln>
        </p:spPr>
      </p:sp>
      <p:sp>
        <p:nvSpPr>
          <p:cNvPr id="64" name="Text 62"/>
          <p:cNvSpPr/>
          <p:nvPr/>
        </p:nvSpPr>
        <p:spPr>
          <a:xfrm>
            <a:off x="6254496" y="3383280"/>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Git / GitHub</a:t>
            </a:r>
            <a:endParaRPr lang="en-US" sz="1100" dirty="0"/>
          </a:p>
        </p:txBody>
      </p:sp>
      <p:sp>
        <p:nvSpPr>
          <p:cNvPr id="65" name="Shape 63"/>
          <p:cNvSpPr/>
          <p:nvPr/>
        </p:nvSpPr>
        <p:spPr>
          <a:xfrm>
            <a:off x="6181344" y="3712464"/>
            <a:ext cx="2578608" cy="274320"/>
          </a:xfrm>
          <a:prstGeom prst="rect">
            <a:avLst/>
          </a:prstGeom>
          <a:solidFill>
            <a:srgbClr val="EBF5FB"/>
          </a:solidFill>
          <a:ln w="12700">
            <a:solidFill>
              <a:srgbClr val="D0DCE8"/>
            </a:solidFill>
            <a:prstDash val="solid"/>
          </a:ln>
        </p:spPr>
      </p:sp>
      <p:sp>
        <p:nvSpPr>
          <p:cNvPr id="66" name="Text 64"/>
          <p:cNvSpPr/>
          <p:nvPr/>
        </p:nvSpPr>
        <p:spPr>
          <a:xfrm>
            <a:off x="6254496" y="3730752"/>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Jupyter Notebook</a:t>
            </a:r>
            <a:endParaRPr lang="en-US" sz="1100" dirty="0"/>
          </a:p>
        </p:txBody>
      </p:sp>
      <p:sp>
        <p:nvSpPr>
          <p:cNvPr id="67" name="Shape 65"/>
          <p:cNvSpPr/>
          <p:nvPr/>
        </p:nvSpPr>
        <p:spPr>
          <a:xfrm>
            <a:off x="6181344" y="4059936"/>
            <a:ext cx="2578608" cy="274320"/>
          </a:xfrm>
          <a:prstGeom prst="rect">
            <a:avLst/>
          </a:prstGeom>
          <a:solidFill>
            <a:srgbClr val="F0F4F8"/>
          </a:solidFill>
          <a:ln w="12700">
            <a:solidFill>
              <a:srgbClr val="D0DCE8"/>
            </a:solidFill>
            <a:prstDash val="solid"/>
          </a:ln>
        </p:spPr>
      </p:sp>
      <p:sp>
        <p:nvSpPr>
          <p:cNvPr id="68" name="Text 66"/>
          <p:cNvSpPr/>
          <p:nvPr/>
        </p:nvSpPr>
        <p:spPr>
          <a:xfrm>
            <a:off x="6254496" y="4078224"/>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Google Colab</a:t>
            </a:r>
            <a:endParaRPr lang="en-US" sz="1100" dirty="0"/>
          </a:p>
        </p:txBody>
      </p:sp>
      <p:sp>
        <p:nvSpPr>
          <p:cNvPr id="69" name="Shape 67"/>
          <p:cNvSpPr/>
          <p:nvPr/>
        </p:nvSpPr>
        <p:spPr>
          <a:xfrm>
            <a:off x="6181344" y="4407408"/>
            <a:ext cx="2578608" cy="274320"/>
          </a:xfrm>
          <a:prstGeom prst="rect">
            <a:avLst/>
          </a:prstGeom>
          <a:solidFill>
            <a:srgbClr val="EBF5FB"/>
          </a:solidFill>
          <a:ln w="12700">
            <a:solidFill>
              <a:srgbClr val="D0DCE8"/>
            </a:solidFill>
            <a:prstDash val="solid"/>
          </a:ln>
        </p:spPr>
      </p:sp>
      <p:sp>
        <p:nvSpPr>
          <p:cNvPr id="70" name="Text 68"/>
          <p:cNvSpPr/>
          <p:nvPr/>
        </p:nvSpPr>
        <p:spPr>
          <a:xfrm>
            <a:off x="6254496" y="4425696"/>
            <a:ext cx="2468880" cy="237744"/>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 Postman (API Testing)</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Database Design</a:t>
            </a:r>
            <a:endParaRPr lang="en-US" sz="2200" dirty="0"/>
          </a:p>
        </p:txBody>
      </p:sp>
      <p:sp>
        <p:nvSpPr>
          <p:cNvPr id="5" name="Text 3"/>
          <p:cNvSpPr/>
          <p:nvPr/>
        </p:nvSpPr>
        <p:spPr>
          <a:xfrm>
            <a:off x="365760" y="749808"/>
            <a:ext cx="8412480" cy="274320"/>
          </a:xfrm>
          <a:prstGeom prst="rect">
            <a:avLst/>
          </a:prstGeom>
          <a:noFill/>
          <a:ln/>
        </p:spPr>
        <p:txBody>
          <a:bodyPr wrap="square" rtlCol="0" anchor="ctr"/>
          <a:lstStyle/>
          <a:p>
            <a:pPr marL="0" indent="0">
              <a:buNone/>
            </a:pPr>
            <a:r>
              <a:rPr lang="en-US" sz="1150" i="1" dirty="0">
                <a:solidFill>
                  <a:srgbClr val="4A6580"/>
                </a:solidFill>
                <a:latin typeface="Calibri" pitchFamily="34" charset="0"/>
                <a:ea typeface="Calibri" pitchFamily="34" charset="-122"/>
                <a:cs typeface="Calibri" pitchFamily="34" charset="-120"/>
              </a:rPr>
              <a:t>Relational structure: Player → Video → Analysis → Report (one-to-many relationships)</a:t>
            </a:r>
            <a:endParaRPr lang="en-US" sz="1150" dirty="0"/>
          </a:p>
        </p:txBody>
      </p:sp>
      <p:sp>
        <p:nvSpPr>
          <p:cNvPr id="6" name="Shape 4"/>
          <p:cNvSpPr/>
          <p:nvPr/>
        </p:nvSpPr>
        <p:spPr>
          <a:xfrm>
            <a:off x="320040" y="1115568"/>
            <a:ext cx="1965960" cy="3749040"/>
          </a:xfrm>
          <a:prstGeom prst="rect">
            <a:avLst/>
          </a:prstGeom>
          <a:solidFill>
            <a:srgbClr val="F8FAFB"/>
          </a:solidFill>
          <a:ln w="19050">
            <a:solidFill>
              <a:srgbClr val="1A3A5C"/>
            </a:solidFill>
            <a:prstDash val="solid"/>
          </a:ln>
        </p:spPr>
      </p:sp>
      <p:sp>
        <p:nvSpPr>
          <p:cNvPr id="7" name="Shape 5"/>
          <p:cNvSpPr/>
          <p:nvPr/>
        </p:nvSpPr>
        <p:spPr>
          <a:xfrm>
            <a:off x="320040" y="1115568"/>
            <a:ext cx="1965960" cy="347472"/>
          </a:xfrm>
          <a:prstGeom prst="rect">
            <a:avLst/>
          </a:prstGeom>
          <a:solidFill>
            <a:srgbClr val="1A3A5C"/>
          </a:solidFill>
          <a:ln w="12700">
            <a:solidFill>
              <a:srgbClr val="1A3A5C"/>
            </a:solidFill>
            <a:prstDash val="solid"/>
          </a:ln>
        </p:spPr>
      </p:sp>
      <p:sp>
        <p:nvSpPr>
          <p:cNvPr id="8" name="Text 6"/>
          <p:cNvSpPr/>
          <p:nvPr/>
        </p:nvSpPr>
        <p:spPr>
          <a:xfrm>
            <a:off x="320040" y="1115568"/>
            <a:ext cx="19659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Player</a:t>
            </a:r>
            <a:endParaRPr lang="en-US" sz="1200" dirty="0"/>
          </a:p>
        </p:txBody>
      </p:sp>
      <p:sp>
        <p:nvSpPr>
          <p:cNvPr id="9" name="Shape 7"/>
          <p:cNvSpPr/>
          <p:nvPr/>
        </p:nvSpPr>
        <p:spPr>
          <a:xfrm>
            <a:off x="320040" y="1463040"/>
            <a:ext cx="1965960" cy="256032"/>
          </a:xfrm>
          <a:prstGeom prst="rect">
            <a:avLst/>
          </a:prstGeom>
          <a:solidFill>
            <a:srgbClr val="E8F0F8"/>
          </a:solidFill>
          <a:ln w="12700">
            <a:solidFill>
              <a:srgbClr val="CBD5E0"/>
            </a:solidFill>
            <a:prstDash val="solid"/>
          </a:ln>
        </p:spPr>
      </p:sp>
      <p:sp>
        <p:nvSpPr>
          <p:cNvPr id="10" name="Text 8"/>
          <p:cNvSpPr/>
          <p:nvPr/>
        </p:nvSpPr>
        <p:spPr>
          <a:xfrm>
            <a:off x="393192" y="1481328"/>
            <a:ext cx="1819656" cy="201168"/>
          </a:xfrm>
          <a:prstGeom prst="rect">
            <a:avLst/>
          </a:prstGeom>
          <a:noFill/>
          <a:ln/>
        </p:spPr>
        <p:txBody>
          <a:bodyPr wrap="square" rtlCol="0" anchor="ctr"/>
          <a:lstStyle/>
          <a:p>
            <a:pPr marL="0" indent="0">
              <a:buNone/>
            </a:pPr>
            <a:r>
              <a:rPr lang="en-US" sz="950" b="1" i="1" dirty="0">
                <a:solidFill>
                  <a:srgbClr val="1A3A5C"/>
                </a:solidFill>
                <a:latin typeface="Calibri" pitchFamily="34" charset="0"/>
                <a:ea typeface="Calibri" pitchFamily="34" charset="-122"/>
                <a:cs typeface="Calibri" pitchFamily="34" charset="-120"/>
              </a:rPr>
              <a:t>Attributes</a:t>
            </a:r>
            <a:endParaRPr lang="en-US" sz="950" dirty="0"/>
          </a:p>
        </p:txBody>
      </p:sp>
      <p:sp>
        <p:nvSpPr>
          <p:cNvPr id="11" name="Text 9"/>
          <p:cNvSpPr/>
          <p:nvPr/>
        </p:nvSpPr>
        <p:spPr>
          <a:xfrm>
            <a:off x="320040" y="1755648"/>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playerId: String (PK)</a:t>
            </a:r>
            <a:endParaRPr lang="en-US" sz="950" dirty="0"/>
          </a:p>
        </p:txBody>
      </p:sp>
      <p:sp>
        <p:nvSpPr>
          <p:cNvPr id="12" name="Shape 10"/>
          <p:cNvSpPr/>
          <p:nvPr/>
        </p:nvSpPr>
        <p:spPr>
          <a:xfrm>
            <a:off x="320040" y="2020824"/>
            <a:ext cx="1965960" cy="0"/>
          </a:xfrm>
          <a:prstGeom prst="line">
            <a:avLst/>
          </a:prstGeom>
          <a:noFill/>
          <a:ln w="6350">
            <a:solidFill>
              <a:srgbClr val="E0E8F0"/>
            </a:solidFill>
            <a:prstDash val="solid"/>
          </a:ln>
        </p:spPr>
      </p:sp>
      <p:sp>
        <p:nvSpPr>
          <p:cNvPr id="13" name="Text 11"/>
          <p:cNvSpPr/>
          <p:nvPr/>
        </p:nvSpPr>
        <p:spPr>
          <a:xfrm>
            <a:off x="320040" y="2048256"/>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name: String</a:t>
            </a:r>
            <a:endParaRPr lang="en-US" sz="950" dirty="0"/>
          </a:p>
        </p:txBody>
      </p:sp>
      <p:sp>
        <p:nvSpPr>
          <p:cNvPr id="14" name="Shape 12"/>
          <p:cNvSpPr/>
          <p:nvPr/>
        </p:nvSpPr>
        <p:spPr>
          <a:xfrm>
            <a:off x="320040" y="2313432"/>
            <a:ext cx="1965960" cy="0"/>
          </a:xfrm>
          <a:prstGeom prst="line">
            <a:avLst/>
          </a:prstGeom>
          <a:noFill/>
          <a:ln w="6350">
            <a:solidFill>
              <a:srgbClr val="E0E8F0"/>
            </a:solidFill>
            <a:prstDash val="solid"/>
          </a:ln>
        </p:spPr>
      </p:sp>
      <p:sp>
        <p:nvSpPr>
          <p:cNvPr id="15" name="Text 13"/>
          <p:cNvSpPr/>
          <p:nvPr/>
        </p:nvSpPr>
        <p:spPr>
          <a:xfrm>
            <a:off x="320040" y="2340864"/>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age: Int</a:t>
            </a:r>
            <a:endParaRPr lang="en-US" sz="950" dirty="0"/>
          </a:p>
        </p:txBody>
      </p:sp>
      <p:sp>
        <p:nvSpPr>
          <p:cNvPr id="16" name="Shape 14"/>
          <p:cNvSpPr/>
          <p:nvPr/>
        </p:nvSpPr>
        <p:spPr>
          <a:xfrm>
            <a:off x="320040" y="2606040"/>
            <a:ext cx="1965960" cy="0"/>
          </a:xfrm>
          <a:prstGeom prst="line">
            <a:avLst/>
          </a:prstGeom>
          <a:noFill/>
          <a:ln w="6350">
            <a:solidFill>
              <a:srgbClr val="E0E8F0"/>
            </a:solidFill>
            <a:prstDash val="solid"/>
          </a:ln>
        </p:spPr>
      </p:sp>
      <p:sp>
        <p:nvSpPr>
          <p:cNvPr id="17" name="Text 15"/>
          <p:cNvSpPr/>
          <p:nvPr/>
        </p:nvSpPr>
        <p:spPr>
          <a:xfrm>
            <a:off x="320040" y="2633472"/>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sport: String</a:t>
            </a:r>
            <a:endParaRPr lang="en-US" sz="950" dirty="0"/>
          </a:p>
        </p:txBody>
      </p:sp>
      <p:sp>
        <p:nvSpPr>
          <p:cNvPr id="18" name="Shape 16"/>
          <p:cNvSpPr/>
          <p:nvPr/>
        </p:nvSpPr>
        <p:spPr>
          <a:xfrm>
            <a:off x="320040" y="2898648"/>
            <a:ext cx="1965960" cy="0"/>
          </a:xfrm>
          <a:prstGeom prst="line">
            <a:avLst/>
          </a:prstGeom>
          <a:noFill/>
          <a:ln w="6350">
            <a:solidFill>
              <a:srgbClr val="E0E8F0"/>
            </a:solidFill>
            <a:prstDash val="solid"/>
          </a:ln>
        </p:spPr>
      </p:sp>
      <p:sp>
        <p:nvSpPr>
          <p:cNvPr id="19" name="Text 17"/>
          <p:cNvSpPr/>
          <p:nvPr/>
        </p:nvSpPr>
        <p:spPr>
          <a:xfrm>
            <a:off x="320040" y="2926080"/>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email: String</a:t>
            </a:r>
            <a:endParaRPr lang="en-US" sz="950" dirty="0"/>
          </a:p>
        </p:txBody>
      </p:sp>
      <p:sp>
        <p:nvSpPr>
          <p:cNvPr id="20" name="Shape 18"/>
          <p:cNvSpPr/>
          <p:nvPr/>
        </p:nvSpPr>
        <p:spPr>
          <a:xfrm>
            <a:off x="320040" y="3218688"/>
            <a:ext cx="1965960" cy="0"/>
          </a:xfrm>
          <a:prstGeom prst="line">
            <a:avLst/>
          </a:prstGeom>
          <a:noFill/>
          <a:ln w="12700">
            <a:solidFill>
              <a:srgbClr val="1A3A5C"/>
            </a:solidFill>
            <a:prstDash val="solid"/>
          </a:ln>
        </p:spPr>
      </p:sp>
      <p:sp>
        <p:nvSpPr>
          <p:cNvPr id="21" name="Shape 19"/>
          <p:cNvSpPr/>
          <p:nvPr/>
        </p:nvSpPr>
        <p:spPr>
          <a:xfrm>
            <a:off x="320040" y="3218688"/>
            <a:ext cx="1965960" cy="256032"/>
          </a:xfrm>
          <a:prstGeom prst="rect">
            <a:avLst/>
          </a:prstGeom>
          <a:solidFill>
            <a:srgbClr val="EBF5FB"/>
          </a:solidFill>
          <a:ln w="12700">
            <a:solidFill>
              <a:srgbClr val="CBD5E0"/>
            </a:solidFill>
            <a:prstDash val="solid"/>
          </a:ln>
        </p:spPr>
      </p:sp>
      <p:sp>
        <p:nvSpPr>
          <p:cNvPr id="22" name="Text 20"/>
          <p:cNvSpPr/>
          <p:nvPr/>
        </p:nvSpPr>
        <p:spPr>
          <a:xfrm>
            <a:off x="393192" y="3255264"/>
            <a:ext cx="1819656" cy="182880"/>
          </a:xfrm>
          <a:prstGeom prst="rect">
            <a:avLst/>
          </a:prstGeom>
          <a:noFill/>
          <a:ln/>
        </p:spPr>
        <p:txBody>
          <a:bodyPr wrap="square" rtlCol="0" anchor="ctr"/>
          <a:lstStyle/>
          <a:p>
            <a:pPr marL="0" indent="0">
              <a:buNone/>
            </a:pPr>
            <a:r>
              <a:rPr lang="en-US" sz="950" b="1" i="1" dirty="0">
                <a:solidFill>
                  <a:srgbClr val="028090"/>
                </a:solidFill>
                <a:latin typeface="Calibri" pitchFamily="34" charset="0"/>
                <a:ea typeface="Calibri" pitchFamily="34" charset="-122"/>
                <a:cs typeface="Calibri" pitchFamily="34" charset="-120"/>
              </a:rPr>
              <a:t>Methods</a:t>
            </a:r>
            <a:endParaRPr lang="en-US" sz="950" dirty="0"/>
          </a:p>
        </p:txBody>
      </p:sp>
      <p:sp>
        <p:nvSpPr>
          <p:cNvPr id="23" name="Text 21"/>
          <p:cNvSpPr/>
          <p:nvPr/>
        </p:nvSpPr>
        <p:spPr>
          <a:xfrm>
            <a:off x="320040" y="3493008"/>
            <a:ext cx="1965960" cy="228600"/>
          </a:xfrm>
          <a:prstGeom prst="rect">
            <a:avLst/>
          </a:prstGeom>
          <a:noFill/>
          <a:ln/>
        </p:spPr>
        <p:txBody>
          <a:bodyPr wrap="square" rtlCol="0" anchor="ctr"/>
          <a:lstStyle/>
          <a:p>
            <a:pPr marL="0" indent="0">
              <a:buNone/>
            </a:pPr>
            <a:r>
              <a:rPr lang="en-US" sz="900" dirty="0">
                <a:solidFill>
                  <a:srgbClr val="1A2E40"/>
                </a:solidFill>
                <a:latin typeface="Calibri" pitchFamily="34" charset="0"/>
                <a:ea typeface="Calibri" pitchFamily="34" charset="-122"/>
                <a:cs typeface="Calibri" pitchFamily="34" charset="-120"/>
              </a:rPr>
              <a:t>  login()</a:t>
            </a:r>
            <a:endParaRPr lang="en-US" sz="900" dirty="0"/>
          </a:p>
        </p:txBody>
      </p:sp>
      <p:sp>
        <p:nvSpPr>
          <p:cNvPr id="24" name="Text 22"/>
          <p:cNvSpPr/>
          <p:nvPr/>
        </p:nvSpPr>
        <p:spPr>
          <a:xfrm>
            <a:off x="320040" y="3749040"/>
            <a:ext cx="1965960" cy="228600"/>
          </a:xfrm>
          <a:prstGeom prst="rect">
            <a:avLst/>
          </a:prstGeom>
          <a:noFill/>
          <a:ln/>
        </p:spPr>
        <p:txBody>
          <a:bodyPr wrap="square" rtlCol="0" anchor="ctr"/>
          <a:lstStyle/>
          <a:p>
            <a:pPr marL="0" indent="0">
              <a:buNone/>
            </a:pPr>
            <a:r>
              <a:rPr lang="en-US" sz="900" dirty="0">
                <a:solidFill>
                  <a:srgbClr val="1A2E40"/>
                </a:solidFill>
                <a:latin typeface="Calibri" pitchFamily="34" charset="0"/>
                <a:ea typeface="Calibri" pitchFamily="34" charset="-122"/>
                <a:cs typeface="Calibri" pitchFamily="34" charset="-120"/>
              </a:rPr>
              <a:t>  uploadVideo()</a:t>
            </a:r>
            <a:endParaRPr lang="en-US" sz="900" dirty="0"/>
          </a:p>
        </p:txBody>
      </p:sp>
      <p:sp>
        <p:nvSpPr>
          <p:cNvPr id="25" name="Text 23"/>
          <p:cNvSpPr/>
          <p:nvPr/>
        </p:nvSpPr>
        <p:spPr>
          <a:xfrm>
            <a:off x="320040" y="4005072"/>
            <a:ext cx="1965960" cy="228600"/>
          </a:xfrm>
          <a:prstGeom prst="rect">
            <a:avLst/>
          </a:prstGeom>
          <a:noFill/>
          <a:ln/>
        </p:spPr>
        <p:txBody>
          <a:bodyPr wrap="square" rtlCol="0" anchor="ctr"/>
          <a:lstStyle/>
          <a:p>
            <a:pPr marL="0" indent="0">
              <a:buNone/>
            </a:pPr>
            <a:r>
              <a:rPr lang="en-US" sz="900" dirty="0">
                <a:solidFill>
                  <a:srgbClr val="1A2E40"/>
                </a:solidFill>
                <a:latin typeface="Calibri" pitchFamily="34" charset="0"/>
                <a:ea typeface="Calibri" pitchFamily="34" charset="-122"/>
                <a:cs typeface="Calibri" pitchFamily="34" charset="-120"/>
              </a:rPr>
              <a:t>  viewHistory()</a:t>
            </a:r>
            <a:endParaRPr lang="en-US" sz="900" dirty="0"/>
          </a:p>
        </p:txBody>
      </p:sp>
      <p:sp>
        <p:nvSpPr>
          <p:cNvPr id="26" name="Text 24"/>
          <p:cNvSpPr/>
          <p:nvPr/>
        </p:nvSpPr>
        <p:spPr>
          <a:xfrm>
            <a:off x="2304288" y="2880360"/>
            <a:ext cx="228600" cy="228600"/>
          </a:xfrm>
          <a:prstGeom prst="rect">
            <a:avLst/>
          </a:prstGeom>
          <a:noFill/>
          <a:ln/>
        </p:spPr>
        <p:txBody>
          <a:bodyPr wrap="square" rtlCol="0" anchor="ctr"/>
          <a:lstStyle/>
          <a:p>
            <a:pPr marL="0" indent="0" algn="ctr">
              <a:buNone/>
            </a:pPr>
            <a:r>
              <a:rPr lang="en-US" sz="800" dirty="0">
                <a:solidFill>
                  <a:srgbClr val="4A6580"/>
                </a:solidFill>
                <a:latin typeface="Calibri" pitchFamily="34" charset="0"/>
                <a:ea typeface="Calibri" pitchFamily="34" charset="-122"/>
                <a:cs typeface="Calibri" pitchFamily="34" charset="-120"/>
              </a:rPr>
              <a:t>1:N →</a:t>
            </a:r>
            <a:endParaRPr lang="en-US" sz="800" dirty="0"/>
          </a:p>
        </p:txBody>
      </p:sp>
      <p:sp>
        <p:nvSpPr>
          <p:cNvPr id="27" name="Shape 25"/>
          <p:cNvSpPr/>
          <p:nvPr/>
        </p:nvSpPr>
        <p:spPr>
          <a:xfrm>
            <a:off x="2468880" y="1115568"/>
            <a:ext cx="1965960" cy="3749040"/>
          </a:xfrm>
          <a:prstGeom prst="rect">
            <a:avLst/>
          </a:prstGeom>
          <a:solidFill>
            <a:srgbClr val="F8FAFB"/>
          </a:solidFill>
          <a:ln w="19050">
            <a:solidFill>
              <a:srgbClr val="028090"/>
            </a:solidFill>
            <a:prstDash val="solid"/>
          </a:ln>
        </p:spPr>
      </p:sp>
      <p:sp>
        <p:nvSpPr>
          <p:cNvPr id="28" name="Shape 26"/>
          <p:cNvSpPr/>
          <p:nvPr/>
        </p:nvSpPr>
        <p:spPr>
          <a:xfrm>
            <a:off x="2468880" y="1115568"/>
            <a:ext cx="1965960" cy="347472"/>
          </a:xfrm>
          <a:prstGeom prst="rect">
            <a:avLst/>
          </a:prstGeom>
          <a:solidFill>
            <a:srgbClr val="028090"/>
          </a:solidFill>
          <a:ln w="12700">
            <a:solidFill>
              <a:srgbClr val="028090"/>
            </a:solidFill>
            <a:prstDash val="solid"/>
          </a:ln>
        </p:spPr>
      </p:sp>
      <p:sp>
        <p:nvSpPr>
          <p:cNvPr id="29" name="Text 27"/>
          <p:cNvSpPr/>
          <p:nvPr/>
        </p:nvSpPr>
        <p:spPr>
          <a:xfrm>
            <a:off x="2468880" y="1115568"/>
            <a:ext cx="19659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Video</a:t>
            </a:r>
            <a:endParaRPr lang="en-US" sz="1200" dirty="0"/>
          </a:p>
        </p:txBody>
      </p:sp>
      <p:sp>
        <p:nvSpPr>
          <p:cNvPr id="30" name="Shape 28"/>
          <p:cNvSpPr/>
          <p:nvPr/>
        </p:nvSpPr>
        <p:spPr>
          <a:xfrm>
            <a:off x="2468880" y="1463040"/>
            <a:ext cx="1965960" cy="256032"/>
          </a:xfrm>
          <a:prstGeom prst="rect">
            <a:avLst/>
          </a:prstGeom>
          <a:solidFill>
            <a:srgbClr val="E8F0F8"/>
          </a:solidFill>
          <a:ln w="12700">
            <a:solidFill>
              <a:srgbClr val="CBD5E0"/>
            </a:solidFill>
            <a:prstDash val="solid"/>
          </a:ln>
        </p:spPr>
      </p:sp>
      <p:sp>
        <p:nvSpPr>
          <p:cNvPr id="31" name="Text 29"/>
          <p:cNvSpPr/>
          <p:nvPr/>
        </p:nvSpPr>
        <p:spPr>
          <a:xfrm>
            <a:off x="2542032" y="1481328"/>
            <a:ext cx="1819656" cy="201168"/>
          </a:xfrm>
          <a:prstGeom prst="rect">
            <a:avLst/>
          </a:prstGeom>
          <a:noFill/>
          <a:ln/>
        </p:spPr>
        <p:txBody>
          <a:bodyPr wrap="square" rtlCol="0" anchor="ctr"/>
          <a:lstStyle/>
          <a:p>
            <a:pPr marL="0" indent="0">
              <a:buNone/>
            </a:pPr>
            <a:r>
              <a:rPr lang="en-US" sz="950" b="1" i="1" dirty="0">
                <a:solidFill>
                  <a:srgbClr val="1A3A5C"/>
                </a:solidFill>
                <a:latin typeface="Calibri" pitchFamily="34" charset="0"/>
                <a:ea typeface="Calibri" pitchFamily="34" charset="-122"/>
                <a:cs typeface="Calibri" pitchFamily="34" charset="-120"/>
              </a:rPr>
              <a:t>Attributes</a:t>
            </a:r>
            <a:endParaRPr lang="en-US" sz="950" dirty="0"/>
          </a:p>
        </p:txBody>
      </p:sp>
      <p:sp>
        <p:nvSpPr>
          <p:cNvPr id="32" name="Text 30"/>
          <p:cNvSpPr/>
          <p:nvPr/>
        </p:nvSpPr>
        <p:spPr>
          <a:xfrm>
            <a:off x="2468880" y="1755648"/>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videoId: String (PK)</a:t>
            </a:r>
            <a:endParaRPr lang="en-US" sz="950" dirty="0"/>
          </a:p>
        </p:txBody>
      </p:sp>
      <p:sp>
        <p:nvSpPr>
          <p:cNvPr id="33" name="Shape 31"/>
          <p:cNvSpPr/>
          <p:nvPr/>
        </p:nvSpPr>
        <p:spPr>
          <a:xfrm>
            <a:off x="2468880" y="2020824"/>
            <a:ext cx="1965960" cy="0"/>
          </a:xfrm>
          <a:prstGeom prst="line">
            <a:avLst/>
          </a:prstGeom>
          <a:noFill/>
          <a:ln w="6350">
            <a:solidFill>
              <a:srgbClr val="E0E8F0"/>
            </a:solidFill>
            <a:prstDash val="solid"/>
          </a:ln>
        </p:spPr>
      </p:sp>
      <p:sp>
        <p:nvSpPr>
          <p:cNvPr id="34" name="Text 32"/>
          <p:cNvSpPr/>
          <p:nvPr/>
        </p:nvSpPr>
        <p:spPr>
          <a:xfrm>
            <a:off x="2468880" y="2048256"/>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playerId: String (FK)</a:t>
            </a:r>
            <a:endParaRPr lang="en-US" sz="950" dirty="0"/>
          </a:p>
        </p:txBody>
      </p:sp>
      <p:sp>
        <p:nvSpPr>
          <p:cNvPr id="35" name="Shape 33"/>
          <p:cNvSpPr/>
          <p:nvPr/>
        </p:nvSpPr>
        <p:spPr>
          <a:xfrm>
            <a:off x="2468880" y="2313432"/>
            <a:ext cx="1965960" cy="0"/>
          </a:xfrm>
          <a:prstGeom prst="line">
            <a:avLst/>
          </a:prstGeom>
          <a:noFill/>
          <a:ln w="6350">
            <a:solidFill>
              <a:srgbClr val="E0E8F0"/>
            </a:solidFill>
            <a:prstDash val="solid"/>
          </a:ln>
        </p:spPr>
      </p:sp>
      <p:sp>
        <p:nvSpPr>
          <p:cNvPr id="36" name="Text 34"/>
          <p:cNvSpPr/>
          <p:nvPr/>
        </p:nvSpPr>
        <p:spPr>
          <a:xfrm>
            <a:off x="2468880" y="2340864"/>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filePath: String</a:t>
            </a:r>
            <a:endParaRPr lang="en-US" sz="950" dirty="0"/>
          </a:p>
        </p:txBody>
      </p:sp>
      <p:sp>
        <p:nvSpPr>
          <p:cNvPr id="37" name="Shape 35"/>
          <p:cNvSpPr/>
          <p:nvPr/>
        </p:nvSpPr>
        <p:spPr>
          <a:xfrm>
            <a:off x="2468880" y="2606040"/>
            <a:ext cx="1965960" cy="0"/>
          </a:xfrm>
          <a:prstGeom prst="line">
            <a:avLst/>
          </a:prstGeom>
          <a:noFill/>
          <a:ln w="6350">
            <a:solidFill>
              <a:srgbClr val="E0E8F0"/>
            </a:solidFill>
            <a:prstDash val="solid"/>
          </a:ln>
        </p:spPr>
      </p:sp>
      <p:sp>
        <p:nvSpPr>
          <p:cNvPr id="38" name="Text 36"/>
          <p:cNvSpPr/>
          <p:nvPr/>
        </p:nvSpPr>
        <p:spPr>
          <a:xfrm>
            <a:off x="2468880" y="2633472"/>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format: String</a:t>
            </a:r>
            <a:endParaRPr lang="en-US" sz="950" dirty="0"/>
          </a:p>
        </p:txBody>
      </p:sp>
      <p:sp>
        <p:nvSpPr>
          <p:cNvPr id="39" name="Shape 37"/>
          <p:cNvSpPr/>
          <p:nvPr/>
        </p:nvSpPr>
        <p:spPr>
          <a:xfrm>
            <a:off x="2468880" y="2898648"/>
            <a:ext cx="1965960" cy="0"/>
          </a:xfrm>
          <a:prstGeom prst="line">
            <a:avLst/>
          </a:prstGeom>
          <a:noFill/>
          <a:ln w="6350">
            <a:solidFill>
              <a:srgbClr val="E0E8F0"/>
            </a:solidFill>
            <a:prstDash val="solid"/>
          </a:ln>
        </p:spPr>
      </p:sp>
      <p:sp>
        <p:nvSpPr>
          <p:cNvPr id="40" name="Text 38"/>
          <p:cNvSpPr/>
          <p:nvPr/>
        </p:nvSpPr>
        <p:spPr>
          <a:xfrm>
            <a:off x="2468880" y="2926080"/>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uploadDate: DateTime</a:t>
            </a:r>
            <a:endParaRPr lang="en-US" sz="950" dirty="0"/>
          </a:p>
        </p:txBody>
      </p:sp>
      <p:sp>
        <p:nvSpPr>
          <p:cNvPr id="41" name="Shape 39"/>
          <p:cNvSpPr/>
          <p:nvPr/>
        </p:nvSpPr>
        <p:spPr>
          <a:xfrm>
            <a:off x="2468880" y="3218688"/>
            <a:ext cx="1965960" cy="0"/>
          </a:xfrm>
          <a:prstGeom prst="line">
            <a:avLst/>
          </a:prstGeom>
          <a:noFill/>
          <a:ln w="12700">
            <a:solidFill>
              <a:srgbClr val="028090"/>
            </a:solidFill>
            <a:prstDash val="solid"/>
          </a:ln>
        </p:spPr>
      </p:sp>
      <p:sp>
        <p:nvSpPr>
          <p:cNvPr id="42" name="Shape 40"/>
          <p:cNvSpPr/>
          <p:nvPr/>
        </p:nvSpPr>
        <p:spPr>
          <a:xfrm>
            <a:off x="2468880" y="3218688"/>
            <a:ext cx="1965960" cy="256032"/>
          </a:xfrm>
          <a:prstGeom prst="rect">
            <a:avLst/>
          </a:prstGeom>
          <a:solidFill>
            <a:srgbClr val="EBF5FB"/>
          </a:solidFill>
          <a:ln w="12700">
            <a:solidFill>
              <a:srgbClr val="CBD5E0"/>
            </a:solidFill>
            <a:prstDash val="solid"/>
          </a:ln>
        </p:spPr>
      </p:sp>
      <p:sp>
        <p:nvSpPr>
          <p:cNvPr id="43" name="Text 41"/>
          <p:cNvSpPr/>
          <p:nvPr/>
        </p:nvSpPr>
        <p:spPr>
          <a:xfrm>
            <a:off x="2542032" y="3255264"/>
            <a:ext cx="1819656" cy="182880"/>
          </a:xfrm>
          <a:prstGeom prst="rect">
            <a:avLst/>
          </a:prstGeom>
          <a:noFill/>
          <a:ln/>
        </p:spPr>
        <p:txBody>
          <a:bodyPr wrap="square" rtlCol="0" anchor="ctr"/>
          <a:lstStyle/>
          <a:p>
            <a:pPr marL="0" indent="0">
              <a:buNone/>
            </a:pPr>
            <a:r>
              <a:rPr lang="en-US" sz="950" b="1" i="1" dirty="0">
                <a:solidFill>
                  <a:srgbClr val="028090"/>
                </a:solidFill>
                <a:latin typeface="Calibri" pitchFamily="34" charset="0"/>
                <a:ea typeface="Calibri" pitchFamily="34" charset="-122"/>
                <a:cs typeface="Calibri" pitchFamily="34" charset="-120"/>
              </a:rPr>
              <a:t>Methods</a:t>
            </a:r>
            <a:endParaRPr lang="en-US" sz="950" dirty="0"/>
          </a:p>
        </p:txBody>
      </p:sp>
      <p:sp>
        <p:nvSpPr>
          <p:cNvPr id="44" name="Text 42"/>
          <p:cNvSpPr/>
          <p:nvPr/>
        </p:nvSpPr>
        <p:spPr>
          <a:xfrm>
            <a:off x="2468880" y="3493008"/>
            <a:ext cx="1965960" cy="228600"/>
          </a:xfrm>
          <a:prstGeom prst="rect">
            <a:avLst/>
          </a:prstGeom>
          <a:noFill/>
          <a:ln/>
        </p:spPr>
        <p:txBody>
          <a:bodyPr wrap="square" rtlCol="0" anchor="ctr"/>
          <a:lstStyle/>
          <a:p>
            <a:pPr marL="0" indent="0">
              <a:buNone/>
            </a:pPr>
            <a:r>
              <a:rPr lang="en-US" sz="900" dirty="0">
                <a:solidFill>
                  <a:srgbClr val="1A2E40"/>
                </a:solidFill>
                <a:latin typeface="Calibri" pitchFamily="34" charset="0"/>
                <a:ea typeface="Calibri" pitchFamily="34" charset="-122"/>
                <a:cs typeface="Calibri" pitchFamily="34" charset="-120"/>
              </a:rPr>
              <a:t>  capture()</a:t>
            </a:r>
            <a:endParaRPr lang="en-US" sz="900" dirty="0"/>
          </a:p>
        </p:txBody>
      </p:sp>
      <p:sp>
        <p:nvSpPr>
          <p:cNvPr id="45" name="Text 43"/>
          <p:cNvSpPr/>
          <p:nvPr/>
        </p:nvSpPr>
        <p:spPr>
          <a:xfrm>
            <a:off x="2468880" y="3749040"/>
            <a:ext cx="1965960" cy="228600"/>
          </a:xfrm>
          <a:prstGeom prst="rect">
            <a:avLst/>
          </a:prstGeom>
          <a:noFill/>
          <a:ln/>
        </p:spPr>
        <p:txBody>
          <a:bodyPr wrap="square" rtlCol="0" anchor="ctr"/>
          <a:lstStyle/>
          <a:p>
            <a:pPr marL="0" indent="0">
              <a:buNone/>
            </a:pPr>
            <a:r>
              <a:rPr lang="en-US" sz="900" dirty="0">
                <a:solidFill>
                  <a:srgbClr val="1A2E40"/>
                </a:solidFill>
                <a:latin typeface="Calibri" pitchFamily="34" charset="0"/>
                <a:ea typeface="Calibri" pitchFamily="34" charset="-122"/>
                <a:cs typeface="Calibri" pitchFamily="34" charset="-120"/>
              </a:rPr>
              <a:t>  processFrames()</a:t>
            </a:r>
            <a:endParaRPr lang="en-US" sz="900" dirty="0"/>
          </a:p>
        </p:txBody>
      </p:sp>
      <p:sp>
        <p:nvSpPr>
          <p:cNvPr id="46" name="Text 44"/>
          <p:cNvSpPr/>
          <p:nvPr/>
        </p:nvSpPr>
        <p:spPr>
          <a:xfrm>
            <a:off x="2468880" y="4005072"/>
            <a:ext cx="1965960" cy="228600"/>
          </a:xfrm>
          <a:prstGeom prst="rect">
            <a:avLst/>
          </a:prstGeom>
          <a:noFill/>
          <a:ln/>
        </p:spPr>
        <p:txBody>
          <a:bodyPr wrap="square" rtlCol="0" anchor="ctr"/>
          <a:lstStyle/>
          <a:p>
            <a:pPr marL="0" indent="0">
              <a:buNone/>
            </a:pPr>
            <a:r>
              <a:rPr lang="en-US" sz="900" dirty="0">
                <a:solidFill>
                  <a:srgbClr val="1A2E40"/>
                </a:solidFill>
                <a:latin typeface="Calibri" pitchFamily="34" charset="0"/>
                <a:ea typeface="Calibri" pitchFamily="34" charset="-122"/>
                <a:cs typeface="Calibri" pitchFamily="34" charset="-120"/>
              </a:rPr>
              <a:t>  extractAudio()</a:t>
            </a:r>
            <a:endParaRPr lang="en-US" sz="900" dirty="0"/>
          </a:p>
        </p:txBody>
      </p:sp>
      <p:sp>
        <p:nvSpPr>
          <p:cNvPr id="47" name="Text 45"/>
          <p:cNvSpPr/>
          <p:nvPr/>
        </p:nvSpPr>
        <p:spPr>
          <a:xfrm>
            <a:off x="4453128" y="2880360"/>
            <a:ext cx="228600" cy="228600"/>
          </a:xfrm>
          <a:prstGeom prst="rect">
            <a:avLst/>
          </a:prstGeom>
          <a:noFill/>
          <a:ln/>
        </p:spPr>
        <p:txBody>
          <a:bodyPr wrap="square" rtlCol="0" anchor="ctr"/>
          <a:lstStyle/>
          <a:p>
            <a:pPr marL="0" indent="0" algn="ctr">
              <a:buNone/>
            </a:pPr>
            <a:r>
              <a:rPr lang="en-US" sz="800" dirty="0">
                <a:solidFill>
                  <a:srgbClr val="4A6580"/>
                </a:solidFill>
                <a:latin typeface="Calibri" pitchFamily="34" charset="0"/>
                <a:ea typeface="Calibri" pitchFamily="34" charset="-122"/>
                <a:cs typeface="Calibri" pitchFamily="34" charset="-120"/>
              </a:rPr>
              <a:t>1:N →</a:t>
            </a:r>
            <a:endParaRPr lang="en-US" sz="800" dirty="0"/>
          </a:p>
        </p:txBody>
      </p:sp>
      <p:sp>
        <p:nvSpPr>
          <p:cNvPr id="48" name="Shape 46"/>
          <p:cNvSpPr/>
          <p:nvPr/>
        </p:nvSpPr>
        <p:spPr>
          <a:xfrm>
            <a:off x="4617720" y="1115568"/>
            <a:ext cx="1965960" cy="3749040"/>
          </a:xfrm>
          <a:prstGeom prst="rect">
            <a:avLst/>
          </a:prstGeom>
          <a:solidFill>
            <a:srgbClr val="F8FAFB"/>
          </a:solidFill>
          <a:ln w="19050">
            <a:solidFill>
              <a:srgbClr val="6C3483"/>
            </a:solidFill>
            <a:prstDash val="solid"/>
          </a:ln>
        </p:spPr>
      </p:sp>
      <p:sp>
        <p:nvSpPr>
          <p:cNvPr id="49" name="Shape 47"/>
          <p:cNvSpPr/>
          <p:nvPr/>
        </p:nvSpPr>
        <p:spPr>
          <a:xfrm>
            <a:off x="4617720" y="1115568"/>
            <a:ext cx="1965960" cy="347472"/>
          </a:xfrm>
          <a:prstGeom prst="rect">
            <a:avLst/>
          </a:prstGeom>
          <a:solidFill>
            <a:srgbClr val="6C3483"/>
          </a:solidFill>
          <a:ln w="12700">
            <a:solidFill>
              <a:srgbClr val="6C3483"/>
            </a:solidFill>
            <a:prstDash val="solid"/>
          </a:ln>
        </p:spPr>
      </p:sp>
      <p:sp>
        <p:nvSpPr>
          <p:cNvPr id="50" name="Text 48"/>
          <p:cNvSpPr/>
          <p:nvPr/>
        </p:nvSpPr>
        <p:spPr>
          <a:xfrm>
            <a:off x="4617720" y="1115568"/>
            <a:ext cx="19659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Analysis</a:t>
            </a:r>
            <a:endParaRPr lang="en-US" sz="1200" dirty="0"/>
          </a:p>
        </p:txBody>
      </p:sp>
      <p:sp>
        <p:nvSpPr>
          <p:cNvPr id="51" name="Shape 49"/>
          <p:cNvSpPr/>
          <p:nvPr/>
        </p:nvSpPr>
        <p:spPr>
          <a:xfrm>
            <a:off x="4617720" y="1463040"/>
            <a:ext cx="1965960" cy="256032"/>
          </a:xfrm>
          <a:prstGeom prst="rect">
            <a:avLst/>
          </a:prstGeom>
          <a:solidFill>
            <a:srgbClr val="E8F0F8"/>
          </a:solidFill>
          <a:ln w="12700">
            <a:solidFill>
              <a:srgbClr val="CBD5E0"/>
            </a:solidFill>
            <a:prstDash val="solid"/>
          </a:ln>
        </p:spPr>
      </p:sp>
      <p:sp>
        <p:nvSpPr>
          <p:cNvPr id="52" name="Text 50"/>
          <p:cNvSpPr/>
          <p:nvPr/>
        </p:nvSpPr>
        <p:spPr>
          <a:xfrm>
            <a:off x="4690872" y="1481328"/>
            <a:ext cx="1819656" cy="201168"/>
          </a:xfrm>
          <a:prstGeom prst="rect">
            <a:avLst/>
          </a:prstGeom>
          <a:noFill/>
          <a:ln/>
        </p:spPr>
        <p:txBody>
          <a:bodyPr wrap="square" rtlCol="0" anchor="ctr"/>
          <a:lstStyle/>
          <a:p>
            <a:pPr marL="0" indent="0">
              <a:buNone/>
            </a:pPr>
            <a:r>
              <a:rPr lang="en-US" sz="950" b="1" i="1" dirty="0">
                <a:solidFill>
                  <a:srgbClr val="1A3A5C"/>
                </a:solidFill>
                <a:latin typeface="Calibri" pitchFamily="34" charset="0"/>
                <a:ea typeface="Calibri" pitchFamily="34" charset="-122"/>
                <a:cs typeface="Calibri" pitchFamily="34" charset="-120"/>
              </a:rPr>
              <a:t>Attributes</a:t>
            </a:r>
            <a:endParaRPr lang="en-US" sz="950" dirty="0"/>
          </a:p>
        </p:txBody>
      </p:sp>
      <p:sp>
        <p:nvSpPr>
          <p:cNvPr id="53" name="Text 51"/>
          <p:cNvSpPr/>
          <p:nvPr/>
        </p:nvSpPr>
        <p:spPr>
          <a:xfrm>
            <a:off x="4617720" y="1755648"/>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analysisId: String (PK)</a:t>
            </a:r>
            <a:endParaRPr lang="en-US" sz="950" dirty="0"/>
          </a:p>
        </p:txBody>
      </p:sp>
      <p:sp>
        <p:nvSpPr>
          <p:cNvPr id="54" name="Shape 52"/>
          <p:cNvSpPr/>
          <p:nvPr/>
        </p:nvSpPr>
        <p:spPr>
          <a:xfrm>
            <a:off x="4617720" y="2020824"/>
            <a:ext cx="1965960" cy="0"/>
          </a:xfrm>
          <a:prstGeom prst="line">
            <a:avLst/>
          </a:prstGeom>
          <a:noFill/>
          <a:ln w="6350">
            <a:solidFill>
              <a:srgbClr val="E0E8F0"/>
            </a:solidFill>
            <a:prstDash val="solid"/>
          </a:ln>
        </p:spPr>
      </p:sp>
      <p:sp>
        <p:nvSpPr>
          <p:cNvPr id="55" name="Text 53"/>
          <p:cNvSpPr/>
          <p:nvPr/>
        </p:nvSpPr>
        <p:spPr>
          <a:xfrm>
            <a:off x="4617720" y="2048256"/>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videoId: String (FK)</a:t>
            </a:r>
            <a:endParaRPr lang="en-US" sz="950" dirty="0"/>
          </a:p>
        </p:txBody>
      </p:sp>
      <p:sp>
        <p:nvSpPr>
          <p:cNvPr id="56" name="Shape 54"/>
          <p:cNvSpPr/>
          <p:nvPr/>
        </p:nvSpPr>
        <p:spPr>
          <a:xfrm>
            <a:off x="4617720" y="2313432"/>
            <a:ext cx="1965960" cy="0"/>
          </a:xfrm>
          <a:prstGeom prst="line">
            <a:avLst/>
          </a:prstGeom>
          <a:noFill/>
          <a:ln w="6350">
            <a:solidFill>
              <a:srgbClr val="E0E8F0"/>
            </a:solidFill>
            <a:prstDash val="solid"/>
          </a:ln>
        </p:spPr>
      </p:sp>
      <p:sp>
        <p:nvSpPr>
          <p:cNvPr id="57" name="Text 55"/>
          <p:cNvSpPr/>
          <p:nvPr/>
        </p:nvSpPr>
        <p:spPr>
          <a:xfrm>
            <a:off x="4617720" y="2340864"/>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jointAngles: Map</a:t>
            </a:r>
            <a:endParaRPr lang="en-US" sz="950" dirty="0"/>
          </a:p>
        </p:txBody>
      </p:sp>
      <p:sp>
        <p:nvSpPr>
          <p:cNvPr id="58" name="Shape 56"/>
          <p:cNvSpPr/>
          <p:nvPr/>
        </p:nvSpPr>
        <p:spPr>
          <a:xfrm>
            <a:off x="4617720" y="2606040"/>
            <a:ext cx="1965960" cy="0"/>
          </a:xfrm>
          <a:prstGeom prst="line">
            <a:avLst/>
          </a:prstGeom>
          <a:noFill/>
          <a:ln w="6350">
            <a:solidFill>
              <a:srgbClr val="E0E8F0"/>
            </a:solidFill>
            <a:prstDash val="solid"/>
          </a:ln>
        </p:spPr>
      </p:sp>
      <p:sp>
        <p:nvSpPr>
          <p:cNvPr id="59" name="Text 57"/>
          <p:cNvSpPr/>
          <p:nvPr/>
        </p:nvSpPr>
        <p:spPr>
          <a:xfrm>
            <a:off x="4617720" y="2633472"/>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speed: Float</a:t>
            </a:r>
            <a:endParaRPr lang="en-US" sz="950" dirty="0"/>
          </a:p>
        </p:txBody>
      </p:sp>
      <p:sp>
        <p:nvSpPr>
          <p:cNvPr id="60" name="Shape 58"/>
          <p:cNvSpPr/>
          <p:nvPr/>
        </p:nvSpPr>
        <p:spPr>
          <a:xfrm>
            <a:off x="4617720" y="2898648"/>
            <a:ext cx="1965960" cy="0"/>
          </a:xfrm>
          <a:prstGeom prst="line">
            <a:avLst/>
          </a:prstGeom>
          <a:noFill/>
          <a:ln w="6350">
            <a:solidFill>
              <a:srgbClr val="E0E8F0"/>
            </a:solidFill>
            <a:prstDash val="solid"/>
          </a:ln>
        </p:spPr>
      </p:sp>
      <p:sp>
        <p:nvSpPr>
          <p:cNvPr id="61" name="Text 59"/>
          <p:cNvSpPr/>
          <p:nvPr/>
        </p:nvSpPr>
        <p:spPr>
          <a:xfrm>
            <a:off x="4617720" y="2926080"/>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accuracy: Float</a:t>
            </a:r>
            <a:endParaRPr lang="en-US" sz="950" dirty="0"/>
          </a:p>
        </p:txBody>
      </p:sp>
      <p:sp>
        <p:nvSpPr>
          <p:cNvPr id="62" name="Shape 60"/>
          <p:cNvSpPr/>
          <p:nvPr/>
        </p:nvSpPr>
        <p:spPr>
          <a:xfrm>
            <a:off x="4617720" y="3218688"/>
            <a:ext cx="1965960" cy="0"/>
          </a:xfrm>
          <a:prstGeom prst="line">
            <a:avLst/>
          </a:prstGeom>
          <a:noFill/>
          <a:ln w="12700">
            <a:solidFill>
              <a:srgbClr val="6C3483"/>
            </a:solidFill>
            <a:prstDash val="solid"/>
          </a:ln>
        </p:spPr>
      </p:sp>
      <p:sp>
        <p:nvSpPr>
          <p:cNvPr id="63" name="Shape 61"/>
          <p:cNvSpPr/>
          <p:nvPr/>
        </p:nvSpPr>
        <p:spPr>
          <a:xfrm>
            <a:off x="4617720" y="3218688"/>
            <a:ext cx="1965960" cy="256032"/>
          </a:xfrm>
          <a:prstGeom prst="rect">
            <a:avLst/>
          </a:prstGeom>
          <a:solidFill>
            <a:srgbClr val="EBF5FB"/>
          </a:solidFill>
          <a:ln w="12700">
            <a:solidFill>
              <a:srgbClr val="CBD5E0"/>
            </a:solidFill>
            <a:prstDash val="solid"/>
          </a:ln>
        </p:spPr>
      </p:sp>
      <p:sp>
        <p:nvSpPr>
          <p:cNvPr id="64" name="Text 62"/>
          <p:cNvSpPr/>
          <p:nvPr/>
        </p:nvSpPr>
        <p:spPr>
          <a:xfrm>
            <a:off x="4690872" y="3255264"/>
            <a:ext cx="1819656" cy="182880"/>
          </a:xfrm>
          <a:prstGeom prst="rect">
            <a:avLst/>
          </a:prstGeom>
          <a:noFill/>
          <a:ln/>
        </p:spPr>
        <p:txBody>
          <a:bodyPr wrap="square" rtlCol="0" anchor="ctr"/>
          <a:lstStyle/>
          <a:p>
            <a:pPr marL="0" indent="0">
              <a:buNone/>
            </a:pPr>
            <a:r>
              <a:rPr lang="en-US" sz="950" b="1" i="1" dirty="0">
                <a:solidFill>
                  <a:srgbClr val="028090"/>
                </a:solidFill>
                <a:latin typeface="Calibri" pitchFamily="34" charset="0"/>
                <a:ea typeface="Calibri" pitchFamily="34" charset="-122"/>
                <a:cs typeface="Calibri" pitchFamily="34" charset="-120"/>
              </a:rPr>
              <a:t>Methods</a:t>
            </a:r>
            <a:endParaRPr lang="en-US" sz="950" dirty="0"/>
          </a:p>
        </p:txBody>
      </p:sp>
      <p:sp>
        <p:nvSpPr>
          <p:cNvPr id="65" name="Text 63"/>
          <p:cNvSpPr/>
          <p:nvPr/>
        </p:nvSpPr>
        <p:spPr>
          <a:xfrm>
            <a:off x="4617720" y="3493008"/>
            <a:ext cx="1965960" cy="228600"/>
          </a:xfrm>
          <a:prstGeom prst="rect">
            <a:avLst/>
          </a:prstGeom>
          <a:noFill/>
          <a:ln/>
        </p:spPr>
        <p:txBody>
          <a:bodyPr wrap="square" rtlCol="0" anchor="ctr"/>
          <a:lstStyle/>
          <a:p>
            <a:pPr marL="0" indent="0">
              <a:buNone/>
            </a:pPr>
            <a:r>
              <a:rPr lang="en-US" sz="900" dirty="0">
                <a:solidFill>
                  <a:srgbClr val="1A2E40"/>
                </a:solidFill>
                <a:latin typeface="Calibri" pitchFamily="34" charset="0"/>
                <a:ea typeface="Calibri" pitchFamily="34" charset="-122"/>
                <a:cs typeface="Calibri" pitchFamily="34" charset="-120"/>
              </a:rPr>
              <a:t>  calculate()</a:t>
            </a:r>
            <a:endParaRPr lang="en-US" sz="900" dirty="0"/>
          </a:p>
        </p:txBody>
      </p:sp>
      <p:sp>
        <p:nvSpPr>
          <p:cNvPr id="66" name="Text 64"/>
          <p:cNvSpPr/>
          <p:nvPr/>
        </p:nvSpPr>
        <p:spPr>
          <a:xfrm>
            <a:off x="4617720" y="3749040"/>
            <a:ext cx="1965960" cy="228600"/>
          </a:xfrm>
          <a:prstGeom prst="rect">
            <a:avLst/>
          </a:prstGeom>
          <a:noFill/>
          <a:ln/>
        </p:spPr>
        <p:txBody>
          <a:bodyPr wrap="square" rtlCol="0" anchor="ctr"/>
          <a:lstStyle/>
          <a:p>
            <a:pPr marL="0" indent="0">
              <a:buNone/>
            </a:pPr>
            <a:r>
              <a:rPr lang="en-US" sz="900" dirty="0">
                <a:solidFill>
                  <a:srgbClr val="1A2E40"/>
                </a:solidFill>
                <a:latin typeface="Calibri" pitchFamily="34" charset="0"/>
                <a:ea typeface="Calibri" pitchFamily="34" charset="-122"/>
                <a:cs typeface="Calibri" pitchFamily="34" charset="-120"/>
              </a:rPr>
              <a:t>  compare()</a:t>
            </a:r>
            <a:endParaRPr lang="en-US" sz="900" dirty="0"/>
          </a:p>
        </p:txBody>
      </p:sp>
      <p:sp>
        <p:nvSpPr>
          <p:cNvPr id="67" name="Text 65"/>
          <p:cNvSpPr/>
          <p:nvPr/>
        </p:nvSpPr>
        <p:spPr>
          <a:xfrm>
            <a:off x="4617720" y="4005072"/>
            <a:ext cx="1965960" cy="228600"/>
          </a:xfrm>
          <a:prstGeom prst="rect">
            <a:avLst/>
          </a:prstGeom>
          <a:noFill/>
          <a:ln/>
        </p:spPr>
        <p:txBody>
          <a:bodyPr wrap="square" rtlCol="0" anchor="ctr"/>
          <a:lstStyle/>
          <a:p>
            <a:pPr marL="0" indent="0">
              <a:buNone/>
            </a:pPr>
            <a:r>
              <a:rPr lang="en-US" sz="900" dirty="0">
                <a:solidFill>
                  <a:srgbClr val="1A2E40"/>
                </a:solidFill>
                <a:latin typeface="Calibri" pitchFamily="34" charset="0"/>
                <a:ea typeface="Calibri" pitchFamily="34" charset="-122"/>
                <a:cs typeface="Calibri" pitchFamily="34" charset="-120"/>
              </a:rPr>
              <a:t>  score()</a:t>
            </a:r>
            <a:endParaRPr lang="en-US" sz="900" dirty="0"/>
          </a:p>
        </p:txBody>
      </p:sp>
      <p:sp>
        <p:nvSpPr>
          <p:cNvPr id="68" name="Text 66"/>
          <p:cNvSpPr/>
          <p:nvPr/>
        </p:nvSpPr>
        <p:spPr>
          <a:xfrm>
            <a:off x="6601968" y="2880360"/>
            <a:ext cx="228600" cy="228600"/>
          </a:xfrm>
          <a:prstGeom prst="rect">
            <a:avLst/>
          </a:prstGeom>
          <a:noFill/>
          <a:ln/>
        </p:spPr>
        <p:txBody>
          <a:bodyPr wrap="square" rtlCol="0" anchor="ctr"/>
          <a:lstStyle/>
          <a:p>
            <a:pPr marL="0" indent="0" algn="ctr">
              <a:buNone/>
            </a:pPr>
            <a:r>
              <a:rPr lang="en-US" sz="800" dirty="0">
                <a:solidFill>
                  <a:srgbClr val="4A6580"/>
                </a:solidFill>
                <a:latin typeface="Calibri" pitchFamily="34" charset="0"/>
                <a:ea typeface="Calibri" pitchFamily="34" charset="-122"/>
                <a:cs typeface="Calibri" pitchFamily="34" charset="-120"/>
              </a:rPr>
              <a:t>1:N →</a:t>
            </a:r>
            <a:endParaRPr lang="en-US" sz="800" dirty="0"/>
          </a:p>
        </p:txBody>
      </p:sp>
      <p:sp>
        <p:nvSpPr>
          <p:cNvPr id="69" name="Shape 67"/>
          <p:cNvSpPr/>
          <p:nvPr/>
        </p:nvSpPr>
        <p:spPr>
          <a:xfrm>
            <a:off x="6766560" y="1115568"/>
            <a:ext cx="1965960" cy="3749040"/>
          </a:xfrm>
          <a:prstGeom prst="rect">
            <a:avLst/>
          </a:prstGeom>
          <a:solidFill>
            <a:srgbClr val="F8FAFB"/>
          </a:solidFill>
          <a:ln w="19050">
            <a:solidFill>
              <a:srgbClr val="27AE60"/>
            </a:solidFill>
            <a:prstDash val="solid"/>
          </a:ln>
        </p:spPr>
      </p:sp>
      <p:sp>
        <p:nvSpPr>
          <p:cNvPr id="70" name="Shape 68"/>
          <p:cNvSpPr/>
          <p:nvPr/>
        </p:nvSpPr>
        <p:spPr>
          <a:xfrm>
            <a:off x="6766560" y="1115568"/>
            <a:ext cx="1965960" cy="347472"/>
          </a:xfrm>
          <a:prstGeom prst="rect">
            <a:avLst/>
          </a:prstGeom>
          <a:solidFill>
            <a:srgbClr val="27AE60"/>
          </a:solidFill>
          <a:ln w="12700">
            <a:solidFill>
              <a:srgbClr val="27AE60"/>
            </a:solidFill>
            <a:prstDash val="solid"/>
          </a:ln>
        </p:spPr>
      </p:sp>
      <p:sp>
        <p:nvSpPr>
          <p:cNvPr id="71" name="Text 69"/>
          <p:cNvSpPr/>
          <p:nvPr/>
        </p:nvSpPr>
        <p:spPr>
          <a:xfrm>
            <a:off x="6766560" y="1115568"/>
            <a:ext cx="19659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Report</a:t>
            </a:r>
            <a:endParaRPr lang="en-US" sz="1200" dirty="0"/>
          </a:p>
        </p:txBody>
      </p:sp>
      <p:sp>
        <p:nvSpPr>
          <p:cNvPr id="72" name="Shape 70"/>
          <p:cNvSpPr/>
          <p:nvPr/>
        </p:nvSpPr>
        <p:spPr>
          <a:xfrm>
            <a:off x="6766560" y="1463040"/>
            <a:ext cx="1965960" cy="256032"/>
          </a:xfrm>
          <a:prstGeom prst="rect">
            <a:avLst/>
          </a:prstGeom>
          <a:solidFill>
            <a:srgbClr val="E8F0F8"/>
          </a:solidFill>
          <a:ln w="12700">
            <a:solidFill>
              <a:srgbClr val="CBD5E0"/>
            </a:solidFill>
            <a:prstDash val="solid"/>
          </a:ln>
        </p:spPr>
      </p:sp>
      <p:sp>
        <p:nvSpPr>
          <p:cNvPr id="73" name="Text 71"/>
          <p:cNvSpPr/>
          <p:nvPr/>
        </p:nvSpPr>
        <p:spPr>
          <a:xfrm>
            <a:off x="6839712" y="1481328"/>
            <a:ext cx="1819656" cy="201168"/>
          </a:xfrm>
          <a:prstGeom prst="rect">
            <a:avLst/>
          </a:prstGeom>
          <a:noFill/>
          <a:ln/>
        </p:spPr>
        <p:txBody>
          <a:bodyPr wrap="square" rtlCol="0" anchor="ctr"/>
          <a:lstStyle/>
          <a:p>
            <a:pPr marL="0" indent="0">
              <a:buNone/>
            </a:pPr>
            <a:r>
              <a:rPr lang="en-US" sz="950" b="1" i="1" dirty="0">
                <a:solidFill>
                  <a:srgbClr val="1A3A5C"/>
                </a:solidFill>
                <a:latin typeface="Calibri" pitchFamily="34" charset="0"/>
                <a:ea typeface="Calibri" pitchFamily="34" charset="-122"/>
                <a:cs typeface="Calibri" pitchFamily="34" charset="-120"/>
              </a:rPr>
              <a:t>Attributes</a:t>
            </a:r>
            <a:endParaRPr lang="en-US" sz="950" dirty="0"/>
          </a:p>
        </p:txBody>
      </p:sp>
      <p:sp>
        <p:nvSpPr>
          <p:cNvPr id="74" name="Text 72"/>
          <p:cNvSpPr/>
          <p:nvPr/>
        </p:nvSpPr>
        <p:spPr>
          <a:xfrm>
            <a:off x="6766560" y="1755648"/>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reportId: String (PK)</a:t>
            </a:r>
            <a:endParaRPr lang="en-US" sz="950" dirty="0"/>
          </a:p>
        </p:txBody>
      </p:sp>
      <p:sp>
        <p:nvSpPr>
          <p:cNvPr id="75" name="Shape 73"/>
          <p:cNvSpPr/>
          <p:nvPr/>
        </p:nvSpPr>
        <p:spPr>
          <a:xfrm>
            <a:off x="6766560" y="2020824"/>
            <a:ext cx="1965960" cy="0"/>
          </a:xfrm>
          <a:prstGeom prst="line">
            <a:avLst/>
          </a:prstGeom>
          <a:noFill/>
          <a:ln w="6350">
            <a:solidFill>
              <a:srgbClr val="E0E8F0"/>
            </a:solidFill>
            <a:prstDash val="solid"/>
          </a:ln>
        </p:spPr>
      </p:sp>
      <p:sp>
        <p:nvSpPr>
          <p:cNvPr id="76" name="Text 74"/>
          <p:cNvSpPr/>
          <p:nvPr/>
        </p:nvSpPr>
        <p:spPr>
          <a:xfrm>
            <a:off x="6766560" y="2048256"/>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analysisId: String (FK)</a:t>
            </a:r>
            <a:endParaRPr lang="en-US" sz="950" dirty="0"/>
          </a:p>
        </p:txBody>
      </p:sp>
      <p:sp>
        <p:nvSpPr>
          <p:cNvPr id="77" name="Shape 75"/>
          <p:cNvSpPr/>
          <p:nvPr/>
        </p:nvSpPr>
        <p:spPr>
          <a:xfrm>
            <a:off x="6766560" y="2313432"/>
            <a:ext cx="1965960" cy="0"/>
          </a:xfrm>
          <a:prstGeom prst="line">
            <a:avLst/>
          </a:prstGeom>
          <a:noFill/>
          <a:ln w="6350">
            <a:solidFill>
              <a:srgbClr val="E0E8F0"/>
            </a:solidFill>
            <a:prstDash val="solid"/>
          </a:ln>
        </p:spPr>
      </p:sp>
      <p:sp>
        <p:nvSpPr>
          <p:cNvPr id="78" name="Text 76"/>
          <p:cNvSpPr/>
          <p:nvPr/>
        </p:nvSpPr>
        <p:spPr>
          <a:xfrm>
            <a:off x="6766560" y="2340864"/>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perfScore: Int</a:t>
            </a:r>
            <a:endParaRPr lang="en-US" sz="950" dirty="0"/>
          </a:p>
        </p:txBody>
      </p:sp>
      <p:sp>
        <p:nvSpPr>
          <p:cNvPr id="79" name="Shape 77"/>
          <p:cNvSpPr/>
          <p:nvPr/>
        </p:nvSpPr>
        <p:spPr>
          <a:xfrm>
            <a:off x="6766560" y="2606040"/>
            <a:ext cx="1965960" cy="0"/>
          </a:xfrm>
          <a:prstGeom prst="line">
            <a:avLst/>
          </a:prstGeom>
          <a:noFill/>
          <a:ln w="6350">
            <a:solidFill>
              <a:srgbClr val="E0E8F0"/>
            </a:solidFill>
            <a:prstDash val="solid"/>
          </a:ln>
        </p:spPr>
      </p:sp>
      <p:sp>
        <p:nvSpPr>
          <p:cNvPr id="80" name="Text 78"/>
          <p:cNvSpPr/>
          <p:nvPr/>
        </p:nvSpPr>
        <p:spPr>
          <a:xfrm>
            <a:off x="6766560" y="2633472"/>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tips: String</a:t>
            </a:r>
            <a:endParaRPr lang="en-US" sz="950" dirty="0"/>
          </a:p>
        </p:txBody>
      </p:sp>
      <p:sp>
        <p:nvSpPr>
          <p:cNvPr id="81" name="Shape 79"/>
          <p:cNvSpPr/>
          <p:nvPr/>
        </p:nvSpPr>
        <p:spPr>
          <a:xfrm>
            <a:off x="6766560" y="2898648"/>
            <a:ext cx="1965960" cy="0"/>
          </a:xfrm>
          <a:prstGeom prst="line">
            <a:avLst/>
          </a:prstGeom>
          <a:noFill/>
          <a:ln w="6350">
            <a:solidFill>
              <a:srgbClr val="E0E8F0"/>
            </a:solidFill>
            <a:prstDash val="solid"/>
          </a:ln>
        </p:spPr>
      </p:sp>
      <p:sp>
        <p:nvSpPr>
          <p:cNvPr id="82" name="Text 80"/>
          <p:cNvSpPr/>
          <p:nvPr/>
        </p:nvSpPr>
        <p:spPr>
          <a:xfrm>
            <a:off x="6766560" y="2926080"/>
            <a:ext cx="1965960" cy="274320"/>
          </a:xfrm>
          <a:prstGeom prst="rect">
            <a:avLst/>
          </a:prstGeom>
          <a:noFill/>
          <a:ln/>
        </p:spPr>
        <p:txBody>
          <a:bodyPr wrap="square" rtlCol="0" anchor="ctr"/>
          <a:lstStyle/>
          <a:p>
            <a:pPr marL="0" indent="0">
              <a:buNone/>
            </a:pPr>
            <a:r>
              <a:rPr lang="en-US" sz="950" dirty="0">
                <a:solidFill>
                  <a:srgbClr val="1A2E40"/>
                </a:solidFill>
                <a:latin typeface="Calibri" pitchFamily="34" charset="0"/>
                <a:ea typeface="Calibri" pitchFamily="34" charset="-122"/>
                <a:cs typeface="Calibri" pitchFamily="34" charset="-120"/>
              </a:rPr>
              <a:t>  createdAt: DateTime</a:t>
            </a:r>
            <a:endParaRPr lang="en-US" sz="950" dirty="0"/>
          </a:p>
        </p:txBody>
      </p:sp>
      <p:sp>
        <p:nvSpPr>
          <p:cNvPr id="83" name="Shape 81"/>
          <p:cNvSpPr/>
          <p:nvPr/>
        </p:nvSpPr>
        <p:spPr>
          <a:xfrm>
            <a:off x="6766560" y="3218688"/>
            <a:ext cx="1965960" cy="0"/>
          </a:xfrm>
          <a:prstGeom prst="line">
            <a:avLst/>
          </a:prstGeom>
          <a:noFill/>
          <a:ln w="12700">
            <a:solidFill>
              <a:srgbClr val="27AE60"/>
            </a:solidFill>
            <a:prstDash val="solid"/>
          </a:ln>
        </p:spPr>
      </p:sp>
      <p:sp>
        <p:nvSpPr>
          <p:cNvPr id="84" name="Shape 82"/>
          <p:cNvSpPr/>
          <p:nvPr/>
        </p:nvSpPr>
        <p:spPr>
          <a:xfrm>
            <a:off x="6766560" y="3218688"/>
            <a:ext cx="1965960" cy="256032"/>
          </a:xfrm>
          <a:prstGeom prst="rect">
            <a:avLst/>
          </a:prstGeom>
          <a:solidFill>
            <a:srgbClr val="EBF5FB"/>
          </a:solidFill>
          <a:ln w="12700">
            <a:solidFill>
              <a:srgbClr val="CBD5E0"/>
            </a:solidFill>
            <a:prstDash val="solid"/>
          </a:ln>
        </p:spPr>
      </p:sp>
      <p:sp>
        <p:nvSpPr>
          <p:cNvPr id="85" name="Text 83"/>
          <p:cNvSpPr/>
          <p:nvPr/>
        </p:nvSpPr>
        <p:spPr>
          <a:xfrm>
            <a:off x="6839712" y="3255264"/>
            <a:ext cx="1819656" cy="182880"/>
          </a:xfrm>
          <a:prstGeom prst="rect">
            <a:avLst/>
          </a:prstGeom>
          <a:noFill/>
          <a:ln/>
        </p:spPr>
        <p:txBody>
          <a:bodyPr wrap="square" rtlCol="0" anchor="ctr"/>
          <a:lstStyle/>
          <a:p>
            <a:pPr marL="0" indent="0">
              <a:buNone/>
            </a:pPr>
            <a:r>
              <a:rPr lang="en-US" sz="950" b="1" i="1" dirty="0">
                <a:solidFill>
                  <a:srgbClr val="028090"/>
                </a:solidFill>
                <a:latin typeface="Calibri" pitchFamily="34" charset="0"/>
                <a:ea typeface="Calibri" pitchFamily="34" charset="-122"/>
                <a:cs typeface="Calibri" pitchFamily="34" charset="-120"/>
              </a:rPr>
              <a:t>Methods</a:t>
            </a:r>
            <a:endParaRPr lang="en-US" sz="950" dirty="0"/>
          </a:p>
        </p:txBody>
      </p:sp>
      <p:sp>
        <p:nvSpPr>
          <p:cNvPr id="86" name="Text 84"/>
          <p:cNvSpPr/>
          <p:nvPr/>
        </p:nvSpPr>
        <p:spPr>
          <a:xfrm>
            <a:off x="6766560" y="3493008"/>
            <a:ext cx="1965960" cy="228600"/>
          </a:xfrm>
          <a:prstGeom prst="rect">
            <a:avLst/>
          </a:prstGeom>
          <a:noFill/>
          <a:ln/>
        </p:spPr>
        <p:txBody>
          <a:bodyPr wrap="square" rtlCol="0" anchor="ctr"/>
          <a:lstStyle/>
          <a:p>
            <a:pPr marL="0" indent="0">
              <a:buNone/>
            </a:pPr>
            <a:r>
              <a:rPr lang="en-US" sz="900" dirty="0">
                <a:solidFill>
                  <a:srgbClr val="1A2E40"/>
                </a:solidFill>
                <a:latin typeface="Calibri" pitchFamily="34" charset="0"/>
                <a:ea typeface="Calibri" pitchFamily="34" charset="-122"/>
                <a:cs typeface="Calibri" pitchFamily="34" charset="-120"/>
              </a:rPr>
              <a:t>  visualize()</a:t>
            </a:r>
            <a:endParaRPr lang="en-US" sz="900" dirty="0"/>
          </a:p>
        </p:txBody>
      </p:sp>
      <p:sp>
        <p:nvSpPr>
          <p:cNvPr id="87" name="Text 85"/>
          <p:cNvSpPr/>
          <p:nvPr/>
        </p:nvSpPr>
        <p:spPr>
          <a:xfrm>
            <a:off x="6766560" y="3749040"/>
            <a:ext cx="1965960" cy="228600"/>
          </a:xfrm>
          <a:prstGeom prst="rect">
            <a:avLst/>
          </a:prstGeom>
          <a:noFill/>
          <a:ln/>
        </p:spPr>
        <p:txBody>
          <a:bodyPr wrap="square" rtlCol="0" anchor="ctr"/>
          <a:lstStyle/>
          <a:p>
            <a:pPr marL="0" indent="0">
              <a:buNone/>
            </a:pPr>
            <a:r>
              <a:rPr lang="en-US" sz="900" dirty="0">
                <a:solidFill>
                  <a:srgbClr val="1A2E40"/>
                </a:solidFill>
                <a:latin typeface="Calibri" pitchFamily="34" charset="0"/>
                <a:ea typeface="Calibri" pitchFamily="34" charset="-122"/>
                <a:cs typeface="Calibri" pitchFamily="34" charset="-120"/>
              </a:rPr>
              <a:t>  downloadPDF()</a:t>
            </a:r>
            <a:endParaRPr lang="en-US" sz="900" dirty="0"/>
          </a:p>
        </p:txBody>
      </p:sp>
      <p:sp>
        <p:nvSpPr>
          <p:cNvPr id="88" name="Text 86"/>
          <p:cNvSpPr/>
          <p:nvPr/>
        </p:nvSpPr>
        <p:spPr>
          <a:xfrm>
            <a:off x="6766560" y="4005072"/>
            <a:ext cx="1965960" cy="228600"/>
          </a:xfrm>
          <a:prstGeom prst="rect">
            <a:avLst/>
          </a:prstGeom>
          <a:noFill/>
          <a:ln/>
        </p:spPr>
        <p:txBody>
          <a:bodyPr wrap="square" rtlCol="0" anchor="ctr"/>
          <a:lstStyle/>
          <a:p>
            <a:pPr marL="0" indent="0">
              <a:buNone/>
            </a:pPr>
            <a:r>
              <a:rPr lang="en-US" sz="900" dirty="0">
                <a:solidFill>
                  <a:srgbClr val="1A2E40"/>
                </a:solidFill>
                <a:latin typeface="Calibri" pitchFamily="34" charset="0"/>
                <a:ea typeface="Calibri" pitchFamily="34" charset="-122"/>
                <a:cs typeface="Calibri" pitchFamily="34" charset="-120"/>
              </a:rPr>
              <a:t>  sendAlert()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External Interfaces</a:t>
            </a:r>
            <a:endParaRPr lang="en-US" sz="2200" dirty="0"/>
          </a:p>
        </p:txBody>
      </p:sp>
      <p:sp>
        <p:nvSpPr>
          <p:cNvPr id="5" name="Shape 3"/>
          <p:cNvSpPr/>
          <p:nvPr/>
        </p:nvSpPr>
        <p:spPr>
          <a:xfrm>
            <a:off x="274320" y="777240"/>
            <a:ext cx="2651760" cy="4206240"/>
          </a:xfrm>
          <a:prstGeom prst="rect">
            <a:avLst/>
          </a:prstGeom>
          <a:solidFill>
            <a:srgbClr val="1A3A5C"/>
          </a:solidFill>
          <a:ln w="12700">
            <a:solidFill>
              <a:srgbClr val="1A3A5C"/>
            </a:solidFill>
            <a:prstDash val="solid"/>
          </a:ln>
        </p:spPr>
      </p:sp>
      <p:sp>
        <p:nvSpPr>
          <p:cNvPr id="6" name="Text 4"/>
          <p:cNvSpPr/>
          <p:nvPr/>
        </p:nvSpPr>
        <p:spPr>
          <a:xfrm>
            <a:off x="274320" y="777240"/>
            <a:ext cx="265176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INPUT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INTERFACES</a:t>
            </a:r>
            <a:endParaRPr lang="en-US" sz="1300" dirty="0"/>
          </a:p>
        </p:txBody>
      </p:sp>
      <p:sp>
        <p:nvSpPr>
          <p:cNvPr id="7" name="Shape 5"/>
          <p:cNvSpPr/>
          <p:nvPr/>
        </p:nvSpPr>
        <p:spPr>
          <a:xfrm>
            <a:off x="347472" y="1481328"/>
            <a:ext cx="2487168" cy="658368"/>
          </a:xfrm>
          <a:prstGeom prst="rect">
            <a:avLst/>
          </a:prstGeom>
          <a:solidFill>
            <a:srgbClr val="1A3A5C"/>
          </a:solidFill>
          <a:ln w="12700">
            <a:solidFill>
              <a:srgbClr val="02C39A"/>
            </a:solidFill>
            <a:prstDash val="solid"/>
          </a:ln>
        </p:spPr>
      </p:sp>
      <p:sp>
        <p:nvSpPr>
          <p:cNvPr id="8" name="Text 6"/>
          <p:cNvSpPr/>
          <p:nvPr/>
        </p:nvSpPr>
        <p:spPr>
          <a:xfrm>
            <a:off x="402336" y="1508760"/>
            <a:ext cx="2377440" cy="256032"/>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Live Camera</a:t>
            </a:r>
            <a:endParaRPr lang="en-US" sz="1100" dirty="0"/>
          </a:p>
        </p:txBody>
      </p:sp>
      <p:sp>
        <p:nvSpPr>
          <p:cNvPr id="9" name="Text 7"/>
          <p:cNvSpPr/>
          <p:nvPr/>
        </p:nvSpPr>
        <p:spPr>
          <a:xfrm>
            <a:off x="402336" y="1755648"/>
            <a:ext cx="2377440" cy="320040"/>
          </a:xfrm>
          <a:prstGeom prst="rect">
            <a:avLst/>
          </a:prstGeom>
          <a:noFill/>
          <a:ln/>
        </p:spPr>
        <p:txBody>
          <a:bodyPr wrap="square" rtlCol="0" anchor="ctr"/>
          <a:lstStyle/>
          <a:p>
            <a:pPr marL="0" indent="0">
              <a:buNone/>
            </a:pPr>
            <a:r>
              <a:rPr lang="en-US" sz="1000" dirty="0">
                <a:solidFill>
                  <a:srgbClr val="CCDDEE"/>
                </a:solidFill>
                <a:latin typeface="Calibri" pitchFamily="34" charset="0"/>
                <a:ea typeface="Calibri" pitchFamily="34" charset="-122"/>
                <a:cs typeface="Calibri" pitchFamily="34" charset="-120"/>
              </a:rPr>
              <a:t>Mobile/webcam</a:t>
            </a:r>
            <a:endParaRPr lang="en-US" sz="1000" dirty="0"/>
          </a:p>
          <a:p>
            <a:pPr marL="0" indent="0">
              <a:buNone/>
            </a:pPr>
            <a:r>
              <a:rPr lang="en-US" sz="1000" dirty="0">
                <a:solidFill>
                  <a:srgbClr val="CCDDEE"/>
                </a:solidFill>
                <a:latin typeface="Calibri" pitchFamily="34" charset="0"/>
                <a:ea typeface="Calibri" pitchFamily="34" charset="-122"/>
                <a:cs typeface="Calibri" pitchFamily="34" charset="-120"/>
              </a:rPr>
              <a:t>MP4, AVI video streams</a:t>
            </a:r>
            <a:endParaRPr lang="en-US" sz="1000" dirty="0"/>
          </a:p>
        </p:txBody>
      </p:sp>
      <p:sp>
        <p:nvSpPr>
          <p:cNvPr id="10" name="Shape 8"/>
          <p:cNvSpPr/>
          <p:nvPr/>
        </p:nvSpPr>
        <p:spPr>
          <a:xfrm>
            <a:off x="347472" y="2231136"/>
            <a:ext cx="2487168" cy="658368"/>
          </a:xfrm>
          <a:prstGeom prst="rect">
            <a:avLst/>
          </a:prstGeom>
          <a:solidFill>
            <a:srgbClr val="1A3A5C"/>
          </a:solidFill>
          <a:ln w="12700">
            <a:solidFill>
              <a:srgbClr val="02C39A"/>
            </a:solidFill>
            <a:prstDash val="solid"/>
          </a:ln>
        </p:spPr>
      </p:sp>
      <p:sp>
        <p:nvSpPr>
          <p:cNvPr id="11" name="Text 9"/>
          <p:cNvSpPr/>
          <p:nvPr/>
        </p:nvSpPr>
        <p:spPr>
          <a:xfrm>
            <a:off x="402336" y="2258568"/>
            <a:ext cx="2377440" cy="256032"/>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Video Upload</a:t>
            </a:r>
            <a:endParaRPr lang="en-US" sz="1100" dirty="0"/>
          </a:p>
        </p:txBody>
      </p:sp>
      <p:sp>
        <p:nvSpPr>
          <p:cNvPr id="12" name="Text 10"/>
          <p:cNvSpPr/>
          <p:nvPr/>
        </p:nvSpPr>
        <p:spPr>
          <a:xfrm>
            <a:off x="402336" y="2505456"/>
            <a:ext cx="2377440" cy="320040"/>
          </a:xfrm>
          <a:prstGeom prst="rect">
            <a:avLst/>
          </a:prstGeom>
          <a:noFill/>
          <a:ln/>
        </p:spPr>
        <p:txBody>
          <a:bodyPr wrap="square" rtlCol="0" anchor="ctr"/>
          <a:lstStyle/>
          <a:p>
            <a:pPr marL="0" indent="0">
              <a:buNone/>
            </a:pPr>
            <a:r>
              <a:rPr lang="en-US" sz="1000" dirty="0">
                <a:solidFill>
                  <a:srgbClr val="CCDDEE"/>
                </a:solidFill>
                <a:latin typeface="Calibri" pitchFamily="34" charset="0"/>
                <a:ea typeface="Calibri" pitchFamily="34" charset="-122"/>
                <a:cs typeface="Calibri" pitchFamily="34" charset="-120"/>
              </a:rPr>
              <a:t>Pre-recorded files</a:t>
            </a:r>
            <a:endParaRPr lang="en-US" sz="1000" dirty="0"/>
          </a:p>
          <a:p>
            <a:pPr marL="0" indent="0">
              <a:buNone/>
            </a:pPr>
            <a:r>
              <a:rPr lang="en-US" sz="1000" dirty="0">
                <a:solidFill>
                  <a:srgbClr val="CCDDEE"/>
                </a:solidFill>
                <a:latin typeface="Calibri" pitchFamily="34" charset="0"/>
                <a:ea typeface="Calibri" pitchFamily="34" charset="-122"/>
                <a:cs typeface="Calibri" pitchFamily="34" charset="-120"/>
              </a:rPr>
              <a:t>MP4, AVI, MOV formats</a:t>
            </a:r>
            <a:endParaRPr lang="en-US" sz="1000" dirty="0"/>
          </a:p>
        </p:txBody>
      </p:sp>
      <p:sp>
        <p:nvSpPr>
          <p:cNvPr id="13" name="Shape 11"/>
          <p:cNvSpPr/>
          <p:nvPr/>
        </p:nvSpPr>
        <p:spPr>
          <a:xfrm>
            <a:off x="347472" y="2980944"/>
            <a:ext cx="2487168" cy="658368"/>
          </a:xfrm>
          <a:prstGeom prst="rect">
            <a:avLst/>
          </a:prstGeom>
          <a:solidFill>
            <a:srgbClr val="1A3A5C"/>
          </a:solidFill>
          <a:ln w="12700">
            <a:solidFill>
              <a:srgbClr val="02C39A"/>
            </a:solidFill>
            <a:prstDash val="solid"/>
          </a:ln>
        </p:spPr>
      </p:sp>
      <p:sp>
        <p:nvSpPr>
          <p:cNvPr id="14" name="Text 12"/>
          <p:cNvSpPr/>
          <p:nvPr/>
        </p:nvSpPr>
        <p:spPr>
          <a:xfrm>
            <a:off x="402336" y="3008376"/>
            <a:ext cx="2377440" cy="256032"/>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User Input</a:t>
            </a:r>
            <a:endParaRPr lang="en-US" sz="1100" dirty="0"/>
          </a:p>
        </p:txBody>
      </p:sp>
      <p:sp>
        <p:nvSpPr>
          <p:cNvPr id="15" name="Text 13"/>
          <p:cNvSpPr/>
          <p:nvPr/>
        </p:nvSpPr>
        <p:spPr>
          <a:xfrm>
            <a:off x="402336" y="3255264"/>
            <a:ext cx="2377440" cy="320040"/>
          </a:xfrm>
          <a:prstGeom prst="rect">
            <a:avLst/>
          </a:prstGeom>
          <a:noFill/>
          <a:ln/>
        </p:spPr>
        <p:txBody>
          <a:bodyPr wrap="square" rtlCol="0" anchor="ctr"/>
          <a:lstStyle/>
          <a:p>
            <a:pPr marL="0" indent="0">
              <a:buNone/>
            </a:pPr>
            <a:r>
              <a:rPr lang="en-US" sz="1000" dirty="0">
                <a:solidFill>
                  <a:srgbClr val="CCDDEE"/>
                </a:solidFill>
                <a:latin typeface="Calibri" pitchFamily="34" charset="0"/>
                <a:ea typeface="Calibri" pitchFamily="34" charset="-122"/>
                <a:cs typeface="Calibri" pitchFamily="34" charset="-120"/>
              </a:rPr>
              <a:t>Player name, age,</a:t>
            </a:r>
            <a:endParaRPr lang="en-US" sz="1000" dirty="0"/>
          </a:p>
          <a:p>
            <a:pPr marL="0" indent="0">
              <a:buNone/>
            </a:pPr>
            <a:r>
              <a:rPr lang="en-US" sz="1000" dirty="0">
                <a:solidFill>
                  <a:srgbClr val="CCDDEE"/>
                </a:solidFill>
                <a:latin typeface="Calibri" pitchFamily="34" charset="0"/>
                <a:ea typeface="Calibri" pitchFamily="34" charset="-122"/>
                <a:cs typeface="Calibri" pitchFamily="34" charset="-120"/>
              </a:rPr>
              <a:t>sport category selection</a:t>
            </a:r>
            <a:endParaRPr lang="en-US" sz="1000" dirty="0"/>
          </a:p>
        </p:txBody>
      </p:sp>
      <p:sp>
        <p:nvSpPr>
          <p:cNvPr id="16" name="Shape 14"/>
          <p:cNvSpPr/>
          <p:nvPr/>
        </p:nvSpPr>
        <p:spPr>
          <a:xfrm>
            <a:off x="347472" y="3730752"/>
            <a:ext cx="2487168" cy="658368"/>
          </a:xfrm>
          <a:prstGeom prst="rect">
            <a:avLst/>
          </a:prstGeom>
          <a:solidFill>
            <a:srgbClr val="1A3A5C"/>
          </a:solidFill>
          <a:ln w="12700">
            <a:solidFill>
              <a:srgbClr val="02C39A"/>
            </a:solidFill>
            <a:prstDash val="solid"/>
          </a:ln>
        </p:spPr>
      </p:sp>
      <p:sp>
        <p:nvSpPr>
          <p:cNvPr id="17" name="Text 15"/>
          <p:cNvSpPr/>
          <p:nvPr/>
        </p:nvSpPr>
        <p:spPr>
          <a:xfrm>
            <a:off x="402336" y="3758184"/>
            <a:ext cx="2377440" cy="256032"/>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Analysis Select</a:t>
            </a:r>
            <a:endParaRPr lang="en-US" sz="1100" dirty="0"/>
          </a:p>
        </p:txBody>
      </p:sp>
      <p:sp>
        <p:nvSpPr>
          <p:cNvPr id="18" name="Text 16"/>
          <p:cNvSpPr/>
          <p:nvPr/>
        </p:nvSpPr>
        <p:spPr>
          <a:xfrm>
            <a:off x="402336" y="4005072"/>
            <a:ext cx="2377440" cy="320040"/>
          </a:xfrm>
          <a:prstGeom prst="rect">
            <a:avLst/>
          </a:prstGeom>
          <a:noFill/>
          <a:ln/>
        </p:spPr>
        <p:txBody>
          <a:bodyPr wrap="square" rtlCol="0" anchor="ctr"/>
          <a:lstStyle/>
          <a:p>
            <a:pPr marL="0" indent="0">
              <a:buNone/>
            </a:pPr>
            <a:r>
              <a:rPr lang="en-US" sz="1000" dirty="0">
                <a:solidFill>
                  <a:srgbClr val="CCDDEE"/>
                </a:solidFill>
                <a:latin typeface="Calibri" pitchFamily="34" charset="0"/>
                <a:ea typeface="Calibri" pitchFamily="34" charset="-122"/>
                <a:cs typeface="Calibri" pitchFamily="34" charset="-120"/>
              </a:rPr>
              <a:t>Speed, posture, or</a:t>
            </a:r>
            <a:endParaRPr lang="en-US" sz="1000" dirty="0"/>
          </a:p>
          <a:p>
            <a:pPr marL="0" indent="0">
              <a:buNone/>
            </a:pPr>
            <a:r>
              <a:rPr lang="en-US" sz="1000" dirty="0">
                <a:solidFill>
                  <a:srgbClr val="CCDDEE"/>
                </a:solidFill>
                <a:latin typeface="Calibri" pitchFamily="34" charset="0"/>
                <a:ea typeface="Calibri" pitchFamily="34" charset="-122"/>
                <a:cs typeface="Calibri" pitchFamily="34" charset="-120"/>
              </a:rPr>
              <a:t>movement pattern mode</a:t>
            </a:r>
            <a:endParaRPr lang="en-US" sz="1000" dirty="0"/>
          </a:p>
        </p:txBody>
      </p:sp>
      <p:sp>
        <p:nvSpPr>
          <p:cNvPr id="19" name="Shape 17"/>
          <p:cNvSpPr/>
          <p:nvPr/>
        </p:nvSpPr>
        <p:spPr>
          <a:xfrm>
            <a:off x="3200400" y="1371600"/>
            <a:ext cx="2743200" cy="2103120"/>
          </a:xfrm>
          <a:prstGeom prst="rect">
            <a:avLst/>
          </a:prstGeom>
          <a:solidFill>
            <a:srgbClr val="028090"/>
          </a:solidFill>
          <a:ln w="12700">
            <a:solidFill>
              <a:srgbClr val="028090"/>
            </a:solidFill>
            <a:prstDash val="solid"/>
          </a:ln>
        </p:spPr>
      </p:sp>
      <p:sp>
        <p:nvSpPr>
          <p:cNvPr id="20" name="Text 18"/>
          <p:cNvSpPr/>
          <p:nvPr/>
        </p:nvSpPr>
        <p:spPr>
          <a:xfrm>
            <a:off x="3200400" y="1463040"/>
            <a:ext cx="2743200" cy="19202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VIRTUAL COACH</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SYSTEM</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Core Processing</a:t>
            </a:r>
            <a:endParaRPr lang="en-US" sz="1300" dirty="0"/>
          </a:p>
        </p:txBody>
      </p:sp>
      <p:sp>
        <p:nvSpPr>
          <p:cNvPr id="21" name="Text 19"/>
          <p:cNvSpPr/>
          <p:nvPr/>
        </p:nvSpPr>
        <p:spPr>
          <a:xfrm>
            <a:off x="2926080" y="2331720"/>
            <a:ext cx="274320" cy="274320"/>
          </a:xfrm>
          <a:prstGeom prst="rect">
            <a:avLst/>
          </a:prstGeom>
          <a:noFill/>
          <a:ln/>
        </p:spPr>
        <p:txBody>
          <a:bodyPr wrap="square" rtlCol="0" anchor="ctr"/>
          <a:lstStyle/>
          <a:p>
            <a:pPr marL="0" indent="0" algn="ctr">
              <a:buNone/>
            </a:pPr>
            <a:r>
              <a:rPr lang="en-US" sz="1400" dirty="0">
                <a:solidFill>
                  <a:srgbClr val="F5A623"/>
                </a:solidFill>
              </a:rPr>
              <a:t>→</a:t>
            </a:r>
            <a:endParaRPr lang="en-US" sz="1400" dirty="0"/>
          </a:p>
        </p:txBody>
      </p:sp>
      <p:sp>
        <p:nvSpPr>
          <p:cNvPr id="22" name="Text 20"/>
          <p:cNvSpPr/>
          <p:nvPr/>
        </p:nvSpPr>
        <p:spPr>
          <a:xfrm>
            <a:off x="5943600" y="2331720"/>
            <a:ext cx="274320" cy="274320"/>
          </a:xfrm>
          <a:prstGeom prst="rect">
            <a:avLst/>
          </a:prstGeom>
          <a:noFill/>
          <a:ln/>
        </p:spPr>
        <p:txBody>
          <a:bodyPr wrap="square" rtlCol="0" anchor="ctr"/>
          <a:lstStyle/>
          <a:p>
            <a:pPr marL="0" indent="0" algn="ctr">
              <a:buNone/>
            </a:pPr>
            <a:r>
              <a:rPr lang="en-US" sz="1400" dirty="0">
                <a:solidFill>
                  <a:srgbClr val="F5A623"/>
                </a:solidFill>
              </a:rPr>
              <a:t>→</a:t>
            </a:r>
            <a:endParaRPr lang="en-US" sz="1400" dirty="0"/>
          </a:p>
        </p:txBody>
      </p:sp>
      <p:sp>
        <p:nvSpPr>
          <p:cNvPr id="23" name="Shape 21"/>
          <p:cNvSpPr/>
          <p:nvPr/>
        </p:nvSpPr>
        <p:spPr>
          <a:xfrm>
            <a:off x="6217920" y="777240"/>
            <a:ext cx="2651760" cy="4206240"/>
          </a:xfrm>
          <a:prstGeom prst="rect">
            <a:avLst/>
          </a:prstGeom>
          <a:solidFill>
            <a:srgbClr val="27AE60"/>
          </a:solidFill>
          <a:ln w="12700">
            <a:solidFill>
              <a:srgbClr val="27AE60"/>
            </a:solidFill>
            <a:prstDash val="solid"/>
          </a:ln>
        </p:spPr>
      </p:sp>
      <p:sp>
        <p:nvSpPr>
          <p:cNvPr id="24" name="Text 22"/>
          <p:cNvSpPr/>
          <p:nvPr/>
        </p:nvSpPr>
        <p:spPr>
          <a:xfrm>
            <a:off x="6217920" y="777240"/>
            <a:ext cx="265176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INTERFACES</a:t>
            </a:r>
            <a:endParaRPr lang="en-US" sz="1300" dirty="0"/>
          </a:p>
        </p:txBody>
      </p:sp>
      <p:sp>
        <p:nvSpPr>
          <p:cNvPr id="25" name="Shape 23"/>
          <p:cNvSpPr/>
          <p:nvPr/>
        </p:nvSpPr>
        <p:spPr>
          <a:xfrm>
            <a:off x="6309360" y="1481328"/>
            <a:ext cx="2487168" cy="658368"/>
          </a:xfrm>
          <a:prstGeom prst="rect">
            <a:avLst/>
          </a:prstGeom>
          <a:solidFill>
            <a:srgbClr val="1F6B3A"/>
          </a:solidFill>
          <a:ln w="12700">
            <a:solidFill>
              <a:srgbClr val="02C39A"/>
            </a:solidFill>
            <a:prstDash val="solid"/>
          </a:ln>
        </p:spPr>
      </p:sp>
      <p:sp>
        <p:nvSpPr>
          <p:cNvPr id="26" name="Text 24"/>
          <p:cNvSpPr/>
          <p:nvPr/>
        </p:nvSpPr>
        <p:spPr>
          <a:xfrm>
            <a:off x="6327648" y="1508760"/>
            <a:ext cx="2423160" cy="256032"/>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Skeleton Overlay</a:t>
            </a:r>
            <a:endParaRPr lang="en-US" sz="1100" dirty="0"/>
          </a:p>
        </p:txBody>
      </p:sp>
      <p:sp>
        <p:nvSpPr>
          <p:cNvPr id="27" name="Text 25"/>
          <p:cNvSpPr/>
          <p:nvPr/>
        </p:nvSpPr>
        <p:spPr>
          <a:xfrm>
            <a:off x="6327648" y="1755648"/>
            <a:ext cx="2423160" cy="320040"/>
          </a:xfrm>
          <a:prstGeom prst="rect">
            <a:avLst/>
          </a:prstGeom>
          <a:noFill/>
          <a:ln/>
        </p:spPr>
        <p:txBody>
          <a:bodyPr wrap="square" rtlCol="0" anchor="ctr"/>
          <a:lstStyle/>
          <a:p>
            <a:pPr marL="0" indent="0">
              <a:buNone/>
            </a:pPr>
            <a:r>
              <a:rPr lang="en-US" sz="1000" dirty="0">
                <a:solidFill>
                  <a:srgbClr val="CCEECC"/>
                </a:solidFill>
                <a:latin typeface="Calibri" pitchFamily="34" charset="0"/>
                <a:ea typeface="Calibri" pitchFamily="34" charset="-122"/>
                <a:cs typeface="Calibri" pitchFamily="34" charset="-120"/>
              </a:rPr>
              <a:t>Body joint tracking</a:t>
            </a:r>
            <a:endParaRPr lang="en-US" sz="1000" dirty="0"/>
          </a:p>
          <a:p>
            <a:pPr marL="0" indent="0">
              <a:buNone/>
            </a:pPr>
            <a:r>
              <a:rPr lang="en-US" sz="1000" dirty="0">
                <a:solidFill>
                  <a:srgbClr val="CCEECC"/>
                </a:solidFill>
                <a:latin typeface="Calibri" pitchFamily="34" charset="0"/>
                <a:ea typeface="Calibri" pitchFamily="34" charset="-122"/>
                <a:cs typeface="Calibri" pitchFamily="34" charset="-120"/>
              </a:rPr>
              <a:t>visual on video frames</a:t>
            </a:r>
            <a:endParaRPr lang="en-US" sz="1000" dirty="0"/>
          </a:p>
        </p:txBody>
      </p:sp>
      <p:sp>
        <p:nvSpPr>
          <p:cNvPr id="28" name="Shape 26"/>
          <p:cNvSpPr/>
          <p:nvPr/>
        </p:nvSpPr>
        <p:spPr>
          <a:xfrm>
            <a:off x="6309360" y="2231136"/>
            <a:ext cx="2487168" cy="658368"/>
          </a:xfrm>
          <a:prstGeom prst="rect">
            <a:avLst/>
          </a:prstGeom>
          <a:solidFill>
            <a:srgbClr val="1F6B3A"/>
          </a:solidFill>
          <a:ln w="12700">
            <a:solidFill>
              <a:srgbClr val="02C39A"/>
            </a:solidFill>
            <a:prstDash val="solid"/>
          </a:ln>
        </p:spPr>
      </p:sp>
      <p:sp>
        <p:nvSpPr>
          <p:cNvPr id="29" name="Text 27"/>
          <p:cNvSpPr/>
          <p:nvPr/>
        </p:nvSpPr>
        <p:spPr>
          <a:xfrm>
            <a:off x="6327648" y="2258568"/>
            <a:ext cx="2423160" cy="256032"/>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Heatmaps</a:t>
            </a:r>
            <a:endParaRPr lang="en-US" sz="1100" dirty="0"/>
          </a:p>
        </p:txBody>
      </p:sp>
      <p:sp>
        <p:nvSpPr>
          <p:cNvPr id="30" name="Text 28"/>
          <p:cNvSpPr/>
          <p:nvPr/>
        </p:nvSpPr>
        <p:spPr>
          <a:xfrm>
            <a:off x="6327648" y="2505456"/>
            <a:ext cx="2423160" cy="320040"/>
          </a:xfrm>
          <a:prstGeom prst="rect">
            <a:avLst/>
          </a:prstGeom>
          <a:noFill/>
          <a:ln/>
        </p:spPr>
        <p:txBody>
          <a:bodyPr wrap="square" rtlCol="0" anchor="ctr"/>
          <a:lstStyle/>
          <a:p>
            <a:pPr marL="0" indent="0">
              <a:buNone/>
            </a:pPr>
            <a:r>
              <a:rPr lang="en-US" sz="1000" dirty="0">
                <a:solidFill>
                  <a:srgbClr val="CCEECC"/>
                </a:solidFill>
                <a:latin typeface="Calibri" pitchFamily="34" charset="0"/>
                <a:ea typeface="Calibri" pitchFamily="34" charset="-122"/>
                <a:cs typeface="Calibri" pitchFamily="34" charset="-120"/>
              </a:rPr>
              <a:t>Movement intensity</a:t>
            </a:r>
            <a:endParaRPr lang="en-US" sz="1000" dirty="0"/>
          </a:p>
          <a:p>
            <a:pPr marL="0" indent="0">
              <a:buNone/>
            </a:pPr>
            <a:r>
              <a:rPr lang="en-US" sz="1000" dirty="0">
                <a:solidFill>
                  <a:srgbClr val="CCEECC"/>
                </a:solidFill>
                <a:latin typeface="Calibri" pitchFamily="34" charset="0"/>
                <a:ea typeface="Calibri" pitchFamily="34" charset="-122"/>
                <a:cs typeface="Calibri" pitchFamily="34" charset="-120"/>
              </a:rPr>
              <a:t>and zone analysis</a:t>
            </a:r>
            <a:endParaRPr lang="en-US" sz="1000" dirty="0"/>
          </a:p>
        </p:txBody>
      </p:sp>
      <p:sp>
        <p:nvSpPr>
          <p:cNvPr id="31" name="Shape 29"/>
          <p:cNvSpPr/>
          <p:nvPr/>
        </p:nvSpPr>
        <p:spPr>
          <a:xfrm>
            <a:off x="6309360" y="2980944"/>
            <a:ext cx="2487168" cy="658368"/>
          </a:xfrm>
          <a:prstGeom prst="rect">
            <a:avLst/>
          </a:prstGeom>
          <a:solidFill>
            <a:srgbClr val="1F6B3A"/>
          </a:solidFill>
          <a:ln w="12700">
            <a:solidFill>
              <a:srgbClr val="02C39A"/>
            </a:solidFill>
            <a:prstDash val="solid"/>
          </a:ln>
        </p:spPr>
      </p:sp>
      <p:sp>
        <p:nvSpPr>
          <p:cNvPr id="32" name="Text 30"/>
          <p:cNvSpPr/>
          <p:nvPr/>
        </p:nvSpPr>
        <p:spPr>
          <a:xfrm>
            <a:off x="6327648" y="3008376"/>
            <a:ext cx="2423160" cy="256032"/>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Graphs</a:t>
            </a:r>
            <a:endParaRPr lang="en-US" sz="1100" dirty="0"/>
          </a:p>
        </p:txBody>
      </p:sp>
      <p:sp>
        <p:nvSpPr>
          <p:cNvPr id="33" name="Text 31"/>
          <p:cNvSpPr/>
          <p:nvPr/>
        </p:nvSpPr>
        <p:spPr>
          <a:xfrm>
            <a:off x="6327648" y="3255264"/>
            <a:ext cx="2423160" cy="320040"/>
          </a:xfrm>
          <a:prstGeom prst="rect">
            <a:avLst/>
          </a:prstGeom>
          <a:noFill/>
          <a:ln/>
        </p:spPr>
        <p:txBody>
          <a:bodyPr wrap="square" rtlCol="0" anchor="ctr"/>
          <a:lstStyle/>
          <a:p>
            <a:pPr marL="0" indent="0">
              <a:buNone/>
            </a:pPr>
            <a:r>
              <a:rPr lang="en-US" sz="1000" dirty="0">
                <a:solidFill>
                  <a:srgbClr val="CCEECC"/>
                </a:solidFill>
                <a:latin typeface="Calibri" pitchFamily="34" charset="0"/>
                <a:ea typeface="Calibri" pitchFamily="34" charset="-122"/>
                <a:cs typeface="Calibri" pitchFamily="34" charset="-120"/>
              </a:rPr>
              <a:t>Performance charts</a:t>
            </a:r>
            <a:endParaRPr lang="en-US" sz="1000" dirty="0"/>
          </a:p>
          <a:p>
            <a:pPr marL="0" indent="0">
              <a:buNone/>
            </a:pPr>
            <a:r>
              <a:rPr lang="en-US" sz="1000" dirty="0">
                <a:solidFill>
                  <a:srgbClr val="CCEECC"/>
                </a:solidFill>
                <a:latin typeface="Calibri" pitchFamily="34" charset="0"/>
                <a:ea typeface="Calibri" pitchFamily="34" charset="-122"/>
                <a:cs typeface="Calibri" pitchFamily="34" charset="-120"/>
              </a:rPr>
              <a:t>and metric trends</a:t>
            </a:r>
            <a:endParaRPr lang="en-US" sz="1000" dirty="0"/>
          </a:p>
        </p:txBody>
      </p:sp>
      <p:sp>
        <p:nvSpPr>
          <p:cNvPr id="34" name="Shape 32"/>
          <p:cNvSpPr/>
          <p:nvPr/>
        </p:nvSpPr>
        <p:spPr>
          <a:xfrm>
            <a:off x="6309360" y="3730752"/>
            <a:ext cx="2487168" cy="658368"/>
          </a:xfrm>
          <a:prstGeom prst="rect">
            <a:avLst/>
          </a:prstGeom>
          <a:solidFill>
            <a:srgbClr val="1F6B3A"/>
          </a:solidFill>
          <a:ln w="12700">
            <a:solidFill>
              <a:srgbClr val="02C39A"/>
            </a:solidFill>
            <a:prstDash val="solid"/>
          </a:ln>
        </p:spPr>
      </p:sp>
      <p:sp>
        <p:nvSpPr>
          <p:cNvPr id="35" name="Text 33"/>
          <p:cNvSpPr/>
          <p:nvPr/>
        </p:nvSpPr>
        <p:spPr>
          <a:xfrm>
            <a:off x="6327648" y="3758184"/>
            <a:ext cx="2423160" cy="256032"/>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PDF Reports</a:t>
            </a:r>
            <a:endParaRPr lang="en-US" sz="1100" dirty="0"/>
          </a:p>
        </p:txBody>
      </p:sp>
      <p:sp>
        <p:nvSpPr>
          <p:cNvPr id="36" name="Text 34"/>
          <p:cNvSpPr/>
          <p:nvPr/>
        </p:nvSpPr>
        <p:spPr>
          <a:xfrm>
            <a:off x="6327648" y="4005072"/>
            <a:ext cx="2423160" cy="320040"/>
          </a:xfrm>
          <a:prstGeom prst="rect">
            <a:avLst/>
          </a:prstGeom>
          <a:noFill/>
          <a:ln/>
        </p:spPr>
        <p:txBody>
          <a:bodyPr wrap="square" rtlCol="0" anchor="ctr"/>
          <a:lstStyle/>
          <a:p>
            <a:pPr marL="0" indent="0">
              <a:buNone/>
            </a:pPr>
            <a:r>
              <a:rPr lang="en-US" sz="1000" dirty="0">
                <a:solidFill>
                  <a:srgbClr val="CCEECC"/>
                </a:solidFill>
                <a:latin typeface="Calibri" pitchFamily="34" charset="0"/>
                <a:ea typeface="Calibri" pitchFamily="34" charset="-122"/>
                <a:cs typeface="Calibri" pitchFamily="34" charset="-120"/>
              </a:rPr>
              <a:t>Downloadable reports</a:t>
            </a:r>
            <a:endParaRPr lang="en-US" sz="1000" dirty="0"/>
          </a:p>
          <a:p>
            <a:pPr marL="0" indent="0">
              <a:buNone/>
            </a:pPr>
            <a:r>
              <a:rPr lang="en-US" sz="1000" dirty="0">
                <a:solidFill>
                  <a:srgbClr val="CCEECC"/>
                </a:solidFill>
                <a:latin typeface="Calibri" pitchFamily="34" charset="0"/>
                <a:ea typeface="Calibri" pitchFamily="34" charset="-122"/>
                <a:cs typeface="Calibri" pitchFamily="34" charset="-120"/>
              </a:rPr>
              <a:t>with scores &amp; tips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User Interface Design</a:t>
            </a:r>
            <a:endParaRPr lang="en-US" sz="2200" dirty="0"/>
          </a:p>
        </p:txBody>
      </p:sp>
      <p:sp>
        <p:nvSpPr>
          <p:cNvPr id="5" name="Text 3"/>
          <p:cNvSpPr/>
          <p:nvPr/>
        </p:nvSpPr>
        <p:spPr>
          <a:xfrm>
            <a:off x="365760" y="749808"/>
            <a:ext cx="8412480" cy="274320"/>
          </a:xfrm>
          <a:prstGeom prst="rect">
            <a:avLst/>
          </a:prstGeom>
          <a:noFill/>
          <a:ln/>
        </p:spPr>
        <p:txBody>
          <a:bodyPr wrap="square" rtlCol="0" anchor="ctr"/>
          <a:lstStyle/>
          <a:p>
            <a:pPr marL="0" indent="0">
              <a:buNone/>
            </a:pPr>
            <a:r>
              <a:rPr lang="en-US" sz="1150" i="1" dirty="0">
                <a:solidFill>
                  <a:srgbClr val="4A6580"/>
                </a:solidFill>
                <a:latin typeface="Calibri" pitchFamily="34" charset="0"/>
                <a:ea typeface="Calibri" pitchFamily="34" charset="-122"/>
                <a:cs typeface="Calibri" pitchFamily="34" charset="-120"/>
              </a:rPr>
              <a:t>Navigation flow: Login → Dashboard → Upload Video → Analysis Viewer → Report Download</a:t>
            </a:r>
            <a:endParaRPr lang="en-US" sz="1150" dirty="0"/>
          </a:p>
        </p:txBody>
      </p:sp>
      <p:sp>
        <p:nvSpPr>
          <p:cNvPr id="6" name="Shape 4"/>
          <p:cNvSpPr/>
          <p:nvPr/>
        </p:nvSpPr>
        <p:spPr>
          <a:xfrm>
            <a:off x="274320" y="1115568"/>
            <a:ext cx="2788920" cy="1755648"/>
          </a:xfrm>
          <a:prstGeom prst="rect">
            <a:avLst/>
          </a:prstGeom>
          <a:solidFill>
            <a:srgbClr val="F8FAFB"/>
          </a:solidFill>
          <a:ln w="12700">
            <a:solidFill>
              <a:srgbClr val="CBD5E0"/>
            </a:solidFill>
            <a:prstDash val="solid"/>
          </a:ln>
          <a:effectLst>
            <a:outerShdw blurRad="50800" dist="25400" dir="8100000" algn="bl" rotWithShape="0">
              <a:srgbClr val="000000">
                <a:alpha val="10000"/>
              </a:srgbClr>
            </a:outerShdw>
          </a:effectLst>
        </p:spPr>
      </p:sp>
      <p:sp>
        <p:nvSpPr>
          <p:cNvPr id="7" name="Shape 5"/>
          <p:cNvSpPr/>
          <p:nvPr/>
        </p:nvSpPr>
        <p:spPr>
          <a:xfrm>
            <a:off x="274320" y="1115568"/>
            <a:ext cx="2788920" cy="475488"/>
          </a:xfrm>
          <a:prstGeom prst="rect">
            <a:avLst/>
          </a:prstGeom>
          <a:solidFill>
            <a:srgbClr val="1A3A5C"/>
          </a:solidFill>
          <a:ln w="12700">
            <a:solidFill>
              <a:srgbClr val="1A3A5C"/>
            </a:solidFill>
            <a:prstDash val="solid"/>
          </a:ln>
        </p:spPr>
      </p:sp>
      <p:sp>
        <p:nvSpPr>
          <p:cNvPr id="8" name="Text 6"/>
          <p:cNvSpPr/>
          <p:nvPr/>
        </p:nvSpPr>
        <p:spPr>
          <a:xfrm>
            <a:off x="365760" y="1207008"/>
            <a:ext cx="260604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Login Screen</a:t>
            </a:r>
            <a:endParaRPr lang="en-US" sz="1200" dirty="0"/>
          </a:p>
        </p:txBody>
      </p:sp>
      <p:sp>
        <p:nvSpPr>
          <p:cNvPr id="9" name="Text 7"/>
          <p:cNvSpPr/>
          <p:nvPr/>
        </p:nvSpPr>
        <p:spPr>
          <a:xfrm>
            <a:off x="365760" y="1664208"/>
            <a:ext cx="2606040" cy="114300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Secure authentication with email/password. Player registration with profile details.</a:t>
            </a:r>
            <a:endParaRPr lang="en-US" sz="1100" dirty="0"/>
          </a:p>
        </p:txBody>
      </p:sp>
      <p:sp>
        <p:nvSpPr>
          <p:cNvPr id="10" name="Shape 8"/>
          <p:cNvSpPr/>
          <p:nvPr/>
        </p:nvSpPr>
        <p:spPr>
          <a:xfrm>
            <a:off x="3172968" y="1115568"/>
            <a:ext cx="2788920" cy="1755648"/>
          </a:xfrm>
          <a:prstGeom prst="rect">
            <a:avLst/>
          </a:prstGeom>
          <a:solidFill>
            <a:srgbClr val="F8FAFB"/>
          </a:solidFill>
          <a:ln w="12700">
            <a:solidFill>
              <a:srgbClr val="CBD5E0"/>
            </a:solidFill>
            <a:prstDash val="solid"/>
          </a:ln>
          <a:effectLst>
            <a:outerShdw blurRad="50800" dist="25400" dir="8100000" algn="bl" rotWithShape="0">
              <a:srgbClr val="000000">
                <a:alpha val="10000"/>
              </a:srgbClr>
            </a:outerShdw>
          </a:effectLst>
        </p:spPr>
      </p:sp>
      <p:sp>
        <p:nvSpPr>
          <p:cNvPr id="11" name="Shape 9"/>
          <p:cNvSpPr/>
          <p:nvPr/>
        </p:nvSpPr>
        <p:spPr>
          <a:xfrm>
            <a:off x="3172968" y="1115568"/>
            <a:ext cx="2788920" cy="475488"/>
          </a:xfrm>
          <a:prstGeom prst="rect">
            <a:avLst/>
          </a:prstGeom>
          <a:solidFill>
            <a:srgbClr val="028090"/>
          </a:solidFill>
          <a:ln w="12700">
            <a:solidFill>
              <a:srgbClr val="028090"/>
            </a:solidFill>
            <a:prstDash val="solid"/>
          </a:ln>
        </p:spPr>
      </p:sp>
      <p:sp>
        <p:nvSpPr>
          <p:cNvPr id="12" name="Text 10"/>
          <p:cNvSpPr/>
          <p:nvPr/>
        </p:nvSpPr>
        <p:spPr>
          <a:xfrm>
            <a:off x="3264408" y="1207008"/>
            <a:ext cx="260604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Dashboard</a:t>
            </a:r>
            <a:endParaRPr lang="en-US" sz="1200" dirty="0"/>
          </a:p>
        </p:txBody>
      </p:sp>
      <p:sp>
        <p:nvSpPr>
          <p:cNvPr id="13" name="Text 11"/>
          <p:cNvSpPr/>
          <p:nvPr/>
        </p:nvSpPr>
        <p:spPr>
          <a:xfrm>
            <a:off x="3264408" y="1664208"/>
            <a:ext cx="2606040" cy="114300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Player profiles, recent videos, performance stats, analysis tools, report section.</a:t>
            </a:r>
            <a:endParaRPr lang="en-US" sz="1100" dirty="0"/>
          </a:p>
        </p:txBody>
      </p:sp>
      <p:sp>
        <p:nvSpPr>
          <p:cNvPr id="14" name="Shape 12"/>
          <p:cNvSpPr/>
          <p:nvPr/>
        </p:nvSpPr>
        <p:spPr>
          <a:xfrm>
            <a:off x="6071616" y="1115568"/>
            <a:ext cx="2788920" cy="1755648"/>
          </a:xfrm>
          <a:prstGeom prst="rect">
            <a:avLst/>
          </a:prstGeom>
          <a:solidFill>
            <a:srgbClr val="F8FAFB"/>
          </a:solidFill>
          <a:ln w="12700">
            <a:solidFill>
              <a:srgbClr val="CBD5E0"/>
            </a:solidFill>
            <a:prstDash val="solid"/>
          </a:ln>
          <a:effectLst>
            <a:outerShdw blurRad="50800" dist="25400" dir="8100000" algn="bl" rotWithShape="0">
              <a:srgbClr val="000000">
                <a:alpha val="10000"/>
              </a:srgbClr>
            </a:outerShdw>
          </a:effectLst>
        </p:spPr>
      </p:sp>
      <p:sp>
        <p:nvSpPr>
          <p:cNvPr id="15" name="Shape 13"/>
          <p:cNvSpPr/>
          <p:nvPr/>
        </p:nvSpPr>
        <p:spPr>
          <a:xfrm>
            <a:off x="6071616" y="1115568"/>
            <a:ext cx="2788920" cy="475488"/>
          </a:xfrm>
          <a:prstGeom prst="rect">
            <a:avLst/>
          </a:prstGeom>
          <a:solidFill>
            <a:srgbClr val="8E44AD"/>
          </a:solidFill>
          <a:ln w="12700">
            <a:solidFill>
              <a:srgbClr val="8E44AD"/>
            </a:solidFill>
            <a:prstDash val="solid"/>
          </a:ln>
        </p:spPr>
      </p:sp>
      <p:sp>
        <p:nvSpPr>
          <p:cNvPr id="16" name="Text 14"/>
          <p:cNvSpPr/>
          <p:nvPr/>
        </p:nvSpPr>
        <p:spPr>
          <a:xfrm>
            <a:off x="6163056" y="1207008"/>
            <a:ext cx="260604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Video Upload</a:t>
            </a:r>
            <a:endParaRPr lang="en-US" sz="1200" dirty="0"/>
          </a:p>
        </p:txBody>
      </p:sp>
      <p:sp>
        <p:nvSpPr>
          <p:cNvPr id="17" name="Text 15"/>
          <p:cNvSpPr/>
          <p:nvPr/>
        </p:nvSpPr>
        <p:spPr>
          <a:xfrm>
            <a:off x="6163056" y="1664208"/>
            <a:ext cx="2606040" cy="114300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Upload or record cricket video. Select analysis type (batting/bowling), resolution settings.</a:t>
            </a:r>
            <a:endParaRPr lang="en-US" sz="1100" dirty="0"/>
          </a:p>
        </p:txBody>
      </p:sp>
      <p:sp>
        <p:nvSpPr>
          <p:cNvPr id="18" name="Shape 16"/>
          <p:cNvSpPr/>
          <p:nvPr/>
        </p:nvSpPr>
        <p:spPr>
          <a:xfrm>
            <a:off x="274320" y="3035808"/>
            <a:ext cx="2788920" cy="1755648"/>
          </a:xfrm>
          <a:prstGeom prst="rect">
            <a:avLst/>
          </a:prstGeom>
          <a:solidFill>
            <a:srgbClr val="F8FAFB"/>
          </a:solidFill>
          <a:ln w="12700">
            <a:solidFill>
              <a:srgbClr val="CBD5E0"/>
            </a:solidFill>
            <a:prstDash val="solid"/>
          </a:ln>
          <a:effectLst>
            <a:outerShdw blurRad="50800" dist="25400" dir="8100000" algn="bl" rotWithShape="0">
              <a:srgbClr val="000000">
                <a:alpha val="10000"/>
              </a:srgbClr>
            </a:outerShdw>
          </a:effectLst>
        </p:spPr>
      </p:sp>
      <p:sp>
        <p:nvSpPr>
          <p:cNvPr id="19" name="Shape 17"/>
          <p:cNvSpPr/>
          <p:nvPr/>
        </p:nvSpPr>
        <p:spPr>
          <a:xfrm>
            <a:off x="274320" y="3035808"/>
            <a:ext cx="2788920" cy="475488"/>
          </a:xfrm>
          <a:prstGeom prst="rect">
            <a:avLst/>
          </a:prstGeom>
          <a:solidFill>
            <a:srgbClr val="E67E22"/>
          </a:solidFill>
          <a:ln w="12700">
            <a:solidFill>
              <a:srgbClr val="E67E22"/>
            </a:solidFill>
            <a:prstDash val="solid"/>
          </a:ln>
        </p:spPr>
      </p:sp>
      <p:sp>
        <p:nvSpPr>
          <p:cNvPr id="20" name="Text 18"/>
          <p:cNvSpPr/>
          <p:nvPr/>
        </p:nvSpPr>
        <p:spPr>
          <a:xfrm>
            <a:off x="365760" y="3127248"/>
            <a:ext cx="260604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Analysis View</a:t>
            </a:r>
            <a:endParaRPr lang="en-US" sz="1200" dirty="0"/>
          </a:p>
        </p:txBody>
      </p:sp>
      <p:sp>
        <p:nvSpPr>
          <p:cNvPr id="21" name="Text 19"/>
          <p:cNvSpPr/>
          <p:nvPr/>
        </p:nvSpPr>
        <p:spPr>
          <a:xfrm>
            <a:off x="365760" y="3584448"/>
            <a:ext cx="2606040" cy="114300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Skeleton tracking overlay on video frames. Performance graphs, joint angle display.</a:t>
            </a:r>
            <a:endParaRPr lang="en-US" sz="1100" dirty="0"/>
          </a:p>
        </p:txBody>
      </p:sp>
      <p:sp>
        <p:nvSpPr>
          <p:cNvPr id="22" name="Shape 20"/>
          <p:cNvSpPr/>
          <p:nvPr/>
        </p:nvSpPr>
        <p:spPr>
          <a:xfrm>
            <a:off x="3172968" y="3035808"/>
            <a:ext cx="2788920" cy="1755648"/>
          </a:xfrm>
          <a:prstGeom prst="rect">
            <a:avLst/>
          </a:prstGeom>
          <a:solidFill>
            <a:srgbClr val="F8FAFB"/>
          </a:solidFill>
          <a:ln w="12700">
            <a:solidFill>
              <a:srgbClr val="CBD5E0"/>
            </a:solidFill>
            <a:prstDash val="solid"/>
          </a:ln>
          <a:effectLst>
            <a:outerShdw blurRad="50800" dist="25400" dir="8100000" algn="bl" rotWithShape="0">
              <a:srgbClr val="000000">
                <a:alpha val="10000"/>
              </a:srgbClr>
            </a:outerShdw>
          </a:effectLst>
        </p:spPr>
      </p:sp>
      <p:sp>
        <p:nvSpPr>
          <p:cNvPr id="23" name="Shape 21"/>
          <p:cNvSpPr/>
          <p:nvPr/>
        </p:nvSpPr>
        <p:spPr>
          <a:xfrm>
            <a:off x="3172968" y="3035808"/>
            <a:ext cx="2788920" cy="475488"/>
          </a:xfrm>
          <a:prstGeom prst="rect">
            <a:avLst/>
          </a:prstGeom>
          <a:solidFill>
            <a:srgbClr val="27AE60"/>
          </a:solidFill>
          <a:ln w="12700">
            <a:solidFill>
              <a:srgbClr val="27AE60"/>
            </a:solidFill>
            <a:prstDash val="solid"/>
          </a:ln>
        </p:spPr>
      </p:sp>
      <p:sp>
        <p:nvSpPr>
          <p:cNvPr id="24" name="Text 22"/>
          <p:cNvSpPr/>
          <p:nvPr/>
        </p:nvSpPr>
        <p:spPr>
          <a:xfrm>
            <a:off x="3264408" y="3127248"/>
            <a:ext cx="260604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Graphs &amp; Metrics</a:t>
            </a:r>
            <a:endParaRPr lang="en-US" sz="1200" dirty="0"/>
          </a:p>
        </p:txBody>
      </p:sp>
      <p:sp>
        <p:nvSpPr>
          <p:cNvPr id="25" name="Text 23"/>
          <p:cNvSpPr/>
          <p:nvPr/>
        </p:nvSpPr>
        <p:spPr>
          <a:xfrm>
            <a:off x="3264408" y="3584448"/>
            <a:ext cx="2606040" cy="114300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Historical performance charts, improvement trends, comparison with ideal benchmarks.</a:t>
            </a:r>
            <a:endParaRPr lang="en-US" sz="1100" dirty="0"/>
          </a:p>
        </p:txBody>
      </p:sp>
      <p:sp>
        <p:nvSpPr>
          <p:cNvPr id="26" name="Shape 24"/>
          <p:cNvSpPr/>
          <p:nvPr/>
        </p:nvSpPr>
        <p:spPr>
          <a:xfrm>
            <a:off x="6071616" y="3035808"/>
            <a:ext cx="2788920" cy="1755648"/>
          </a:xfrm>
          <a:prstGeom prst="rect">
            <a:avLst/>
          </a:prstGeom>
          <a:solidFill>
            <a:srgbClr val="F8FAFB"/>
          </a:solidFill>
          <a:ln w="12700">
            <a:solidFill>
              <a:srgbClr val="CBD5E0"/>
            </a:solidFill>
            <a:prstDash val="solid"/>
          </a:ln>
          <a:effectLst>
            <a:outerShdw blurRad="50800" dist="25400" dir="8100000" algn="bl" rotWithShape="0">
              <a:srgbClr val="000000">
                <a:alpha val="10000"/>
              </a:srgbClr>
            </a:outerShdw>
          </a:effectLst>
        </p:spPr>
      </p:sp>
      <p:sp>
        <p:nvSpPr>
          <p:cNvPr id="27" name="Shape 25"/>
          <p:cNvSpPr/>
          <p:nvPr/>
        </p:nvSpPr>
        <p:spPr>
          <a:xfrm>
            <a:off x="6071616" y="3035808"/>
            <a:ext cx="2788920" cy="475488"/>
          </a:xfrm>
          <a:prstGeom prst="rect">
            <a:avLst/>
          </a:prstGeom>
          <a:solidFill>
            <a:srgbClr val="E74C3C"/>
          </a:solidFill>
          <a:ln w="12700">
            <a:solidFill>
              <a:srgbClr val="E74C3C"/>
            </a:solidFill>
            <a:prstDash val="solid"/>
          </a:ln>
        </p:spPr>
      </p:sp>
      <p:sp>
        <p:nvSpPr>
          <p:cNvPr id="28" name="Text 26"/>
          <p:cNvSpPr/>
          <p:nvPr/>
        </p:nvSpPr>
        <p:spPr>
          <a:xfrm>
            <a:off x="6163056" y="3127248"/>
            <a:ext cx="2606040" cy="3200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Download Report</a:t>
            </a:r>
            <a:endParaRPr lang="en-US" sz="1200" dirty="0"/>
          </a:p>
        </p:txBody>
      </p:sp>
      <p:sp>
        <p:nvSpPr>
          <p:cNvPr id="29" name="Text 27"/>
          <p:cNvSpPr/>
          <p:nvPr/>
        </p:nvSpPr>
        <p:spPr>
          <a:xfrm>
            <a:off x="6163056" y="3584448"/>
            <a:ext cx="2606040" cy="1143000"/>
          </a:xfrm>
          <a:prstGeom prst="rect">
            <a:avLst/>
          </a:prstGeom>
          <a:noFill/>
          <a:ln/>
        </p:spPr>
        <p:txBody>
          <a:bodyPr wrap="square" rtlCol="0" anchor="t"/>
          <a:lstStyle/>
          <a:p>
            <a:pPr marL="0" indent="0">
              <a:buNone/>
            </a:pPr>
            <a:r>
              <a:rPr lang="en-US" sz="1100" dirty="0">
                <a:solidFill>
                  <a:srgbClr val="1A2E40"/>
                </a:solidFill>
                <a:latin typeface="Calibri" pitchFamily="34" charset="0"/>
                <a:ea typeface="Calibri" pitchFamily="34" charset="-122"/>
                <a:cs typeface="Calibri" pitchFamily="34" charset="-120"/>
              </a:rPr>
              <a:t>Generate and download PDF performance report with scores, tips, and visualizations.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UML – Class Diagram Overview</a:t>
            </a:r>
            <a:endParaRPr lang="en-US" sz="2200" dirty="0"/>
          </a:p>
        </p:txBody>
      </p:sp>
      <p:sp>
        <p:nvSpPr>
          <p:cNvPr id="5" name="Text 3"/>
          <p:cNvSpPr/>
          <p:nvPr/>
        </p:nvSpPr>
        <p:spPr>
          <a:xfrm>
            <a:off x="365760" y="749808"/>
            <a:ext cx="8412480" cy="274320"/>
          </a:xfrm>
          <a:prstGeom prst="rect">
            <a:avLst/>
          </a:prstGeom>
          <a:noFill/>
          <a:ln/>
        </p:spPr>
        <p:txBody>
          <a:bodyPr wrap="square" rtlCol="0" anchor="ctr"/>
          <a:lstStyle/>
          <a:p>
            <a:pPr marL="0" indent="0">
              <a:buNone/>
            </a:pPr>
            <a:r>
              <a:rPr lang="en-US" sz="1150" i="1" dirty="0">
                <a:solidFill>
                  <a:srgbClr val="4A6580"/>
                </a:solidFill>
                <a:latin typeface="Calibri" pitchFamily="34" charset="0"/>
                <a:ea typeface="Calibri" pitchFamily="34" charset="-122"/>
                <a:cs typeface="Calibri" pitchFamily="34" charset="-120"/>
              </a:rPr>
              <a:t>Key classes, attributes, methods, and relationships in the Virtual Coach system</a:t>
            </a:r>
            <a:endParaRPr lang="en-US" sz="1150" dirty="0"/>
          </a:p>
        </p:txBody>
      </p:sp>
      <p:sp>
        <p:nvSpPr>
          <p:cNvPr id="6" name="Shape 4"/>
          <p:cNvSpPr/>
          <p:nvPr/>
        </p:nvSpPr>
        <p:spPr>
          <a:xfrm>
            <a:off x="365760" y="1097280"/>
            <a:ext cx="2560320" cy="1737360"/>
          </a:xfrm>
          <a:prstGeom prst="rect">
            <a:avLst/>
          </a:prstGeom>
          <a:solidFill>
            <a:srgbClr val="F8FAFB"/>
          </a:solidFill>
          <a:ln w="19050">
            <a:solidFill>
              <a:srgbClr val="1A3A5C"/>
            </a:solidFill>
            <a:prstDash val="solid"/>
          </a:ln>
        </p:spPr>
      </p:sp>
      <p:sp>
        <p:nvSpPr>
          <p:cNvPr id="7" name="Shape 5"/>
          <p:cNvSpPr/>
          <p:nvPr/>
        </p:nvSpPr>
        <p:spPr>
          <a:xfrm>
            <a:off x="365760" y="1097280"/>
            <a:ext cx="2560320" cy="347472"/>
          </a:xfrm>
          <a:prstGeom prst="rect">
            <a:avLst/>
          </a:prstGeom>
          <a:solidFill>
            <a:srgbClr val="1A3A5C"/>
          </a:solidFill>
          <a:ln w="12700">
            <a:solidFill>
              <a:srgbClr val="1A3A5C"/>
            </a:solidFill>
            <a:prstDash val="solid"/>
          </a:ln>
        </p:spPr>
      </p:sp>
      <p:sp>
        <p:nvSpPr>
          <p:cNvPr id="8" name="Text 6"/>
          <p:cNvSpPr/>
          <p:nvPr/>
        </p:nvSpPr>
        <p:spPr>
          <a:xfrm>
            <a:off x="365760" y="1097280"/>
            <a:ext cx="2560320"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Player</a:t>
            </a:r>
            <a:endParaRPr lang="en-US" sz="1250" dirty="0"/>
          </a:p>
        </p:txBody>
      </p:sp>
      <p:sp>
        <p:nvSpPr>
          <p:cNvPr id="9" name="Text 7"/>
          <p:cNvSpPr/>
          <p:nvPr/>
        </p:nvSpPr>
        <p:spPr>
          <a:xfrm>
            <a:off x="457200" y="1481328"/>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+playerId: String</a:t>
            </a:r>
            <a:endParaRPr lang="en-US" sz="1000" dirty="0"/>
          </a:p>
        </p:txBody>
      </p:sp>
      <p:sp>
        <p:nvSpPr>
          <p:cNvPr id="10" name="Shape 8"/>
          <p:cNvSpPr/>
          <p:nvPr/>
        </p:nvSpPr>
        <p:spPr>
          <a:xfrm>
            <a:off x="365760" y="1764792"/>
            <a:ext cx="2560320" cy="0"/>
          </a:xfrm>
          <a:prstGeom prst="line">
            <a:avLst/>
          </a:prstGeom>
          <a:noFill/>
          <a:ln w="6350">
            <a:solidFill>
              <a:srgbClr val="D0DCE8"/>
            </a:solidFill>
            <a:prstDash val="solid"/>
          </a:ln>
        </p:spPr>
      </p:sp>
      <p:sp>
        <p:nvSpPr>
          <p:cNvPr id="11" name="Text 9"/>
          <p:cNvSpPr/>
          <p:nvPr/>
        </p:nvSpPr>
        <p:spPr>
          <a:xfrm>
            <a:off x="457200" y="1792224"/>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+name: String</a:t>
            </a:r>
            <a:endParaRPr lang="en-US" sz="1000" dirty="0"/>
          </a:p>
        </p:txBody>
      </p:sp>
      <p:sp>
        <p:nvSpPr>
          <p:cNvPr id="12" name="Text 10"/>
          <p:cNvSpPr/>
          <p:nvPr/>
        </p:nvSpPr>
        <p:spPr>
          <a:xfrm>
            <a:off x="457200" y="2103120"/>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+login()</a:t>
            </a:r>
            <a:endParaRPr lang="en-US" sz="1000" dirty="0"/>
          </a:p>
        </p:txBody>
      </p:sp>
      <p:sp>
        <p:nvSpPr>
          <p:cNvPr id="13" name="Text 11"/>
          <p:cNvSpPr/>
          <p:nvPr/>
        </p:nvSpPr>
        <p:spPr>
          <a:xfrm>
            <a:off x="457200" y="2414016"/>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+uploadVideo()</a:t>
            </a:r>
            <a:endParaRPr lang="en-US" sz="1000" dirty="0"/>
          </a:p>
        </p:txBody>
      </p:sp>
      <p:sp>
        <p:nvSpPr>
          <p:cNvPr id="14" name="Shape 12"/>
          <p:cNvSpPr/>
          <p:nvPr/>
        </p:nvSpPr>
        <p:spPr>
          <a:xfrm>
            <a:off x="3017520" y="1097280"/>
            <a:ext cx="2560320" cy="1737360"/>
          </a:xfrm>
          <a:prstGeom prst="rect">
            <a:avLst/>
          </a:prstGeom>
          <a:solidFill>
            <a:srgbClr val="F8FAFB"/>
          </a:solidFill>
          <a:ln w="19050">
            <a:solidFill>
              <a:srgbClr val="028090"/>
            </a:solidFill>
            <a:prstDash val="solid"/>
          </a:ln>
        </p:spPr>
      </p:sp>
      <p:sp>
        <p:nvSpPr>
          <p:cNvPr id="15" name="Shape 13"/>
          <p:cNvSpPr/>
          <p:nvPr/>
        </p:nvSpPr>
        <p:spPr>
          <a:xfrm>
            <a:off x="3017520" y="1097280"/>
            <a:ext cx="2560320" cy="347472"/>
          </a:xfrm>
          <a:prstGeom prst="rect">
            <a:avLst/>
          </a:prstGeom>
          <a:solidFill>
            <a:srgbClr val="028090"/>
          </a:solidFill>
          <a:ln w="12700">
            <a:solidFill>
              <a:srgbClr val="028090"/>
            </a:solidFill>
            <a:prstDash val="solid"/>
          </a:ln>
        </p:spPr>
      </p:sp>
      <p:sp>
        <p:nvSpPr>
          <p:cNvPr id="16" name="Text 14"/>
          <p:cNvSpPr/>
          <p:nvPr/>
        </p:nvSpPr>
        <p:spPr>
          <a:xfrm>
            <a:off x="3017520" y="1097280"/>
            <a:ext cx="2560320"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Video</a:t>
            </a:r>
            <a:endParaRPr lang="en-US" sz="1250" dirty="0"/>
          </a:p>
        </p:txBody>
      </p:sp>
      <p:sp>
        <p:nvSpPr>
          <p:cNvPr id="17" name="Text 15"/>
          <p:cNvSpPr/>
          <p:nvPr/>
        </p:nvSpPr>
        <p:spPr>
          <a:xfrm>
            <a:off x="3108960" y="1481328"/>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+videoId: String</a:t>
            </a:r>
            <a:endParaRPr lang="en-US" sz="1000" dirty="0"/>
          </a:p>
        </p:txBody>
      </p:sp>
      <p:sp>
        <p:nvSpPr>
          <p:cNvPr id="18" name="Shape 16"/>
          <p:cNvSpPr/>
          <p:nvPr/>
        </p:nvSpPr>
        <p:spPr>
          <a:xfrm>
            <a:off x="3017520" y="1764792"/>
            <a:ext cx="2560320" cy="0"/>
          </a:xfrm>
          <a:prstGeom prst="line">
            <a:avLst/>
          </a:prstGeom>
          <a:noFill/>
          <a:ln w="6350">
            <a:solidFill>
              <a:srgbClr val="D0DCE8"/>
            </a:solidFill>
            <a:prstDash val="solid"/>
          </a:ln>
        </p:spPr>
      </p:sp>
      <p:sp>
        <p:nvSpPr>
          <p:cNvPr id="19" name="Text 17"/>
          <p:cNvSpPr/>
          <p:nvPr/>
        </p:nvSpPr>
        <p:spPr>
          <a:xfrm>
            <a:off x="3108960" y="1792224"/>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+filePath: String</a:t>
            </a:r>
            <a:endParaRPr lang="en-US" sz="1000" dirty="0"/>
          </a:p>
        </p:txBody>
      </p:sp>
      <p:sp>
        <p:nvSpPr>
          <p:cNvPr id="20" name="Text 18"/>
          <p:cNvSpPr/>
          <p:nvPr/>
        </p:nvSpPr>
        <p:spPr>
          <a:xfrm>
            <a:off x="3108960" y="2103120"/>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+capture()</a:t>
            </a:r>
            <a:endParaRPr lang="en-US" sz="1000" dirty="0"/>
          </a:p>
        </p:txBody>
      </p:sp>
      <p:sp>
        <p:nvSpPr>
          <p:cNvPr id="21" name="Text 19"/>
          <p:cNvSpPr/>
          <p:nvPr/>
        </p:nvSpPr>
        <p:spPr>
          <a:xfrm>
            <a:off x="3108960" y="2414016"/>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+processFrames()</a:t>
            </a:r>
            <a:endParaRPr lang="en-US" sz="1000" dirty="0"/>
          </a:p>
        </p:txBody>
      </p:sp>
      <p:sp>
        <p:nvSpPr>
          <p:cNvPr id="22" name="Shape 20"/>
          <p:cNvSpPr/>
          <p:nvPr/>
        </p:nvSpPr>
        <p:spPr>
          <a:xfrm>
            <a:off x="5852160" y="1097280"/>
            <a:ext cx="2560320" cy="1737360"/>
          </a:xfrm>
          <a:prstGeom prst="rect">
            <a:avLst/>
          </a:prstGeom>
          <a:solidFill>
            <a:srgbClr val="F8FAFB"/>
          </a:solidFill>
          <a:ln w="19050">
            <a:solidFill>
              <a:srgbClr val="8E44AD"/>
            </a:solidFill>
            <a:prstDash val="solid"/>
          </a:ln>
        </p:spPr>
      </p:sp>
      <p:sp>
        <p:nvSpPr>
          <p:cNvPr id="23" name="Shape 21"/>
          <p:cNvSpPr/>
          <p:nvPr/>
        </p:nvSpPr>
        <p:spPr>
          <a:xfrm>
            <a:off x="5852160" y="1097280"/>
            <a:ext cx="2560320" cy="347472"/>
          </a:xfrm>
          <a:prstGeom prst="rect">
            <a:avLst/>
          </a:prstGeom>
          <a:solidFill>
            <a:srgbClr val="8E44AD"/>
          </a:solidFill>
          <a:ln w="12700">
            <a:solidFill>
              <a:srgbClr val="8E44AD"/>
            </a:solidFill>
            <a:prstDash val="solid"/>
          </a:ln>
        </p:spPr>
      </p:sp>
      <p:sp>
        <p:nvSpPr>
          <p:cNvPr id="24" name="Text 22"/>
          <p:cNvSpPr/>
          <p:nvPr/>
        </p:nvSpPr>
        <p:spPr>
          <a:xfrm>
            <a:off x="5852160" y="1097280"/>
            <a:ext cx="2560320"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PoseDetector</a:t>
            </a:r>
            <a:endParaRPr lang="en-US" sz="1250" dirty="0"/>
          </a:p>
        </p:txBody>
      </p:sp>
      <p:sp>
        <p:nvSpPr>
          <p:cNvPr id="25" name="Text 23"/>
          <p:cNvSpPr/>
          <p:nvPr/>
        </p:nvSpPr>
        <p:spPr>
          <a:xfrm>
            <a:off x="5943600" y="1481328"/>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+modelType: String</a:t>
            </a:r>
            <a:endParaRPr lang="en-US" sz="1000" dirty="0"/>
          </a:p>
        </p:txBody>
      </p:sp>
      <p:sp>
        <p:nvSpPr>
          <p:cNvPr id="26" name="Shape 24"/>
          <p:cNvSpPr/>
          <p:nvPr/>
        </p:nvSpPr>
        <p:spPr>
          <a:xfrm>
            <a:off x="5852160" y="1764792"/>
            <a:ext cx="2560320" cy="0"/>
          </a:xfrm>
          <a:prstGeom prst="line">
            <a:avLst/>
          </a:prstGeom>
          <a:noFill/>
          <a:ln w="6350">
            <a:solidFill>
              <a:srgbClr val="D0DCE8"/>
            </a:solidFill>
            <a:prstDash val="solid"/>
          </a:ln>
        </p:spPr>
      </p:sp>
      <p:sp>
        <p:nvSpPr>
          <p:cNvPr id="27" name="Text 25"/>
          <p:cNvSpPr/>
          <p:nvPr/>
        </p:nvSpPr>
        <p:spPr>
          <a:xfrm>
            <a:off x="5943600" y="1792224"/>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+detectJoints()</a:t>
            </a:r>
            <a:endParaRPr lang="en-US" sz="1000" dirty="0"/>
          </a:p>
        </p:txBody>
      </p:sp>
      <p:sp>
        <p:nvSpPr>
          <p:cNvPr id="28" name="Text 26"/>
          <p:cNvSpPr/>
          <p:nvPr/>
        </p:nvSpPr>
        <p:spPr>
          <a:xfrm>
            <a:off x="5943600" y="2103120"/>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+trackMovement()</a:t>
            </a:r>
            <a:endParaRPr lang="en-US" sz="1000" dirty="0"/>
          </a:p>
        </p:txBody>
      </p:sp>
      <p:sp>
        <p:nvSpPr>
          <p:cNvPr id="29" name="Shape 27"/>
          <p:cNvSpPr/>
          <p:nvPr/>
        </p:nvSpPr>
        <p:spPr>
          <a:xfrm>
            <a:off x="365760" y="3200400"/>
            <a:ext cx="2560320" cy="1737360"/>
          </a:xfrm>
          <a:prstGeom prst="rect">
            <a:avLst/>
          </a:prstGeom>
          <a:solidFill>
            <a:srgbClr val="F8FAFB"/>
          </a:solidFill>
          <a:ln w="19050">
            <a:solidFill>
              <a:srgbClr val="E67E22"/>
            </a:solidFill>
            <a:prstDash val="solid"/>
          </a:ln>
        </p:spPr>
      </p:sp>
      <p:sp>
        <p:nvSpPr>
          <p:cNvPr id="30" name="Shape 28"/>
          <p:cNvSpPr/>
          <p:nvPr/>
        </p:nvSpPr>
        <p:spPr>
          <a:xfrm>
            <a:off x="365760" y="3200400"/>
            <a:ext cx="2560320" cy="347472"/>
          </a:xfrm>
          <a:prstGeom prst="rect">
            <a:avLst/>
          </a:prstGeom>
          <a:solidFill>
            <a:srgbClr val="E67E22"/>
          </a:solidFill>
          <a:ln w="12700">
            <a:solidFill>
              <a:srgbClr val="E67E22"/>
            </a:solidFill>
            <a:prstDash val="solid"/>
          </a:ln>
        </p:spPr>
      </p:sp>
      <p:sp>
        <p:nvSpPr>
          <p:cNvPr id="31" name="Text 29"/>
          <p:cNvSpPr/>
          <p:nvPr/>
        </p:nvSpPr>
        <p:spPr>
          <a:xfrm>
            <a:off x="365760" y="3200400"/>
            <a:ext cx="2560320"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Analysis</a:t>
            </a:r>
            <a:endParaRPr lang="en-US" sz="1250" dirty="0"/>
          </a:p>
        </p:txBody>
      </p:sp>
      <p:sp>
        <p:nvSpPr>
          <p:cNvPr id="32" name="Text 30"/>
          <p:cNvSpPr/>
          <p:nvPr/>
        </p:nvSpPr>
        <p:spPr>
          <a:xfrm>
            <a:off x="457200" y="3584448"/>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+analysisId: String</a:t>
            </a:r>
            <a:endParaRPr lang="en-US" sz="1000" dirty="0"/>
          </a:p>
        </p:txBody>
      </p:sp>
      <p:sp>
        <p:nvSpPr>
          <p:cNvPr id="33" name="Shape 31"/>
          <p:cNvSpPr/>
          <p:nvPr/>
        </p:nvSpPr>
        <p:spPr>
          <a:xfrm>
            <a:off x="365760" y="3867912"/>
            <a:ext cx="2560320" cy="0"/>
          </a:xfrm>
          <a:prstGeom prst="line">
            <a:avLst/>
          </a:prstGeom>
          <a:noFill/>
          <a:ln w="6350">
            <a:solidFill>
              <a:srgbClr val="D0DCE8"/>
            </a:solidFill>
            <a:prstDash val="solid"/>
          </a:ln>
        </p:spPr>
      </p:sp>
      <p:sp>
        <p:nvSpPr>
          <p:cNvPr id="34" name="Text 32"/>
          <p:cNvSpPr/>
          <p:nvPr/>
        </p:nvSpPr>
        <p:spPr>
          <a:xfrm>
            <a:off x="457200" y="3895344"/>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+jointAngles: Map</a:t>
            </a:r>
            <a:endParaRPr lang="en-US" sz="1000" dirty="0"/>
          </a:p>
        </p:txBody>
      </p:sp>
      <p:sp>
        <p:nvSpPr>
          <p:cNvPr id="35" name="Text 33"/>
          <p:cNvSpPr/>
          <p:nvPr/>
        </p:nvSpPr>
        <p:spPr>
          <a:xfrm>
            <a:off x="457200" y="4206240"/>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+calculate()</a:t>
            </a:r>
            <a:endParaRPr lang="en-US" sz="1000" dirty="0"/>
          </a:p>
        </p:txBody>
      </p:sp>
      <p:sp>
        <p:nvSpPr>
          <p:cNvPr id="36" name="Text 34"/>
          <p:cNvSpPr/>
          <p:nvPr/>
        </p:nvSpPr>
        <p:spPr>
          <a:xfrm>
            <a:off x="457200" y="4517136"/>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+score()</a:t>
            </a:r>
            <a:endParaRPr lang="en-US" sz="1000" dirty="0"/>
          </a:p>
        </p:txBody>
      </p:sp>
      <p:sp>
        <p:nvSpPr>
          <p:cNvPr id="37" name="Shape 35"/>
          <p:cNvSpPr/>
          <p:nvPr/>
        </p:nvSpPr>
        <p:spPr>
          <a:xfrm>
            <a:off x="3017520" y="3200400"/>
            <a:ext cx="2560320" cy="1737360"/>
          </a:xfrm>
          <a:prstGeom prst="rect">
            <a:avLst/>
          </a:prstGeom>
          <a:solidFill>
            <a:srgbClr val="F8FAFB"/>
          </a:solidFill>
          <a:ln w="19050">
            <a:solidFill>
              <a:srgbClr val="27AE60"/>
            </a:solidFill>
            <a:prstDash val="solid"/>
          </a:ln>
        </p:spPr>
      </p:sp>
      <p:sp>
        <p:nvSpPr>
          <p:cNvPr id="38" name="Shape 36"/>
          <p:cNvSpPr/>
          <p:nvPr/>
        </p:nvSpPr>
        <p:spPr>
          <a:xfrm>
            <a:off x="3017520" y="3200400"/>
            <a:ext cx="2560320" cy="347472"/>
          </a:xfrm>
          <a:prstGeom prst="rect">
            <a:avLst/>
          </a:prstGeom>
          <a:solidFill>
            <a:srgbClr val="27AE60"/>
          </a:solidFill>
          <a:ln w="12700">
            <a:solidFill>
              <a:srgbClr val="27AE60"/>
            </a:solidFill>
            <a:prstDash val="solid"/>
          </a:ln>
        </p:spPr>
      </p:sp>
      <p:sp>
        <p:nvSpPr>
          <p:cNvPr id="39" name="Text 37"/>
          <p:cNvSpPr/>
          <p:nvPr/>
        </p:nvSpPr>
        <p:spPr>
          <a:xfrm>
            <a:off x="3017520" y="3200400"/>
            <a:ext cx="2560320"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Report</a:t>
            </a:r>
            <a:endParaRPr lang="en-US" sz="1250" dirty="0"/>
          </a:p>
        </p:txBody>
      </p:sp>
      <p:sp>
        <p:nvSpPr>
          <p:cNvPr id="40" name="Text 38"/>
          <p:cNvSpPr/>
          <p:nvPr/>
        </p:nvSpPr>
        <p:spPr>
          <a:xfrm>
            <a:off x="3108960" y="3584448"/>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+reportId: String</a:t>
            </a:r>
            <a:endParaRPr lang="en-US" sz="1000" dirty="0"/>
          </a:p>
        </p:txBody>
      </p:sp>
      <p:sp>
        <p:nvSpPr>
          <p:cNvPr id="41" name="Shape 39"/>
          <p:cNvSpPr/>
          <p:nvPr/>
        </p:nvSpPr>
        <p:spPr>
          <a:xfrm>
            <a:off x="3017520" y="3867912"/>
            <a:ext cx="2560320" cy="0"/>
          </a:xfrm>
          <a:prstGeom prst="line">
            <a:avLst/>
          </a:prstGeom>
          <a:noFill/>
          <a:ln w="6350">
            <a:solidFill>
              <a:srgbClr val="D0DCE8"/>
            </a:solidFill>
            <a:prstDash val="solid"/>
          </a:ln>
        </p:spPr>
      </p:sp>
      <p:sp>
        <p:nvSpPr>
          <p:cNvPr id="42" name="Text 40"/>
          <p:cNvSpPr/>
          <p:nvPr/>
        </p:nvSpPr>
        <p:spPr>
          <a:xfrm>
            <a:off x="3108960" y="3895344"/>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+perfScore: Int</a:t>
            </a:r>
            <a:endParaRPr lang="en-US" sz="1000" dirty="0"/>
          </a:p>
        </p:txBody>
      </p:sp>
      <p:sp>
        <p:nvSpPr>
          <p:cNvPr id="43" name="Text 41"/>
          <p:cNvSpPr/>
          <p:nvPr/>
        </p:nvSpPr>
        <p:spPr>
          <a:xfrm>
            <a:off x="3108960" y="4206240"/>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+visualize()</a:t>
            </a:r>
            <a:endParaRPr lang="en-US" sz="1000" dirty="0"/>
          </a:p>
        </p:txBody>
      </p:sp>
      <p:sp>
        <p:nvSpPr>
          <p:cNvPr id="44" name="Text 42"/>
          <p:cNvSpPr/>
          <p:nvPr/>
        </p:nvSpPr>
        <p:spPr>
          <a:xfrm>
            <a:off x="3108960" y="4517136"/>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+downloadPDF()</a:t>
            </a:r>
            <a:endParaRPr lang="en-US" sz="1000" dirty="0"/>
          </a:p>
        </p:txBody>
      </p:sp>
      <p:sp>
        <p:nvSpPr>
          <p:cNvPr id="45" name="Shape 43"/>
          <p:cNvSpPr/>
          <p:nvPr/>
        </p:nvSpPr>
        <p:spPr>
          <a:xfrm>
            <a:off x="5852160" y="3200400"/>
            <a:ext cx="2560320" cy="1737360"/>
          </a:xfrm>
          <a:prstGeom prst="rect">
            <a:avLst/>
          </a:prstGeom>
          <a:solidFill>
            <a:srgbClr val="F8FAFB"/>
          </a:solidFill>
          <a:ln w="19050">
            <a:solidFill>
              <a:srgbClr val="5D6D7E"/>
            </a:solidFill>
            <a:prstDash val="solid"/>
          </a:ln>
        </p:spPr>
      </p:sp>
      <p:sp>
        <p:nvSpPr>
          <p:cNvPr id="46" name="Shape 44"/>
          <p:cNvSpPr/>
          <p:nvPr/>
        </p:nvSpPr>
        <p:spPr>
          <a:xfrm>
            <a:off x="5852160" y="3200400"/>
            <a:ext cx="2560320" cy="347472"/>
          </a:xfrm>
          <a:prstGeom prst="rect">
            <a:avLst/>
          </a:prstGeom>
          <a:solidFill>
            <a:srgbClr val="5D6D7E"/>
          </a:solidFill>
          <a:ln w="12700">
            <a:solidFill>
              <a:srgbClr val="5D6D7E"/>
            </a:solidFill>
            <a:prstDash val="solid"/>
          </a:ln>
        </p:spPr>
      </p:sp>
      <p:sp>
        <p:nvSpPr>
          <p:cNvPr id="47" name="Text 45"/>
          <p:cNvSpPr/>
          <p:nvPr/>
        </p:nvSpPr>
        <p:spPr>
          <a:xfrm>
            <a:off x="5852160" y="3200400"/>
            <a:ext cx="2560320"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Database</a:t>
            </a:r>
            <a:endParaRPr lang="en-US" sz="1250" dirty="0"/>
          </a:p>
        </p:txBody>
      </p:sp>
      <p:sp>
        <p:nvSpPr>
          <p:cNvPr id="48" name="Text 46"/>
          <p:cNvSpPr/>
          <p:nvPr/>
        </p:nvSpPr>
        <p:spPr>
          <a:xfrm>
            <a:off x="5943600" y="3584448"/>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+connectionStr: String</a:t>
            </a:r>
            <a:endParaRPr lang="en-US" sz="1000" dirty="0"/>
          </a:p>
        </p:txBody>
      </p:sp>
      <p:sp>
        <p:nvSpPr>
          <p:cNvPr id="49" name="Shape 47"/>
          <p:cNvSpPr/>
          <p:nvPr/>
        </p:nvSpPr>
        <p:spPr>
          <a:xfrm>
            <a:off x="5852160" y="3867912"/>
            <a:ext cx="2560320" cy="0"/>
          </a:xfrm>
          <a:prstGeom prst="line">
            <a:avLst/>
          </a:prstGeom>
          <a:noFill/>
          <a:ln w="6350">
            <a:solidFill>
              <a:srgbClr val="D0DCE8"/>
            </a:solidFill>
            <a:prstDash val="solid"/>
          </a:ln>
        </p:spPr>
      </p:sp>
      <p:sp>
        <p:nvSpPr>
          <p:cNvPr id="50" name="Text 48"/>
          <p:cNvSpPr/>
          <p:nvPr/>
        </p:nvSpPr>
        <p:spPr>
          <a:xfrm>
            <a:off x="5943600" y="3895344"/>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+storeData()</a:t>
            </a:r>
            <a:endParaRPr lang="en-US" sz="1000" dirty="0"/>
          </a:p>
        </p:txBody>
      </p:sp>
      <p:sp>
        <p:nvSpPr>
          <p:cNvPr id="51" name="Text 49"/>
          <p:cNvSpPr/>
          <p:nvPr/>
        </p:nvSpPr>
        <p:spPr>
          <a:xfrm>
            <a:off x="5943600" y="4206240"/>
            <a:ext cx="2377440" cy="292608"/>
          </a:xfrm>
          <a:prstGeom prst="rect">
            <a:avLst/>
          </a:prstGeom>
          <a:noFill/>
          <a:ln/>
        </p:spPr>
        <p:txBody>
          <a:bodyPr wrap="square" rtlCol="0" anchor="ctr"/>
          <a:lstStyle/>
          <a:p>
            <a:pPr marL="0" indent="0">
              <a:buNone/>
            </a:pPr>
            <a:r>
              <a:rPr lang="en-US" sz="1000" dirty="0">
                <a:solidFill>
                  <a:srgbClr val="1A2E40"/>
                </a:solidFill>
                <a:latin typeface="Calibri" pitchFamily="34" charset="0"/>
                <a:ea typeface="Calibri" pitchFamily="34" charset="-122"/>
                <a:cs typeface="Calibri" pitchFamily="34" charset="-120"/>
              </a:rPr>
              <a:t>+retrieveHistory()</a:t>
            </a:r>
            <a:endParaRPr lang="en-US" sz="1000" dirty="0"/>
          </a:p>
        </p:txBody>
      </p:sp>
      <p:sp>
        <p:nvSpPr>
          <p:cNvPr id="52" name="Text 50"/>
          <p:cNvSpPr/>
          <p:nvPr/>
        </p:nvSpPr>
        <p:spPr>
          <a:xfrm>
            <a:off x="1097280" y="1737360"/>
            <a:ext cx="1371600" cy="228600"/>
          </a:xfrm>
          <a:prstGeom prst="rect">
            <a:avLst/>
          </a:prstGeom>
          <a:noFill/>
          <a:ln/>
        </p:spPr>
        <p:txBody>
          <a:bodyPr wrap="square" rtlCol="0" anchor="ctr"/>
          <a:lstStyle/>
          <a:p>
            <a:pPr marL="0" indent="0">
              <a:buNone/>
            </a:pPr>
            <a:r>
              <a:rPr lang="en-US" sz="900" dirty="0">
                <a:solidFill>
                  <a:srgbClr val="4A6580"/>
                </a:solidFill>
                <a:latin typeface="Calibri" pitchFamily="34" charset="0"/>
                <a:ea typeface="Calibri" pitchFamily="34" charset="-122"/>
                <a:cs typeface="Calibri" pitchFamily="34" charset="-120"/>
              </a:rPr>
              <a:t>uploads ▶</a:t>
            </a:r>
            <a:endParaRPr lang="en-US" sz="900" dirty="0"/>
          </a:p>
        </p:txBody>
      </p:sp>
      <p:sp>
        <p:nvSpPr>
          <p:cNvPr id="53" name="Text 51"/>
          <p:cNvSpPr/>
          <p:nvPr/>
        </p:nvSpPr>
        <p:spPr>
          <a:xfrm>
            <a:off x="3794760" y="1737360"/>
            <a:ext cx="1371600" cy="228600"/>
          </a:xfrm>
          <a:prstGeom prst="rect">
            <a:avLst/>
          </a:prstGeom>
          <a:noFill/>
          <a:ln/>
        </p:spPr>
        <p:txBody>
          <a:bodyPr wrap="square" rtlCol="0" anchor="ctr"/>
          <a:lstStyle/>
          <a:p>
            <a:pPr marL="0" indent="0">
              <a:buNone/>
            </a:pPr>
            <a:r>
              <a:rPr lang="en-US" sz="900" dirty="0">
                <a:solidFill>
                  <a:srgbClr val="4A6580"/>
                </a:solidFill>
                <a:latin typeface="Calibri" pitchFamily="34" charset="0"/>
                <a:ea typeface="Calibri" pitchFamily="34" charset="-122"/>
                <a:cs typeface="Calibri" pitchFamily="34" charset="-120"/>
              </a:rPr>
              <a:t>uses ▶</a:t>
            </a:r>
            <a:endParaRPr lang="en-US" sz="900" dirty="0"/>
          </a:p>
        </p:txBody>
      </p:sp>
      <p:sp>
        <p:nvSpPr>
          <p:cNvPr id="54" name="Text 52"/>
          <p:cNvSpPr/>
          <p:nvPr/>
        </p:nvSpPr>
        <p:spPr>
          <a:xfrm>
            <a:off x="3017520" y="2834640"/>
            <a:ext cx="1371600" cy="228600"/>
          </a:xfrm>
          <a:prstGeom prst="rect">
            <a:avLst/>
          </a:prstGeom>
          <a:noFill/>
          <a:ln/>
        </p:spPr>
        <p:txBody>
          <a:bodyPr wrap="square" rtlCol="0" anchor="ctr"/>
          <a:lstStyle/>
          <a:p>
            <a:pPr marL="0" indent="0">
              <a:buNone/>
            </a:pPr>
            <a:r>
              <a:rPr lang="en-US" sz="900" dirty="0">
                <a:solidFill>
                  <a:srgbClr val="4A6580"/>
                </a:solidFill>
                <a:latin typeface="Calibri" pitchFamily="34" charset="0"/>
                <a:ea typeface="Calibri" pitchFamily="34" charset="-122"/>
                <a:cs typeface="Calibri" pitchFamily="34" charset="-120"/>
              </a:rPr>
              <a:t>▲ generates</a:t>
            </a:r>
            <a:endParaRPr lang="en-US" sz="900" dirty="0"/>
          </a:p>
        </p:txBody>
      </p:sp>
      <p:sp>
        <p:nvSpPr>
          <p:cNvPr id="55" name="Text 53"/>
          <p:cNvSpPr/>
          <p:nvPr/>
        </p:nvSpPr>
        <p:spPr>
          <a:xfrm>
            <a:off x="6126480" y="2834640"/>
            <a:ext cx="1371600" cy="228600"/>
          </a:xfrm>
          <a:prstGeom prst="rect">
            <a:avLst/>
          </a:prstGeom>
          <a:noFill/>
          <a:ln/>
        </p:spPr>
        <p:txBody>
          <a:bodyPr wrap="square" rtlCol="0" anchor="ctr"/>
          <a:lstStyle/>
          <a:p>
            <a:pPr marL="0" indent="0">
              <a:buNone/>
            </a:pPr>
            <a:r>
              <a:rPr lang="en-US" sz="900" dirty="0">
                <a:solidFill>
                  <a:srgbClr val="4A6580"/>
                </a:solidFill>
                <a:latin typeface="Calibri" pitchFamily="34" charset="0"/>
                <a:ea typeface="Calibri" pitchFamily="34" charset="-122"/>
                <a:cs typeface="Calibri" pitchFamily="34" charset="-120"/>
              </a:rPr>
              <a:t>▲ stores</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Behavioural Design – Sequence Diagram</a:t>
            </a:r>
            <a:endParaRPr lang="en-US" sz="2200" dirty="0"/>
          </a:p>
        </p:txBody>
      </p:sp>
      <p:sp>
        <p:nvSpPr>
          <p:cNvPr id="5" name="Text 3"/>
          <p:cNvSpPr/>
          <p:nvPr/>
        </p:nvSpPr>
        <p:spPr>
          <a:xfrm>
            <a:off x="365760" y="749808"/>
            <a:ext cx="8412480" cy="274320"/>
          </a:xfrm>
          <a:prstGeom prst="rect">
            <a:avLst/>
          </a:prstGeom>
          <a:noFill/>
          <a:ln/>
        </p:spPr>
        <p:txBody>
          <a:bodyPr wrap="square" rtlCol="0" anchor="ctr"/>
          <a:lstStyle/>
          <a:p>
            <a:pPr marL="0" indent="0">
              <a:buNone/>
            </a:pPr>
            <a:r>
              <a:rPr lang="en-US" sz="1150" i="1" dirty="0">
                <a:solidFill>
                  <a:srgbClr val="4A6580"/>
                </a:solidFill>
                <a:latin typeface="Calibri" pitchFamily="34" charset="0"/>
                <a:ea typeface="Calibri" pitchFamily="34" charset="-122"/>
                <a:cs typeface="Calibri" pitchFamily="34" charset="-120"/>
              </a:rPr>
              <a:t>Interaction flow for the cricket video analysis use case</a:t>
            </a:r>
            <a:endParaRPr lang="en-US" sz="1150" dirty="0"/>
          </a:p>
        </p:txBody>
      </p:sp>
      <p:pic>
        <p:nvPicPr>
          <p:cNvPr id="49" name="Picture 48">
            <a:extLst>
              <a:ext uri="{FF2B5EF4-FFF2-40B4-BE49-F238E27FC236}">
                <a16:creationId xmlns:a16="http://schemas.microsoft.com/office/drawing/2014/main" id="{46DC9E84-9AD1-52B9-4B69-85B21EEE9906}"/>
              </a:ext>
            </a:extLst>
          </p:cNvPr>
          <p:cNvPicPr>
            <a:picLocks noChangeAspect="1"/>
          </p:cNvPicPr>
          <p:nvPr/>
        </p:nvPicPr>
        <p:blipFill>
          <a:blip r:embed="rId3"/>
          <a:stretch>
            <a:fillRect/>
          </a:stretch>
        </p:blipFill>
        <p:spPr>
          <a:xfrm>
            <a:off x="1" y="1024128"/>
            <a:ext cx="9144000" cy="40462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Activity Diagram – Cricket Analysis Flow</a:t>
            </a:r>
            <a:endParaRPr lang="en-US" sz="2200" dirty="0"/>
          </a:p>
        </p:txBody>
      </p:sp>
      <p:pic>
        <p:nvPicPr>
          <p:cNvPr id="56" name="Picture 55">
            <a:extLst>
              <a:ext uri="{FF2B5EF4-FFF2-40B4-BE49-F238E27FC236}">
                <a16:creationId xmlns:a16="http://schemas.microsoft.com/office/drawing/2014/main" id="{4678E381-D574-FB7E-E070-A4D99F1AEF5E}"/>
              </a:ext>
            </a:extLst>
          </p:cNvPr>
          <p:cNvPicPr>
            <a:picLocks noChangeAspect="1"/>
          </p:cNvPicPr>
          <p:nvPr/>
        </p:nvPicPr>
        <p:blipFill>
          <a:blip r:embed="rId3"/>
          <a:stretch>
            <a:fillRect/>
          </a:stretch>
        </p:blipFill>
        <p:spPr>
          <a:xfrm>
            <a:off x="1084522" y="649224"/>
            <a:ext cx="6863671" cy="44577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State Chart Diagram – Virtual Coach System</a:t>
            </a:r>
            <a:endParaRPr lang="en-US" sz="2200" dirty="0"/>
          </a:p>
        </p:txBody>
      </p:sp>
      <p:pic>
        <p:nvPicPr>
          <p:cNvPr id="51" name="Picture 50">
            <a:extLst>
              <a:ext uri="{FF2B5EF4-FFF2-40B4-BE49-F238E27FC236}">
                <a16:creationId xmlns:a16="http://schemas.microsoft.com/office/drawing/2014/main" id="{0E6FDA73-CF7D-D5D9-DB79-F16FB5D681E7}"/>
              </a:ext>
            </a:extLst>
          </p:cNvPr>
          <p:cNvPicPr>
            <a:picLocks noChangeAspect="1"/>
          </p:cNvPicPr>
          <p:nvPr/>
        </p:nvPicPr>
        <p:blipFill>
          <a:blip r:embed="rId3"/>
          <a:stretch>
            <a:fillRect/>
          </a:stretch>
        </p:blipFill>
        <p:spPr>
          <a:xfrm>
            <a:off x="1617621" y="777241"/>
            <a:ext cx="5908757" cy="409842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Implementation Design – Component Diagram</a:t>
            </a:r>
            <a:endParaRPr lang="en-US" sz="2200" dirty="0"/>
          </a:p>
        </p:txBody>
      </p:sp>
      <p:pic>
        <p:nvPicPr>
          <p:cNvPr id="37" name="Picture 36">
            <a:extLst>
              <a:ext uri="{FF2B5EF4-FFF2-40B4-BE49-F238E27FC236}">
                <a16:creationId xmlns:a16="http://schemas.microsoft.com/office/drawing/2014/main" id="{95073E83-6E36-B68F-E576-CA64B845ECA5}"/>
              </a:ext>
            </a:extLst>
          </p:cNvPr>
          <p:cNvPicPr>
            <a:picLocks noChangeAspect="1"/>
          </p:cNvPicPr>
          <p:nvPr/>
        </p:nvPicPr>
        <p:blipFill>
          <a:blip r:embed="rId3"/>
          <a:stretch>
            <a:fillRect/>
          </a:stretch>
        </p:blipFill>
        <p:spPr>
          <a:xfrm>
            <a:off x="1183758" y="649224"/>
            <a:ext cx="6716553" cy="447196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Deployment Diagram – Virtual Coach System</a:t>
            </a:r>
            <a:endParaRPr lang="en-US" sz="2200" dirty="0"/>
          </a:p>
        </p:txBody>
      </p:sp>
      <p:sp>
        <p:nvSpPr>
          <p:cNvPr id="28" name="Shape 26"/>
          <p:cNvSpPr/>
          <p:nvPr/>
        </p:nvSpPr>
        <p:spPr>
          <a:xfrm>
            <a:off x="182880" y="4334256"/>
            <a:ext cx="8595360" cy="548640"/>
          </a:xfrm>
          <a:prstGeom prst="rect">
            <a:avLst/>
          </a:prstGeom>
          <a:solidFill>
            <a:srgbClr val="1A3A5C"/>
          </a:solidFill>
          <a:ln w="12700">
            <a:solidFill>
              <a:srgbClr val="1A3A5C"/>
            </a:solidFill>
            <a:prstDash val="solid"/>
          </a:ln>
        </p:spPr>
      </p:sp>
      <p:sp>
        <p:nvSpPr>
          <p:cNvPr id="29" name="Text 27"/>
          <p:cNvSpPr/>
          <p:nvPr/>
        </p:nvSpPr>
        <p:spPr>
          <a:xfrm>
            <a:off x="274320" y="4407408"/>
            <a:ext cx="8412480" cy="475488"/>
          </a:xfrm>
          <a:prstGeom prst="rect">
            <a:avLst/>
          </a:prstGeom>
          <a:noFill/>
          <a:ln/>
        </p:spPr>
        <p:txBody>
          <a:bodyPr wrap="square" rtlCol="0" anchor="ctr"/>
          <a:lstStyle/>
          <a:p>
            <a:pPr marL="0" indent="0" algn="ctr">
              <a:buNone/>
            </a:pPr>
            <a:r>
              <a:rPr lang="en-US" sz="1100" dirty="0">
                <a:solidFill>
                  <a:srgbClr val="02C39A"/>
                </a:solidFill>
                <a:latin typeface="Calibri" pitchFamily="34" charset="0"/>
                <a:ea typeface="Calibri" pitchFamily="34" charset="-122"/>
                <a:cs typeface="Calibri" pitchFamily="34" charset="-120"/>
              </a:rPr>
              <a:t>Network: HTTPS / REST API | Authentication: Firebase Auth | Data Encryption: TLS 1.3 | Cloud: Firebase + MySQL</a:t>
            </a:r>
            <a:endParaRPr lang="en-US" sz="1100" dirty="0"/>
          </a:p>
        </p:txBody>
      </p:sp>
      <p:pic>
        <p:nvPicPr>
          <p:cNvPr id="31" name="Picture 30">
            <a:extLst>
              <a:ext uri="{FF2B5EF4-FFF2-40B4-BE49-F238E27FC236}">
                <a16:creationId xmlns:a16="http://schemas.microsoft.com/office/drawing/2014/main" id="{80E34846-EB6E-0CA4-48CB-CD6C754D63E6}"/>
              </a:ext>
            </a:extLst>
          </p:cNvPr>
          <p:cNvPicPr>
            <a:picLocks noChangeAspect="1"/>
          </p:cNvPicPr>
          <p:nvPr/>
        </p:nvPicPr>
        <p:blipFill>
          <a:blip r:embed="rId3"/>
          <a:stretch>
            <a:fillRect/>
          </a:stretch>
        </p:blipFill>
        <p:spPr>
          <a:xfrm>
            <a:off x="1846451" y="740665"/>
            <a:ext cx="5697369" cy="351043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Related Work Review</a:t>
            </a:r>
            <a:endParaRPr lang="en-US" sz="2200" dirty="0"/>
          </a:p>
        </p:txBody>
      </p:sp>
      <p:sp>
        <p:nvSpPr>
          <p:cNvPr id="5" name="Shape 3"/>
          <p:cNvSpPr/>
          <p:nvPr/>
        </p:nvSpPr>
        <p:spPr>
          <a:xfrm>
            <a:off x="274320" y="749808"/>
            <a:ext cx="8595360" cy="1307592"/>
          </a:xfrm>
          <a:prstGeom prst="rect">
            <a:avLst/>
          </a:prstGeom>
          <a:solidFill>
            <a:srgbClr val="F0F4F8"/>
          </a:solidFill>
          <a:ln w="12700">
            <a:solidFill>
              <a:srgbClr val="CBD5E0"/>
            </a:solidFill>
            <a:prstDash val="solid"/>
          </a:ln>
        </p:spPr>
      </p:sp>
      <p:sp>
        <p:nvSpPr>
          <p:cNvPr id="6" name="Shape 4"/>
          <p:cNvSpPr/>
          <p:nvPr/>
        </p:nvSpPr>
        <p:spPr>
          <a:xfrm>
            <a:off x="274320" y="749808"/>
            <a:ext cx="566928" cy="1307592"/>
          </a:xfrm>
          <a:prstGeom prst="rect">
            <a:avLst/>
          </a:prstGeom>
          <a:solidFill>
            <a:srgbClr val="1A3A5C"/>
          </a:solidFill>
          <a:ln w="12700">
            <a:solidFill>
              <a:srgbClr val="1A3A5C"/>
            </a:solidFill>
            <a:prstDash val="solid"/>
          </a:ln>
        </p:spPr>
      </p:sp>
      <p:sp>
        <p:nvSpPr>
          <p:cNvPr id="7" name="Text 5"/>
          <p:cNvSpPr/>
          <p:nvPr/>
        </p:nvSpPr>
        <p:spPr>
          <a:xfrm>
            <a:off x="274320" y="749808"/>
            <a:ext cx="566928" cy="130759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P1</a:t>
            </a:r>
            <a:endParaRPr lang="en-US" sz="1400" dirty="0"/>
          </a:p>
        </p:txBody>
      </p:sp>
      <p:sp>
        <p:nvSpPr>
          <p:cNvPr id="8" name="Text 6"/>
          <p:cNvSpPr/>
          <p:nvPr/>
        </p:nvSpPr>
        <p:spPr>
          <a:xfrm>
            <a:off x="932688" y="795528"/>
            <a:ext cx="7818120" cy="292608"/>
          </a:xfrm>
          <a:prstGeom prst="rect">
            <a:avLst/>
          </a:prstGeom>
          <a:noFill/>
          <a:ln/>
        </p:spPr>
        <p:txBody>
          <a:bodyPr wrap="square" rtlCol="0" anchor="ctr"/>
          <a:lstStyle/>
          <a:p>
            <a:pPr marL="0" indent="0">
              <a:buNone/>
            </a:pPr>
            <a:r>
              <a:rPr lang="en-US" sz="1150" b="1" dirty="0">
                <a:solidFill>
                  <a:srgbClr val="1A3A5C"/>
                </a:solidFill>
                <a:latin typeface="Calibri" pitchFamily="34" charset="0"/>
                <a:ea typeface="Calibri" pitchFamily="34" charset="-122"/>
                <a:cs typeface="Calibri" pitchFamily="34" charset="-120"/>
              </a:rPr>
              <a:t>Real-Time Human Pose Estimation Using MediaPipe for Fitness Applications</a:t>
            </a:r>
            <a:endParaRPr lang="en-US" sz="1150" dirty="0"/>
          </a:p>
        </p:txBody>
      </p:sp>
      <p:sp>
        <p:nvSpPr>
          <p:cNvPr id="9" name="Text 7"/>
          <p:cNvSpPr/>
          <p:nvPr/>
        </p:nvSpPr>
        <p:spPr>
          <a:xfrm>
            <a:off x="932688" y="1097280"/>
            <a:ext cx="7818120" cy="256032"/>
          </a:xfrm>
          <a:prstGeom prst="rect">
            <a:avLst/>
          </a:prstGeom>
          <a:noFill/>
          <a:ln/>
        </p:spPr>
        <p:txBody>
          <a:bodyPr wrap="square" rtlCol="0" anchor="ctr"/>
          <a:lstStyle/>
          <a:p>
            <a:pPr marL="0" indent="0">
              <a:buNone/>
            </a:pPr>
            <a:r>
              <a:rPr lang="en-US" sz="1050" dirty="0">
                <a:solidFill>
                  <a:srgbClr val="1A2E40"/>
                </a:solidFill>
                <a:latin typeface="Calibri" pitchFamily="34" charset="0"/>
                <a:ea typeface="Calibri" pitchFamily="34" charset="-122"/>
                <a:cs typeface="Calibri" pitchFamily="34" charset="-120"/>
              </a:rPr>
              <a:t>Summary: Uses MediaPipe pose estimation to detect body keypoints in real-time. Tracks joints for basic fitness monitoring.</a:t>
            </a:r>
            <a:endParaRPr lang="en-US" sz="1050" dirty="0"/>
          </a:p>
        </p:txBody>
      </p:sp>
      <p:sp>
        <p:nvSpPr>
          <p:cNvPr id="10" name="Text 8"/>
          <p:cNvSpPr/>
          <p:nvPr/>
        </p:nvSpPr>
        <p:spPr>
          <a:xfrm>
            <a:off x="932688" y="1371600"/>
            <a:ext cx="7818120" cy="256032"/>
          </a:xfrm>
          <a:prstGeom prst="rect">
            <a:avLst/>
          </a:prstGeom>
          <a:noFill/>
          <a:ln/>
        </p:spPr>
        <p:txBody>
          <a:bodyPr wrap="square" rtlCol="0" anchor="ctr"/>
          <a:lstStyle/>
          <a:p>
            <a:pPr marL="0" indent="0">
              <a:buNone/>
            </a:pPr>
            <a:r>
              <a:rPr lang="en-US" sz="1050" dirty="0">
                <a:solidFill>
                  <a:srgbClr val="CC3300"/>
                </a:solidFill>
                <a:latin typeface="Calibri" pitchFamily="34" charset="0"/>
                <a:ea typeface="Calibri" pitchFamily="34" charset="-122"/>
                <a:cs typeface="Calibri" pitchFamily="34" charset="-120"/>
              </a:rPr>
              <a:t>Limitation: No sports-specific analysis; missing performance scoring; not integrated into mobile app</a:t>
            </a:r>
            <a:endParaRPr lang="en-US" sz="1050" dirty="0"/>
          </a:p>
        </p:txBody>
      </p:sp>
      <p:sp>
        <p:nvSpPr>
          <p:cNvPr id="11" name="Text 9"/>
          <p:cNvSpPr/>
          <p:nvPr/>
        </p:nvSpPr>
        <p:spPr>
          <a:xfrm>
            <a:off x="932688" y="1645920"/>
            <a:ext cx="7818120" cy="320040"/>
          </a:xfrm>
          <a:prstGeom prst="rect">
            <a:avLst/>
          </a:prstGeom>
          <a:noFill/>
          <a:ln/>
        </p:spPr>
        <p:txBody>
          <a:bodyPr wrap="square" rtlCol="0" anchor="ctr"/>
          <a:lstStyle/>
          <a:p>
            <a:pPr marL="0" indent="0">
              <a:buNone/>
            </a:pPr>
            <a:r>
              <a:rPr lang="en-US" sz="1050" b="1" dirty="0">
                <a:solidFill>
                  <a:srgbClr val="27AE60"/>
                </a:solidFill>
                <a:latin typeface="Calibri" pitchFamily="34" charset="0"/>
                <a:ea typeface="Calibri" pitchFamily="34" charset="-122"/>
                <a:cs typeface="Calibri" pitchFamily="34" charset="-120"/>
              </a:rPr>
              <a:t>Our Improvement: Virtual Coach targets cricket-specific posture with scoring &amp; mobile integration</a:t>
            </a:r>
            <a:endParaRPr lang="en-US" sz="1050" dirty="0"/>
          </a:p>
        </p:txBody>
      </p:sp>
      <p:sp>
        <p:nvSpPr>
          <p:cNvPr id="12" name="Shape 10"/>
          <p:cNvSpPr/>
          <p:nvPr/>
        </p:nvSpPr>
        <p:spPr>
          <a:xfrm>
            <a:off x="274320" y="2167128"/>
            <a:ext cx="8595360" cy="1307592"/>
          </a:xfrm>
          <a:prstGeom prst="rect">
            <a:avLst/>
          </a:prstGeom>
          <a:solidFill>
            <a:srgbClr val="F0F4F8"/>
          </a:solidFill>
          <a:ln w="12700">
            <a:solidFill>
              <a:srgbClr val="CBD5E0"/>
            </a:solidFill>
            <a:prstDash val="solid"/>
          </a:ln>
        </p:spPr>
      </p:sp>
      <p:sp>
        <p:nvSpPr>
          <p:cNvPr id="13" name="Shape 11"/>
          <p:cNvSpPr/>
          <p:nvPr/>
        </p:nvSpPr>
        <p:spPr>
          <a:xfrm>
            <a:off x="274320" y="2167128"/>
            <a:ext cx="566928" cy="1307592"/>
          </a:xfrm>
          <a:prstGeom prst="rect">
            <a:avLst/>
          </a:prstGeom>
          <a:solidFill>
            <a:srgbClr val="028090"/>
          </a:solidFill>
          <a:ln w="12700">
            <a:solidFill>
              <a:srgbClr val="028090"/>
            </a:solidFill>
            <a:prstDash val="solid"/>
          </a:ln>
        </p:spPr>
      </p:sp>
      <p:sp>
        <p:nvSpPr>
          <p:cNvPr id="14" name="Text 12"/>
          <p:cNvSpPr/>
          <p:nvPr/>
        </p:nvSpPr>
        <p:spPr>
          <a:xfrm>
            <a:off x="274320" y="2167128"/>
            <a:ext cx="566928" cy="130759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P2</a:t>
            </a:r>
            <a:endParaRPr lang="en-US" sz="1400" dirty="0"/>
          </a:p>
        </p:txBody>
      </p:sp>
      <p:sp>
        <p:nvSpPr>
          <p:cNvPr id="15" name="Text 13"/>
          <p:cNvSpPr/>
          <p:nvPr/>
        </p:nvSpPr>
        <p:spPr>
          <a:xfrm>
            <a:off x="932688" y="2212848"/>
            <a:ext cx="7818120" cy="292608"/>
          </a:xfrm>
          <a:prstGeom prst="rect">
            <a:avLst/>
          </a:prstGeom>
          <a:noFill/>
          <a:ln/>
        </p:spPr>
        <p:txBody>
          <a:bodyPr wrap="square" rtlCol="0" anchor="ctr"/>
          <a:lstStyle/>
          <a:p>
            <a:pPr marL="0" indent="0">
              <a:buNone/>
            </a:pPr>
            <a:r>
              <a:rPr lang="en-US" sz="1150" b="1" dirty="0">
                <a:solidFill>
                  <a:srgbClr val="028090"/>
                </a:solidFill>
                <a:latin typeface="Calibri" pitchFamily="34" charset="0"/>
                <a:ea typeface="Calibri" pitchFamily="34" charset="-122"/>
                <a:cs typeface="Calibri" pitchFamily="34" charset="-120"/>
              </a:rPr>
              <a:t>Deep Learning-Based Human Activity Recognition Using Video Analysis</a:t>
            </a:r>
            <a:endParaRPr lang="en-US" sz="1150" dirty="0"/>
          </a:p>
        </p:txBody>
      </p:sp>
      <p:sp>
        <p:nvSpPr>
          <p:cNvPr id="16" name="Text 14"/>
          <p:cNvSpPr/>
          <p:nvPr/>
        </p:nvSpPr>
        <p:spPr>
          <a:xfrm>
            <a:off x="932688" y="2514600"/>
            <a:ext cx="7818120" cy="256032"/>
          </a:xfrm>
          <a:prstGeom prst="rect">
            <a:avLst/>
          </a:prstGeom>
          <a:noFill/>
          <a:ln/>
        </p:spPr>
        <p:txBody>
          <a:bodyPr wrap="square" rtlCol="0" anchor="ctr"/>
          <a:lstStyle/>
          <a:p>
            <a:pPr marL="0" indent="0">
              <a:buNone/>
            </a:pPr>
            <a:r>
              <a:rPr lang="en-US" sz="1050" dirty="0">
                <a:solidFill>
                  <a:srgbClr val="1A2E40"/>
                </a:solidFill>
                <a:latin typeface="Calibri" pitchFamily="34" charset="0"/>
                <a:ea typeface="Calibri" pitchFamily="34" charset="-122"/>
                <a:cs typeface="Calibri" pitchFamily="34" charset="-120"/>
              </a:rPr>
              <a:t>Summary: Uses CNN/LSTM models to classify human activities (running, walking, jumping) from video sequences.</a:t>
            </a:r>
            <a:endParaRPr lang="en-US" sz="1050" dirty="0"/>
          </a:p>
        </p:txBody>
      </p:sp>
      <p:sp>
        <p:nvSpPr>
          <p:cNvPr id="17" name="Text 15"/>
          <p:cNvSpPr/>
          <p:nvPr/>
        </p:nvSpPr>
        <p:spPr>
          <a:xfrm>
            <a:off x="932688" y="2788920"/>
            <a:ext cx="7818120" cy="256032"/>
          </a:xfrm>
          <a:prstGeom prst="rect">
            <a:avLst/>
          </a:prstGeom>
          <a:noFill/>
          <a:ln/>
        </p:spPr>
        <p:txBody>
          <a:bodyPr wrap="square" rtlCol="0" anchor="ctr"/>
          <a:lstStyle/>
          <a:p>
            <a:pPr marL="0" indent="0">
              <a:buNone/>
            </a:pPr>
            <a:r>
              <a:rPr lang="en-US" sz="1050" dirty="0">
                <a:solidFill>
                  <a:srgbClr val="CC3300"/>
                </a:solidFill>
                <a:latin typeface="Calibri" pitchFamily="34" charset="0"/>
                <a:ea typeface="Calibri" pitchFamily="34" charset="-122"/>
                <a:cs typeface="Calibri" pitchFamily="34" charset="-120"/>
              </a:rPr>
              <a:t>Limitation: Recognizes activity type only; no posture quality evaluation; requires large labeled datasets</a:t>
            </a:r>
            <a:endParaRPr lang="en-US" sz="1050" dirty="0"/>
          </a:p>
        </p:txBody>
      </p:sp>
      <p:sp>
        <p:nvSpPr>
          <p:cNvPr id="18" name="Text 16"/>
          <p:cNvSpPr/>
          <p:nvPr/>
        </p:nvSpPr>
        <p:spPr>
          <a:xfrm>
            <a:off x="932688" y="3063240"/>
            <a:ext cx="7818120" cy="320040"/>
          </a:xfrm>
          <a:prstGeom prst="rect">
            <a:avLst/>
          </a:prstGeom>
          <a:noFill/>
          <a:ln/>
        </p:spPr>
        <p:txBody>
          <a:bodyPr wrap="square" rtlCol="0" anchor="ctr"/>
          <a:lstStyle/>
          <a:p>
            <a:pPr marL="0" indent="0">
              <a:buNone/>
            </a:pPr>
            <a:r>
              <a:rPr lang="en-US" sz="1050" b="1" dirty="0">
                <a:solidFill>
                  <a:srgbClr val="27AE60"/>
                </a:solidFill>
                <a:latin typeface="Calibri" pitchFamily="34" charset="0"/>
                <a:ea typeface="Calibri" pitchFamily="34" charset="-122"/>
                <a:cs typeface="Calibri" pitchFamily="34" charset="-120"/>
              </a:rPr>
              <a:t>Our Improvement: Virtual Coach evaluates posture correctness, not just activity type, with real-time feedback</a:t>
            </a:r>
            <a:endParaRPr lang="en-US" sz="1050" dirty="0"/>
          </a:p>
        </p:txBody>
      </p:sp>
      <p:sp>
        <p:nvSpPr>
          <p:cNvPr id="19" name="Shape 17"/>
          <p:cNvSpPr/>
          <p:nvPr/>
        </p:nvSpPr>
        <p:spPr>
          <a:xfrm>
            <a:off x="274320" y="3584448"/>
            <a:ext cx="8595360" cy="1307592"/>
          </a:xfrm>
          <a:prstGeom prst="rect">
            <a:avLst/>
          </a:prstGeom>
          <a:solidFill>
            <a:srgbClr val="F0F4F8"/>
          </a:solidFill>
          <a:ln w="12700">
            <a:solidFill>
              <a:srgbClr val="CBD5E0"/>
            </a:solidFill>
            <a:prstDash val="solid"/>
          </a:ln>
        </p:spPr>
      </p:sp>
      <p:sp>
        <p:nvSpPr>
          <p:cNvPr id="20" name="Shape 18"/>
          <p:cNvSpPr/>
          <p:nvPr/>
        </p:nvSpPr>
        <p:spPr>
          <a:xfrm>
            <a:off x="274320" y="3584448"/>
            <a:ext cx="566928" cy="1307592"/>
          </a:xfrm>
          <a:prstGeom prst="rect">
            <a:avLst/>
          </a:prstGeom>
          <a:solidFill>
            <a:srgbClr val="8E44AD"/>
          </a:solidFill>
          <a:ln w="12700">
            <a:solidFill>
              <a:srgbClr val="8E44AD"/>
            </a:solidFill>
            <a:prstDash val="solid"/>
          </a:ln>
        </p:spPr>
      </p:sp>
      <p:sp>
        <p:nvSpPr>
          <p:cNvPr id="21" name="Text 19"/>
          <p:cNvSpPr/>
          <p:nvPr/>
        </p:nvSpPr>
        <p:spPr>
          <a:xfrm>
            <a:off x="274320" y="3584448"/>
            <a:ext cx="566928" cy="130759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P3</a:t>
            </a:r>
            <a:endParaRPr lang="en-US" sz="1400" dirty="0"/>
          </a:p>
        </p:txBody>
      </p:sp>
      <p:sp>
        <p:nvSpPr>
          <p:cNvPr id="22" name="Text 20"/>
          <p:cNvSpPr/>
          <p:nvPr/>
        </p:nvSpPr>
        <p:spPr>
          <a:xfrm>
            <a:off x="932688" y="3630168"/>
            <a:ext cx="7818120" cy="292608"/>
          </a:xfrm>
          <a:prstGeom prst="rect">
            <a:avLst/>
          </a:prstGeom>
          <a:noFill/>
          <a:ln/>
        </p:spPr>
        <p:txBody>
          <a:bodyPr wrap="square" rtlCol="0" anchor="ctr"/>
          <a:lstStyle/>
          <a:p>
            <a:pPr marL="0" indent="0">
              <a:buNone/>
            </a:pPr>
            <a:r>
              <a:rPr lang="en-US" sz="1150" b="1" dirty="0">
                <a:solidFill>
                  <a:srgbClr val="8E44AD"/>
                </a:solidFill>
                <a:latin typeface="Calibri" pitchFamily="34" charset="0"/>
                <a:ea typeface="Calibri" pitchFamily="34" charset="-122"/>
                <a:cs typeface="Calibri" pitchFamily="34" charset="-120"/>
              </a:rPr>
              <a:t>AI-Based Sports Performance Analysis Using Pose Estimation Techniques</a:t>
            </a:r>
            <a:endParaRPr lang="en-US" sz="1150" dirty="0"/>
          </a:p>
        </p:txBody>
      </p:sp>
      <p:sp>
        <p:nvSpPr>
          <p:cNvPr id="23" name="Text 21"/>
          <p:cNvSpPr/>
          <p:nvPr/>
        </p:nvSpPr>
        <p:spPr>
          <a:xfrm>
            <a:off x="932688" y="3931920"/>
            <a:ext cx="7818120" cy="256032"/>
          </a:xfrm>
          <a:prstGeom prst="rect">
            <a:avLst/>
          </a:prstGeom>
          <a:noFill/>
          <a:ln/>
        </p:spPr>
        <p:txBody>
          <a:bodyPr wrap="square" rtlCol="0" anchor="ctr"/>
          <a:lstStyle/>
          <a:p>
            <a:pPr marL="0" indent="0">
              <a:buNone/>
            </a:pPr>
            <a:r>
              <a:rPr lang="en-US" sz="1050" dirty="0">
                <a:solidFill>
                  <a:srgbClr val="1A2E40"/>
                </a:solidFill>
                <a:latin typeface="Calibri" pitchFamily="34" charset="0"/>
                <a:ea typeface="Calibri" pitchFamily="34" charset="-122"/>
                <a:cs typeface="Calibri" pitchFamily="34" charset="-120"/>
              </a:rPr>
              <a:t>Summary: Uses pose estimation to compare sports movements with ideal techniques via joint angle analysis.</a:t>
            </a:r>
            <a:endParaRPr lang="en-US" sz="1050" dirty="0"/>
          </a:p>
        </p:txBody>
      </p:sp>
      <p:sp>
        <p:nvSpPr>
          <p:cNvPr id="24" name="Text 22"/>
          <p:cNvSpPr/>
          <p:nvPr/>
        </p:nvSpPr>
        <p:spPr>
          <a:xfrm>
            <a:off x="932688" y="4206240"/>
            <a:ext cx="7818120" cy="256032"/>
          </a:xfrm>
          <a:prstGeom prst="rect">
            <a:avLst/>
          </a:prstGeom>
          <a:noFill/>
          <a:ln/>
        </p:spPr>
        <p:txBody>
          <a:bodyPr wrap="square" rtlCol="0" anchor="ctr"/>
          <a:lstStyle/>
          <a:p>
            <a:pPr marL="0" indent="0">
              <a:buNone/>
            </a:pPr>
            <a:r>
              <a:rPr lang="en-US" sz="1050" dirty="0">
                <a:solidFill>
                  <a:srgbClr val="CC3300"/>
                </a:solidFill>
                <a:latin typeface="Calibri" pitchFamily="34" charset="0"/>
                <a:ea typeface="Calibri" pitchFamily="34" charset="-122"/>
                <a:cs typeface="Calibri" pitchFamily="34" charset="-120"/>
              </a:rPr>
              <a:t>Limitation: No mobile integration; no injury prevention; lacks real-time feedback and performance scoring</a:t>
            </a:r>
            <a:endParaRPr lang="en-US" sz="1050" dirty="0"/>
          </a:p>
        </p:txBody>
      </p:sp>
      <p:sp>
        <p:nvSpPr>
          <p:cNvPr id="25" name="Text 23"/>
          <p:cNvSpPr/>
          <p:nvPr/>
        </p:nvSpPr>
        <p:spPr>
          <a:xfrm>
            <a:off x="932688" y="4480560"/>
            <a:ext cx="7818120" cy="320040"/>
          </a:xfrm>
          <a:prstGeom prst="rect">
            <a:avLst/>
          </a:prstGeom>
          <a:noFill/>
          <a:ln/>
        </p:spPr>
        <p:txBody>
          <a:bodyPr wrap="square" rtlCol="0" anchor="ctr"/>
          <a:lstStyle/>
          <a:p>
            <a:pPr marL="0" indent="0">
              <a:buNone/>
            </a:pPr>
            <a:r>
              <a:rPr lang="en-US" sz="1050" b="1" dirty="0">
                <a:solidFill>
                  <a:srgbClr val="27AE60"/>
                </a:solidFill>
                <a:latin typeface="Calibri" pitchFamily="34" charset="0"/>
                <a:ea typeface="Calibri" pitchFamily="34" charset="-122"/>
                <a:cs typeface="Calibri" pitchFamily="34" charset="-120"/>
              </a:rPr>
              <a:t>Our Improvement: Virtual Coach extends this with mobile app, injury alerts, and live feedback integration</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Dataset Requirements &amp; Testing Strategy</a:t>
            </a:r>
            <a:endParaRPr lang="en-US" sz="2200" dirty="0"/>
          </a:p>
        </p:txBody>
      </p:sp>
      <p:sp>
        <p:nvSpPr>
          <p:cNvPr id="5" name="Text 3"/>
          <p:cNvSpPr/>
          <p:nvPr/>
        </p:nvSpPr>
        <p:spPr>
          <a:xfrm>
            <a:off x="365760" y="777240"/>
            <a:ext cx="4023360" cy="320040"/>
          </a:xfrm>
          <a:prstGeom prst="rect">
            <a:avLst/>
          </a:prstGeom>
          <a:noFill/>
          <a:ln/>
        </p:spPr>
        <p:txBody>
          <a:bodyPr wrap="square"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Dataset Requirements</a:t>
            </a:r>
            <a:endParaRPr lang="en-US" sz="1300" dirty="0"/>
          </a:p>
        </p:txBody>
      </p:sp>
      <p:sp>
        <p:nvSpPr>
          <p:cNvPr id="6" name="Shape 4"/>
          <p:cNvSpPr/>
          <p:nvPr/>
        </p:nvSpPr>
        <p:spPr>
          <a:xfrm>
            <a:off x="365760" y="1170432"/>
            <a:ext cx="4023360" cy="685800"/>
          </a:xfrm>
          <a:prstGeom prst="rect">
            <a:avLst/>
          </a:prstGeom>
          <a:solidFill>
            <a:srgbClr val="F0F4F8"/>
          </a:solidFill>
          <a:ln w="12700">
            <a:solidFill>
              <a:srgbClr val="CBD5E0"/>
            </a:solidFill>
            <a:prstDash val="solid"/>
          </a:ln>
        </p:spPr>
      </p:sp>
      <p:sp>
        <p:nvSpPr>
          <p:cNvPr id="7" name="Text 5"/>
          <p:cNvSpPr/>
          <p:nvPr/>
        </p:nvSpPr>
        <p:spPr>
          <a:xfrm>
            <a:off x="502920" y="1225296"/>
            <a:ext cx="3749040" cy="25603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  Cricket Action Videos</a:t>
            </a:r>
            <a:endParaRPr lang="en-US" sz="1200" dirty="0"/>
          </a:p>
        </p:txBody>
      </p:sp>
      <p:sp>
        <p:nvSpPr>
          <p:cNvPr id="8" name="Text 6"/>
          <p:cNvSpPr/>
          <p:nvPr/>
        </p:nvSpPr>
        <p:spPr>
          <a:xfrm>
            <a:off x="502920" y="1499616"/>
            <a:ext cx="3749040" cy="292608"/>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Batting and bowling video clips in varied conditions, resolutions, and lighting environments</a:t>
            </a:r>
            <a:endParaRPr lang="en-US" sz="1100" dirty="0"/>
          </a:p>
        </p:txBody>
      </p:sp>
      <p:sp>
        <p:nvSpPr>
          <p:cNvPr id="9" name="Shape 7"/>
          <p:cNvSpPr/>
          <p:nvPr/>
        </p:nvSpPr>
        <p:spPr>
          <a:xfrm>
            <a:off x="365760" y="1947672"/>
            <a:ext cx="4023360" cy="685800"/>
          </a:xfrm>
          <a:prstGeom prst="rect">
            <a:avLst/>
          </a:prstGeom>
          <a:solidFill>
            <a:srgbClr val="EBF5FB"/>
          </a:solidFill>
          <a:ln w="12700">
            <a:solidFill>
              <a:srgbClr val="CBD5E0"/>
            </a:solidFill>
            <a:prstDash val="solid"/>
          </a:ln>
        </p:spPr>
      </p:sp>
      <p:sp>
        <p:nvSpPr>
          <p:cNvPr id="10" name="Text 8"/>
          <p:cNvSpPr/>
          <p:nvPr/>
        </p:nvSpPr>
        <p:spPr>
          <a:xfrm>
            <a:off x="502920" y="2002536"/>
            <a:ext cx="3749040" cy="25603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  Public Sports Datasets</a:t>
            </a:r>
            <a:endParaRPr lang="en-US" sz="1200" dirty="0"/>
          </a:p>
        </p:txBody>
      </p:sp>
      <p:sp>
        <p:nvSpPr>
          <p:cNvPr id="11" name="Text 9"/>
          <p:cNvSpPr/>
          <p:nvPr/>
        </p:nvSpPr>
        <p:spPr>
          <a:xfrm>
            <a:off x="502920" y="2276856"/>
            <a:ext cx="3749040" cy="292608"/>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Publicly available sports motion datasets for training pose estimation and action recognition models</a:t>
            </a:r>
            <a:endParaRPr lang="en-US" sz="1100" dirty="0"/>
          </a:p>
        </p:txBody>
      </p:sp>
      <p:sp>
        <p:nvSpPr>
          <p:cNvPr id="12" name="Shape 10"/>
          <p:cNvSpPr/>
          <p:nvPr/>
        </p:nvSpPr>
        <p:spPr>
          <a:xfrm>
            <a:off x="365760" y="2724912"/>
            <a:ext cx="4023360" cy="685800"/>
          </a:xfrm>
          <a:prstGeom prst="rect">
            <a:avLst/>
          </a:prstGeom>
          <a:solidFill>
            <a:srgbClr val="F0F4F8"/>
          </a:solidFill>
          <a:ln w="12700">
            <a:solidFill>
              <a:srgbClr val="CBD5E0"/>
            </a:solidFill>
            <a:prstDash val="solid"/>
          </a:ln>
        </p:spPr>
      </p:sp>
      <p:sp>
        <p:nvSpPr>
          <p:cNvPr id="13" name="Text 11"/>
          <p:cNvSpPr/>
          <p:nvPr/>
        </p:nvSpPr>
        <p:spPr>
          <a:xfrm>
            <a:off x="502920" y="2779776"/>
            <a:ext cx="3749040" cy="25603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  Self-Recorded Videos</a:t>
            </a:r>
            <a:endParaRPr lang="en-US" sz="1200" dirty="0"/>
          </a:p>
        </p:txBody>
      </p:sp>
      <p:sp>
        <p:nvSpPr>
          <p:cNvPr id="14" name="Text 12"/>
          <p:cNvSpPr/>
          <p:nvPr/>
        </p:nvSpPr>
        <p:spPr>
          <a:xfrm>
            <a:off x="502920" y="3054096"/>
            <a:ext cx="3749040" cy="292608"/>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Custom recorded cricket videos for fine-tuning and testing model performance in real conditions</a:t>
            </a:r>
            <a:endParaRPr lang="en-US" sz="1100" dirty="0"/>
          </a:p>
        </p:txBody>
      </p:sp>
      <p:sp>
        <p:nvSpPr>
          <p:cNvPr id="15" name="Shape 13"/>
          <p:cNvSpPr/>
          <p:nvPr/>
        </p:nvSpPr>
        <p:spPr>
          <a:xfrm>
            <a:off x="365760" y="3502152"/>
            <a:ext cx="4023360" cy="685800"/>
          </a:xfrm>
          <a:prstGeom prst="rect">
            <a:avLst/>
          </a:prstGeom>
          <a:solidFill>
            <a:srgbClr val="EBF5FB"/>
          </a:solidFill>
          <a:ln w="12700">
            <a:solidFill>
              <a:srgbClr val="CBD5E0"/>
            </a:solidFill>
            <a:prstDash val="solid"/>
          </a:ln>
        </p:spPr>
      </p:sp>
      <p:sp>
        <p:nvSpPr>
          <p:cNvPr id="16" name="Text 14"/>
          <p:cNvSpPr/>
          <p:nvPr/>
        </p:nvSpPr>
        <p:spPr>
          <a:xfrm>
            <a:off x="502920" y="3557016"/>
            <a:ext cx="3749040" cy="256032"/>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  Labeled Data</a:t>
            </a:r>
            <a:endParaRPr lang="en-US" sz="1200" dirty="0"/>
          </a:p>
        </p:txBody>
      </p:sp>
      <p:sp>
        <p:nvSpPr>
          <p:cNvPr id="17" name="Text 15"/>
          <p:cNvSpPr/>
          <p:nvPr/>
        </p:nvSpPr>
        <p:spPr>
          <a:xfrm>
            <a:off x="502920" y="3831336"/>
            <a:ext cx="3749040" cy="292608"/>
          </a:xfrm>
          <a:prstGeom prst="rect">
            <a:avLst/>
          </a:prstGeom>
          <a:noFill/>
          <a:ln/>
        </p:spPr>
        <p:txBody>
          <a:bodyPr wrap="square" rtlCol="0" anchor="ctr"/>
          <a:lstStyle/>
          <a:p>
            <a:pPr marL="0" indent="0">
              <a:buNone/>
            </a:pPr>
            <a:r>
              <a:rPr lang="en-US" sz="1100" dirty="0">
                <a:solidFill>
                  <a:srgbClr val="1A2E40"/>
                </a:solidFill>
                <a:latin typeface="Calibri" pitchFamily="34" charset="0"/>
                <a:ea typeface="Calibri" pitchFamily="34" charset="-122"/>
                <a:cs typeface="Calibri" pitchFamily="34" charset="-120"/>
              </a:rPr>
              <a:t>Annotated data including posture correctness labels, action types, and joint angle ground truth</a:t>
            </a:r>
            <a:endParaRPr lang="en-US" sz="1100" dirty="0"/>
          </a:p>
        </p:txBody>
      </p:sp>
      <p:sp>
        <p:nvSpPr>
          <p:cNvPr id="18" name="Text 16"/>
          <p:cNvSpPr/>
          <p:nvPr/>
        </p:nvSpPr>
        <p:spPr>
          <a:xfrm>
            <a:off x="4754880" y="777240"/>
            <a:ext cx="4023360" cy="320040"/>
          </a:xfrm>
          <a:prstGeom prst="rect">
            <a:avLst/>
          </a:prstGeom>
          <a:noFill/>
          <a:ln/>
        </p:spPr>
        <p:txBody>
          <a:bodyPr wrap="square"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Testing Strategy</a:t>
            </a:r>
            <a:endParaRPr lang="en-US" sz="1300" dirty="0"/>
          </a:p>
        </p:txBody>
      </p:sp>
      <p:sp>
        <p:nvSpPr>
          <p:cNvPr id="19" name="Shape 17"/>
          <p:cNvSpPr/>
          <p:nvPr/>
        </p:nvSpPr>
        <p:spPr>
          <a:xfrm>
            <a:off x="4754880" y="1170432"/>
            <a:ext cx="4023360" cy="594360"/>
          </a:xfrm>
          <a:prstGeom prst="rect">
            <a:avLst/>
          </a:prstGeom>
          <a:solidFill>
            <a:srgbClr val="F0F4F8"/>
          </a:solidFill>
          <a:ln w="12700">
            <a:solidFill>
              <a:srgbClr val="CBD5E0"/>
            </a:solidFill>
            <a:prstDash val="solid"/>
          </a:ln>
        </p:spPr>
      </p:sp>
      <p:sp>
        <p:nvSpPr>
          <p:cNvPr id="20" name="Shape 18"/>
          <p:cNvSpPr/>
          <p:nvPr/>
        </p:nvSpPr>
        <p:spPr>
          <a:xfrm>
            <a:off x="4754880" y="1170432"/>
            <a:ext cx="1463040" cy="594360"/>
          </a:xfrm>
          <a:prstGeom prst="rect">
            <a:avLst/>
          </a:prstGeom>
          <a:solidFill>
            <a:srgbClr val="028090"/>
          </a:solidFill>
          <a:ln w="12700">
            <a:solidFill>
              <a:srgbClr val="028090"/>
            </a:solidFill>
            <a:prstDash val="solid"/>
          </a:ln>
        </p:spPr>
      </p:sp>
      <p:sp>
        <p:nvSpPr>
          <p:cNvPr id="21" name="Text 19"/>
          <p:cNvSpPr/>
          <p:nvPr/>
        </p:nvSpPr>
        <p:spPr>
          <a:xfrm>
            <a:off x="4754880" y="1170432"/>
            <a:ext cx="1463040" cy="5943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Unit Testing</a:t>
            </a:r>
            <a:endParaRPr lang="en-US" sz="1000" dirty="0"/>
          </a:p>
        </p:txBody>
      </p:sp>
      <p:sp>
        <p:nvSpPr>
          <p:cNvPr id="22" name="Text 20"/>
          <p:cNvSpPr/>
          <p:nvPr/>
        </p:nvSpPr>
        <p:spPr>
          <a:xfrm>
            <a:off x="6309360" y="1261872"/>
            <a:ext cx="2377440" cy="411480"/>
          </a:xfrm>
          <a:prstGeom prst="rect">
            <a:avLst/>
          </a:prstGeom>
          <a:noFill/>
          <a:ln/>
        </p:spPr>
        <p:txBody>
          <a:bodyPr wrap="square" rtlCol="0" anchor="ctr"/>
          <a:lstStyle/>
          <a:p>
            <a:pPr marL="0" indent="0">
              <a:buNone/>
            </a:pPr>
            <a:r>
              <a:rPr lang="en-US" sz="1050" dirty="0">
                <a:solidFill>
                  <a:srgbClr val="1A2E40"/>
                </a:solidFill>
                <a:latin typeface="Calibri" pitchFamily="34" charset="0"/>
                <a:ea typeface="Calibri" pitchFamily="34" charset="-122"/>
                <a:cs typeface="Calibri" pitchFamily="34" charset="-120"/>
              </a:rPr>
              <a:t>Individual module testing — pose detection accuracy, angle computation correctness</a:t>
            </a:r>
            <a:endParaRPr lang="en-US" sz="1050" dirty="0"/>
          </a:p>
        </p:txBody>
      </p:sp>
      <p:sp>
        <p:nvSpPr>
          <p:cNvPr id="23" name="Shape 21"/>
          <p:cNvSpPr/>
          <p:nvPr/>
        </p:nvSpPr>
        <p:spPr>
          <a:xfrm>
            <a:off x="4754880" y="1856232"/>
            <a:ext cx="4023360" cy="594360"/>
          </a:xfrm>
          <a:prstGeom prst="rect">
            <a:avLst/>
          </a:prstGeom>
          <a:solidFill>
            <a:srgbClr val="F0FBF8"/>
          </a:solidFill>
          <a:ln w="12700">
            <a:solidFill>
              <a:srgbClr val="CBD5E0"/>
            </a:solidFill>
            <a:prstDash val="solid"/>
          </a:ln>
        </p:spPr>
      </p:sp>
      <p:sp>
        <p:nvSpPr>
          <p:cNvPr id="24" name="Shape 22"/>
          <p:cNvSpPr/>
          <p:nvPr/>
        </p:nvSpPr>
        <p:spPr>
          <a:xfrm>
            <a:off x="4754880" y="1856232"/>
            <a:ext cx="1463040" cy="594360"/>
          </a:xfrm>
          <a:prstGeom prst="rect">
            <a:avLst/>
          </a:prstGeom>
          <a:solidFill>
            <a:srgbClr val="028090"/>
          </a:solidFill>
          <a:ln w="12700">
            <a:solidFill>
              <a:srgbClr val="028090"/>
            </a:solidFill>
            <a:prstDash val="solid"/>
          </a:ln>
        </p:spPr>
      </p:sp>
      <p:sp>
        <p:nvSpPr>
          <p:cNvPr id="25" name="Text 23"/>
          <p:cNvSpPr/>
          <p:nvPr/>
        </p:nvSpPr>
        <p:spPr>
          <a:xfrm>
            <a:off x="4754880" y="1856232"/>
            <a:ext cx="1463040" cy="5943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Integration Testing</a:t>
            </a:r>
            <a:endParaRPr lang="en-US" sz="1000" dirty="0"/>
          </a:p>
        </p:txBody>
      </p:sp>
      <p:sp>
        <p:nvSpPr>
          <p:cNvPr id="26" name="Text 24"/>
          <p:cNvSpPr/>
          <p:nvPr/>
        </p:nvSpPr>
        <p:spPr>
          <a:xfrm>
            <a:off x="6309360" y="1947672"/>
            <a:ext cx="2377440" cy="411480"/>
          </a:xfrm>
          <a:prstGeom prst="rect">
            <a:avLst/>
          </a:prstGeom>
          <a:noFill/>
          <a:ln/>
        </p:spPr>
        <p:txBody>
          <a:bodyPr wrap="square" rtlCol="0" anchor="ctr"/>
          <a:lstStyle/>
          <a:p>
            <a:pPr marL="0" indent="0">
              <a:buNone/>
            </a:pPr>
            <a:r>
              <a:rPr lang="en-US" sz="1050" dirty="0">
                <a:solidFill>
                  <a:srgbClr val="1A2E40"/>
                </a:solidFill>
                <a:latin typeface="Calibri" pitchFamily="34" charset="0"/>
                <a:ea typeface="Calibri" pitchFamily="34" charset="-122"/>
                <a:cs typeface="Calibri" pitchFamily="34" charset="-120"/>
              </a:rPr>
              <a:t>End-to-end pipeline: video input → pose → analysis → feedback flow</a:t>
            </a:r>
            <a:endParaRPr lang="en-US" sz="1050" dirty="0"/>
          </a:p>
        </p:txBody>
      </p:sp>
      <p:sp>
        <p:nvSpPr>
          <p:cNvPr id="27" name="Shape 25"/>
          <p:cNvSpPr/>
          <p:nvPr/>
        </p:nvSpPr>
        <p:spPr>
          <a:xfrm>
            <a:off x="4754880" y="2542032"/>
            <a:ext cx="4023360" cy="594360"/>
          </a:xfrm>
          <a:prstGeom prst="rect">
            <a:avLst/>
          </a:prstGeom>
          <a:solidFill>
            <a:srgbClr val="F0F4F8"/>
          </a:solidFill>
          <a:ln w="12700">
            <a:solidFill>
              <a:srgbClr val="CBD5E0"/>
            </a:solidFill>
            <a:prstDash val="solid"/>
          </a:ln>
        </p:spPr>
      </p:sp>
      <p:sp>
        <p:nvSpPr>
          <p:cNvPr id="28" name="Shape 26"/>
          <p:cNvSpPr/>
          <p:nvPr/>
        </p:nvSpPr>
        <p:spPr>
          <a:xfrm>
            <a:off x="4754880" y="2542032"/>
            <a:ext cx="1463040" cy="594360"/>
          </a:xfrm>
          <a:prstGeom prst="rect">
            <a:avLst/>
          </a:prstGeom>
          <a:solidFill>
            <a:srgbClr val="028090"/>
          </a:solidFill>
          <a:ln w="12700">
            <a:solidFill>
              <a:srgbClr val="028090"/>
            </a:solidFill>
            <a:prstDash val="solid"/>
          </a:ln>
        </p:spPr>
      </p:sp>
      <p:sp>
        <p:nvSpPr>
          <p:cNvPr id="29" name="Text 27"/>
          <p:cNvSpPr/>
          <p:nvPr/>
        </p:nvSpPr>
        <p:spPr>
          <a:xfrm>
            <a:off x="4754880" y="2542032"/>
            <a:ext cx="1463040" cy="5943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Performance Testing</a:t>
            </a:r>
            <a:endParaRPr lang="en-US" sz="1000" dirty="0"/>
          </a:p>
        </p:txBody>
      </p:sp>
      <p:sp>
        <p:nvSpPr>
          <p:cNvPr id="30" name="Text 28"/>
          <p:cNvSpPr/>
          <p:nvPr/>
        </p:nvSpPr>
        <p:spPr>
          <a:xfrm>
            <a:off x="6309360" y="2633472"/>
            <a:ext cx="2377440" cy="411480"/>
          </a:xfrm>
          <a:prstGeom prst="rect">
            <a:avLst/>
          </a:prstGeom>
          <a:noFill/>
          <a:ln/>
        </p:spPr>
        <p:txBody>
          <a:bodyPr wrap="square" rtlCol="0" anchor="ctr"/>
          <a:lstStyle/>
          <a:p>
            <a:pPr marL="0" indent="0">
              <a:buNone/>
            </a:pPr>
            <a:r>
              <a:rPr lang="en-US" sz="1050" dirty="0">
                <a:solidFill>
                  <a:srgbClr val="1A2E40"/>
                </a:solidFill>
                <a:latin typeface="Calibri" pitchFamily="34" charset="0"/>
                <a:ea typeface="Calibri" pitchFamily="34" charset="-122"/>
                <a:cs typeface="Calibri" pitchFamily="34" charset="-120"/>
              </a:rPr>
              <a:t>30 FPS processing benchmark, &lt;1s response time, 50+ concurrent users</a:t>
            </a:r>
            <a:endParaRPr lang="en-US" sz="1050" dirty="0"/>
          </a:p>
        </p:txBody>
      </p:sp>
      <p:sp>
        <p:nvSpPr>
          <p:cNvPr id="31" name="Shape 29"/>
          <p:cNvSpPr/>
          <p:nvPr/>
        </p:nvSpPr>
        <p:spPr>
          <a:xfrm>
            <a:off x="4754880" y="3227832"/>
            <a:ext cx="4023360" cy="594360"/>
          </a:xfrm>
          <a:prstGeom prst="rect">
            <a:avLst/>
          </a:prstGeom>
          <a:solidFill>
            <a:srgbClr val="F0FBF8"/>
          </a:solidFill>
          <a:ln w="12700">
            <a:solidFill>
              <a:srgbClr val="CBD5E0"/>
            </a:solidFill>
            <a:prstDash val="solid"/>
          </a:ln>
        </p:spPr>
      </p:sp>
      <p:sp>
        <p:nvSpPr>
          <p:cNvPr id="32" name="Shape 30"/>
          <p:cNvSpPr/>
          <p:nvPr/>
        </p:nvSpPr>
        <p:spPr>
          <a:xfrm>
            <a:off x="4754880" y="3227832"/>
            <a:ext cx="1463040" cy="594360"/>
          </a:xfrm>
          <a:prstGeom prst="rect">
            <a:avLst/>
          </a:prstGeom>
          <a:solidFill>
            <a:srgbClr val="028090"/>
          </a:solidFill>
          <a:ln w="12700">
            <a:solidFill>
              <a:srgbClr val="028090"/>
            </a:solidFill>
            <a:prstDash val="solid"/>
          </a:ln>
        </p:spPr>
      </p:sp>
      <p:sp>
        <p:nvSpPr>
          <p:cNvPr id="33" name="Text 31"/>
          <p:cNvSpPr/>
          <p:nvPr/>
        </p:nvSpPr>
        <p:spPr>
          <a:xfrm>
            <a:off x="4754880" y="3227832"/>
            <a:ext cx="1463040" cy="5943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Accuracy Testing</a:t>
            </a:r>
            <a:endParaRPr lang="en-US" sz="1000" dirty="0"/>
          </a:p>
        </p:txBody>
      </p:sp>
      <p:sp>
        <p:nvSpPr>
          <p:cNvPr id="34" name="Text 32"/>
          <p:cNvSpPr/>
          <p:nvPr/>
        </p:nvSpPr>
        <p:spPr>
          <a:xfrm>
            <a:off x="6309360" y="3319272"/>
            <a:ext cx="2377440" cy="411480"/>
          </a:xfrm>
          <a:prstGeom prst="rect">
            <a:avLst/>
          </a:prstGeom>
          <a:noFill/>
          <a:ln/>
        </p:spPr>
        <p:txBody>
          <a:bodyPr wrap="square" rtlCol="0" anchor="ctr"/>
          <a:lstStyle/>
          <a:p>
            <a:pPr marL="0" indent="0">
              <a:buNone/>
            </a:pPr>
            <a:r>
              <a:rPr lang="en-US" sz="1050" dirty="0">
                <a:solidFill>
                  <a:srgbClr val="1A2E40"/>
                </a:solidFill>
                <a:latin typeface="Calibri" pitchFamily="34" charset="0"/>
                <a:ea typeface="Calibri" pitchFamily="34" charset="-122"/>
                <a:cs typeface="Calibri" pitchFamily="34" charset="-120"/>
              </a:rPr>
              <a:t>Compare detected angles vs ground truth; target ≥90% joint detection accuracy</a:t>
            </a:r>
            <a:endParaRPr lang="en-US" sz="1050" dirty="0"/>
          </a:p>
        </p:txBody>
      </p:sp>
      <p:sp>
        <p:nvSpPr>
          <p:cNvPr id="35" name="Shape 33"/>
          <p:cNvSpPr/>
          <p:nvPr/>
        </p:nvSpPr>
        <p:spPr>
          <a:xfrm>
            <a:off x="4754880" y="3913632"/>
            <a:ext cx="4023360" cy="594360"/>
          </a:xfrm>
          <a:prstGeom prst="rect">
            <a:avLst/>
          </a:prstGeom>
          <a:solidFill>
            <a:srgbClr val="F0F4F8"/>
          </a:solidFill>
          <a:ln w="12700">
            <a:solidFill>
              <a:srgbClr val="CBD5E0"/>
            </a:solidFill>
            <a:prstDash val="solid"/>
          </a:ln>
        </p:spPr>
      </p:sp>
      <p:sp>
        <p:nvSpPr>
          <p:cNvPr id="36" name="Shape 34"/>
          <p:cNvSpPr/>
          <p:nvPr/>
        </p:nvSpPr>
        <p:spPr>
          <a:xfrm>
            <a:off x="4754880" y="3913632"/>
            <a:ext cx="1463040" cy="594360"/>
          </a:xfrm>
          <a:prstGeom prst="rect">
            <a:avLst/>
          </a:prstGeom>
          <a:solidFill>
            <a:srgbClr val="028090"/>
          </a:solidFill>
          <a:ln w="12700">
            <a:solidFill>
              <a:srgbClr val="028090"/>
            </a:solidFill>
            <a:prstDash val="solid"/>
          </a:ln>
        </p:spPr>
      </p:sp>
      <p:sp>
        <p:nvSpPr>
          <p:cNvPr id="37" name="Text 35"/>
          <p:cNvSpPr/>
          <p:nvPr/>
        </p:nvSpPr>
        <p:spPr>
          <a:xfrm>
            <a:off x="4754880" y="3913632"/>
            <a:ext cx="1463040" cy="5943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User Acceptance</a:t>
            </a:r>
            <a:endParaRPr lang="en-US" sz="1000" dirty="0"/>
          </a:p>
        </p:txBody>
      </p:sp>
      <p:sp>
        <p:nvSpPr>
          <p:cNvPr id="38" name="Text 36"/>
          <p:cNvSpPr/>
          <p:nvPr/>
        </p:nvSpPr>
        <p:spPr>
          <a:xfrm>
            <a:off x="6309360" y="4005072"/>
            <a:ext cx="2377440" cy="411480"/>
          </a:xfrm>
          <a:prstGeom prst="rect">
            <a:avLst/>
          </a:prstGeom>
          <a:noFill/>
          <a:ln/>
        </p:spPr>
        <p:txBody>
          <a:bodyPr wrap="square" rtlCol="0" anchor="ctr"/>
          <a:lstStyle/>
          <a:p>
            <a:pPr marL="0" indent="0">
              <a:buNone/>
            </a:pPr>
            <a:r>
              <a:rPr lang="en-US" sz="1050" dirty="0">
                <a:solidFill>
                  <a:srgbClr val="1A2E40"/>
                </a:solidFill>
                <a:latin typeface="Calibri" pitchFamily="34" charset="0"/>
                <a:ea typeface="Calibri" pitchFamily="34" charset="-122"/>
                <a:cs typeface="Calibri" pitchFamily="34" charset="-120"/>
              </a:rPr>
              <a:t>Field testing with cricket players and coaches for feedback and UX validation</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Key References</a:t>
            </a:r>
            <a:endParaRPr lang="en-US" sz="2200" dirty="0"/>
          </a:p>
        </p:txBody>
      </p:sp>
      <p:sp>
        <p:nvSpPr>
          <p:cNvPr id="5" name="Shape 3"/>
          <p:cNvSpPr/>
          <p:nvPr/>
        </p:nvSpPr>
        <p:spPr>
          <a:xfrm>
            <a:off x="320040" y="777240"/>
            <a:ext cx="4206240" cy="987552"/>
          </a:xfrm>
          <a:prstGeom prst="rect">
            <a:avLst/>
          </a:prstGeom>
          <a:solidFill>
            <a:srgbClr val="F0F4F8"/>
          </a:solidFill>
          <a:ln w="12700">
            <a:solidFill>
              <a:srgbClr val="CBD5E0"/>
            </a:solidFill>
            <a:prstDash val="solid"/>
          </a:ln>
        </p:spPr>
      </p:sp>
      <p:sp>
        <p:nvSpPr>
          <p:cNvPr id="6" name="Shape 4"/>
          <p:cNvSpPr/>
          <p:nvPr/>
        </p:nvSpPr>
        <p:spPr>
          <a:xfrm>
            <a:off x="320040" y="777240"/>
            <a:ext cx="502920" cy="987552"/>
          </a:xfrm>
          <a:prstGeom prst="rect">
            <a:avLst/>
          </a:prstGeom>
          <a:solidFill>
            <a:srgbClr val="1A3A5C"/>
          </a:solidFill>
          <a:ln w="12700">
            <a:solidFill>
              <a:srgbClr val="1A3A5C"/>
            </a:solidFill>
            <a:prstDash val="solid"/>
          </a:ln>
        </p:spPr>
      </p:sp>
      <p:sp>
        <p:nvSpPr>
          <p:cNvPr id="7" name="Text 5"/>
          <p:cNvSpPr/>
          <p:nvPr/>
        </p:nvSpPr>
        <p:spPr>
          <a:xfrm>
            <a:off x="320040" y="777240"/>
            <a:ext cx="502920" cy="987552"/>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14400" y="822960"/>
            <a:ext cx="3520440" cy="237744"/>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Z. Cao et al.</a:t>
            </a:r>
            <a:endParaRPr lang="en-US" sz="1100" dirty="0"/>
          </a:p>
        </p:txBody>
      </p:sp>
      <p:sp>
        <p:nvSpPr>
          <p:cNvPr id="9" name="Text 7"/>
          <p:cNvSpPr/>
          <p:nvPr/>
        </p:nvSpPr>
        <p:spPr>
          <a:xfrm>
            <a:off x="914400" y="1078992"/>
            <a:ext cx="3520440" cy="256032"/>
          </a:xfrm>
          <a:prstGeom prst="rect">
            <a:avLst/>
          </a:prstGeom>
          <a:noFill/>
          <a:ln/>
        </p:spPr>
        <p:txBody>
          <a:bodyPr wrap="square" rtlCol="0" anchor="ctr"/>
          <a:lstStyle/>
          <a:p>
            <a:pPr marL="0" indent="0">
              <a:buNone/>
            </a:pPr>
            <a:r>
              <a:rPr lang="en-US" sz="1050" i="1" dirty="0">
                <a:solidFill>
                  <a:srgbClr val="1A2E40"/>
                </a:solidFill>
                <a:latin typeface="Calibri" pitchFamily="34" charset="0"/>
                <a:ea typeface="Calibri" pitchFamily="34" charset="-122"/>
                <a:cs typeface="Calibri" pitchFamily="34" charset="-120"/>
              </a:rPr>
              <a:t>Realtime Multi-Person 2D Pose Estimation using Part Affinity Fields</a:t>
            </a:r>
            <a:endParaRPr lang="en-US" sz="1050" dirty="0"/>
          </a:p>
        </p:txBody>
      </p:sp>
      <p:sp>
        <p:nvSpPr>
          <p:cNvPr id="10" name="Text 8"/>
          <p:cNvSpPr/>
          <p:nvPr/>
        </p:nvSpPr>
        <p:spPr>
          <a:xfrm>
            <a:off x="914400" y="1371600"/>
            <a:ext cx="3520440" cy="237744"/>
          </a:xfrm>
          <a:prstGeom prst="rect">
            <a:avLst/>
          </a:prstGeom>
          <a:noFill/>
          <a:ln/>
        </p:spPr>
        <p:txBody>
          <a:bodyPr wrap="square" rtlCol="0" anchor="ctr"/>
          <a:lstStyle/>
          <a:p>
            <a:pPr marL="0" indent="0">
              <a:buNone/>
            </a:pPr>
            <a:r>
              <a:rPr lang="en-US" sz="1000" dirty="0">
                <a:solidFill>
                  <a:srgbClr val="4A6580"/>
                </a:solidFill>
                <a:latin typeface="Calibri" pitchFamily="34" charset="0"/>
                <a:ea typeface="Calibri" pitchFamily="34" charset="-122"/>
                <a:cs typeface="Calibri" pitchFamily="34" charset="-120"/>
              </a:rPr>
              <a:t>CVPR, 2017 | arxiv.org/abs/1611.08050</a:t>
            </a:r>
            <a:endParaRPr lang="en-US" sz="1000" dirty="0"/>
          </a:p>
        </p:txBody>
      </p:sp>
      <p:sp>
        <p:nvSpPr>
          <p:cNvPr id="11" name="Shape 9"/>
          <p:cNvSpPr/>
          <p:nvPr/>
        </p:nvSpPr>
        <p:spPr>
          <a:xfrm>
            <a:off x="4754880" y="777240"/>
            <a:ext cx="4206240" cy="987552"/>
          </a:xfrm>
          <a:prstGeom prst="rect">
            <a:avLst/>
          </a:prstGeom>
          <a:solidFill>
            <a:srgbClr val="EBF5FB"/>
          </a:solidFill>
          <a:ln w="12700">
            <a:solidFill>
              <a:srgbClr val="CBD5E0"/>
            </a:solidFill>
            <a:prstDash val="solid"/>
          </a:ln>
        </p:spPr>
      </p:sp>
      <p:sp>
        <p:nvSpPr>
          <p:cNvPr id="12" name="Shape 10"/>
          <p:cNvSpPr/>
          <p:nvPr/>
        </p:nvSpPr>
        <p:spPr>
          <a:xfrm>
            <a:off x="4754880" y="777240"/>
            <a:ext cx="502920" cy="987552"/>
          </a:xfrm>
          <a:prstGeom prst="rect">
            <a:avLst/>
          </a:prstGeom>
          <a:solidFill>
            <a:srgbClr val="1A3A5C"/>
          </a:solidFill>
          <a:ln w="12700">
            <a:solidFill>
              <a:srgbClr val="1A3A5C"/>
            </a:solidFill>
            <a:prstDash val="solid"/>
          </a:ln>
        </p:spPr>
      </p:sp>
      <p:sp>
        <p:nvSpPr>
          <p:cNvPr id="13" name="Text 11"/>
          <p:cNvSpPr/>
          <p:nvPr/>
        </p:nvSpPr>
        <p:spPr>
          <a:xfrm>
            <a:off x="4754880" y="777240"/>
            <a:ext cx="502920" cy="987552"/>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5349240" y="822960"/>
            <a:ext cx="3520440" cy="237744"/>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J. Shotton et al.</a:t>
            </a:r>
            <a:endParaRPr lang="en-US" sz="1100" dirty="0"/>
          </a:p>
        </p:txBody>
      </p:sp>
      <p:sp>
        <p:nvSpPr>
          <p:cNvPr id="15" name="Text 13"/>
          <p:cNvSpPr/>
          <p:nvPr/>
        </p:nvSpPr>
        <p:spPr>
          <a:xfrm>
            <a:off x="5349240" y="1078992"/>
            <a:ext cx="3520440" cy="256032"/>
          </a:xfrm>
          <a:prstGeom prst="rect">
            <a:avLst/>
          </a:prstGeom>
          <a:noFill/>
          <a:ln/>
        </p:spPr>
        <p:txBody>
          <a:bodyPr wrap="square" rtlCol="0" anchor="ctr"/>
          <a:lstStyle/>
          <a:p>
            <a:pPr marL="0" indent="0">
              <a:buNone/>
            </a:pPr>
            <a:r>
              <a:rPr lang="en-US" sz="1050" i="1" dirty="0">
                <a:solidFill>
                  <a:srgbClr val="1A2E40"/>
                </a:solidFill>
                <a:latin typeface="Calibri" pitchFamily="34" charset="0"/>
                <a:ea typeface="Calibri" pitchFamily="34" charset="-122"/>
                <a:cs typeface="Calibri" pitchFamily="34" charset="-120"/>
              </a:rPr>
              <a:t>Real-Time Human Pose Recognition in Parts from Single Depth Images</a:t>
            </a:r>
            <a:endParaRPr lang="en-US" sz="1050" dirty="0"/>
          </a:p>
        </p:txBody>
      </p:sp>
      <p:sp>
        <p:nvSpPr>
          <p:cNvPr id="16" name="Text 14"/>
          <p:cNvSpPr/>
          <p:nvPr/>
        </p:nvSpPr>
        <p:spPr>
          <a:xfrm>
            <a:off x="5349240" y="1371600"/>
            <a:ext cx="3520440" cy="237744"/>
          </a:xfrm>
          <a:prstGeom prst="rect">
            <a:avLst/>
          </a:prstGeom>
          <a:noFill/>
          <a:ln/>
        </p:spPr>
        <p:txBody>
          <a:bodyPr wrap="square" rtlCol="0" anchor="ctr"/>
          <a:lstStyle/>
          <a:p>
            <a:pPr marL="0" indent="0">
              <a:buNone/>
            </a:pPr>
            <a:r>
              <a:rPr lang="en-US" sz="1000" dirty="0">
                <a:solidFill>
                  <a:srgbClr val="4A6580"/>
                </a:solidFill>
                <a:latin typeface="Calibri" pitchFamily="34" charset="0"/>
                <a:ea typeface="Calibri" pitchFamily="34" charset="-122"/>
                <a:cs typeface="Calibri" pitchFamily="34" charset="-120"/>
              </a:rPr>
              <a:t>CVPR, 2011 | ieeexplore.ieee.org/document/5995316</a:t>
            </a:r>
            <a:endParaRPr lang="en-US" sz="1000" dirty="0"/>
          </a:p>
        </p:txBody>
      </p:sp>
      <p:sp>
        <p:nvSpPr>
          <p:cNvPr id="17" name="Shape 15"/>
          <p:cNvSpPr/>
          <p:nvPr/>
        </p:nvSpPr>
        <p:spPr>
          <a:xfrm>
            <a:off x="320040" y="1856232"/>
            <a:ext cx="4206240" cy="987552"/>
          </a:xfrm>
          <a:prstGeom prst="rect">
            <a:avLst/>
          </a:prstGeom>
          <a:solidFill>
            <a:srgbClr val="F0F4F8"/>
          </a:solidFill>
          <a:ln w="12700">
            <a:solidFill>
              <a:srgbClr val="CBD5E0"/>
            </a:solidFill>
            <a:prstDash val="solid"/>
          </a:ln>
        </p:spPr>
      </p:sp>
      <p:sp>
        <p:nvSpPr>
          <p:cNvPr id="18" name="Shape 16"/>
          <p:cNvSpPr/>
          <p:nvPr/>
        </p:nvSpPr>
        <p:spPr>
          <a:xfrm>
            <a:off x="320040" y="1856232"/>
            <a:ext cx="502920" cy="987552"/>
          </a:xfrm>
          <a:prstGeom prst="rect">
            <a:avLst/>
          </a:prstGeom>
          <a:solidFill>
            <a:srgbClr val="1A3A5C"/>
          </a:solidFill>
          <a:ln w="12700">
            <a:solidFill>
              <a:srgbClr val="1A3A5C"/>
            </a:solidFill>
            <a:prstDash val="solid"/>
          </a:ln>
        </p:spPr>
      </p:sp>
      <p:sp>
        <p:nvSpPr>
          <p:cNvPr id="19" name="Text 17"/>
          <p:cNvSpPr/>
          <p:nvPr/>
        </p:nvSpPr>
        <p:spPr>
          <a:xfrm>
            <a:off x="320040" y="1856232"/>
            <a:ext cx="502920" cy="987552"/>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[6]</a:t>
            </a:r>
            <a:endParaRPr lang="en-US" sz="1200" dirty="0"/>
          </a:p>
        </p:txBody>
      </p:sp>
      <p:sp>
        <p:nvSpPr>
          <p:cNvPr id="20" name="Text 18"/>
          <p:cNvSpPr/>
          <p:nvPr/>
        </p:nvSpPr>
        <p:spPr>
          <a:xfrm>
            <a:off x="914400" y="1901952"/>
            <a:ext cx="3520440" cy="237744"/>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Google Research</a:t>
            </a:r>
            <a:endParaRPr lang="en-US" sz="1100" dirty="0"/>
          </a:p>
        </p:txBody>
      </p:sp>
      <p:sp>
        <p:nvSpPr>
          <p:cNvPr id="21" name="Text 19"/>
          <p:cNvSpPr/>
          <p:nvPr/>
        </p:nvSpPr>
        <p:spPr>
          <a:xfrm>
            <a:off x="914400" y="2157984"/>
            <a:ext cx="3520440" cy="256032"/>
          </a:xfrm>
          <a:prstGeom prst="rect">
            <a:avLst/>
          </a:prstGeom>
          <a:noFill/>
          <a:ln/>
        </p:spPr>
        <p:txBody>
          <a:bodyPr wrap="square" rtlCol="0" anchor="ctr"/>
          <a:lstStyle/>
          <a:p>
            <a:pPr marL="0" indent="0">
              <a:buNone/>
            </a:pPr>
            <a:r>
              <a:rPr lang="en-US" sz="1050" i="1" dirty="0">
                <a:solidFill>
                  <a:srgbClr val="1A2E40"/>
                </a:solidFill>
                <a:latin typeface="Calibri" pitchFamily="34" charset="0"/>
                <a:ea typeface="Calibri" pitchFamily="34" charset="-122"/>
                <a:cs typeface="Calibri" pitchFamily="34" charset="-120"/>
              </a:rPr>
              <a:t>MediaPipe: A Framework for Building Perception Pipelines</a:t>
            </a:r>
            <a:endParaRPr lang="en-US" sz="1050" dirty="0"/>
          </a:p>
        </p:txBody>
      </p:sp>
      <p:sp>
        <p:nvSpPr>
          <p:cNvPr id="22" name="Text 20"/>
          <p:cNvSpPr/>
          <p:nvPr/>
        </p:nvSpPr>
        <p:spPr>
          <a:xfrm>
            <a:off x="914400" y="2450592"/>
            <a:ext cx="3520440" cy="237744"/>
          </a:xfrm>
          <a:prstGeom prst="rect">
            <a:avLst/>
          </a:prstGeom>
          <a:noFill/>
          <a:ln/>
        </p:spPr>
        <p:txBody>
          <a:bodyPr wrap="square" rtlCol="0" anchor="ctr"/>
          <a:lstStyle/>
          <a:p>
            <a:pPr marL="0" indent="0">
              <a:buNone/>
            </a:pPr>
            <a:r>
              <a:rPr lang="en-US" sz="1000" dirty="0">
                <a:solidFill>
                  <a:srgbClr val="4A6580"/>
                </a:solidFill>
                <a:latin typeface="Calibri" pitchFamily="34" charset="0"/>
                <a:ea typeface="Calibri" pitchFamily="34" charset="-122"/>
                <a:cs typeface="Calibri" pitchFamily="34" charset="-120"/>
              </a:rPr>
              <a:t>Google AI, 2020 | mediapipe.dev</a:t>
            </a:r>
            <a:endParaRPr lang="en-US" sz="1000" dirty="0"/>
          </a:p>
        </p:txBody>
      </p:sp>
      <p:sp>
        <p:nvSpPr>
          <p:cNvPr id="23" name="Shape 21"/>
          <p:cNvSpPr/>
          <p:nvPr/>
        </p:nvSpPr>
        <p:spPr>
          <a:xfrm>
            <a:off x="4754880" y="1856232"/>
            <a:ext cx="4206240" cy="987552"/>
          </a:xfrm>
          <a:prstGeom prst="rect">
            <a:avLst/>
          </a:prstGeom>
          <a:solidFill>
            <a:srgbClr val="EBF5FB"/>
          </a:solidFill>
          <a:ln w="12700">
            <a:solidFill>
              <a:srgbClr val="CBD5E0"/>
            </a:solidFill>
            <a:prstDash val="solid"/>
          </a:ln>
        </p:spPr>
      </p:sp>
      <p:sp>
        <p:nvSpPr>
          <p:cNvPr id="24" name="Shape 22"/>
          <p:cNvSpPr/>
          <p:nvPr/>
        </p:nvSpPr>
        <p:spPr>
          <a:xfrm>
            <a:off x="4754880" y="1856232"/>
            <a:ext cx="502920" cy="987552"/>
          </a:xfrm>
          <a:prstGeom prst="rect">
            <a:avLst/>
          </a:prstGeom>
          <a:solidFill>
            <a:srgbClr val="1A3A5C"/>
          </a:solidFill>
          <a:ln w="12700">
            <a:solidFill>
              <a:srgbClr val="1A3A5C"/>
            </a:solidFill>
            <a:prstDash val="solid"/>
          </a:ln>
        </p:spPr>
      </p:sp>
      <p:sp>
        <p:nvSpPr>
          <p:cNvPr id="25" name="Text 23"/>
          <p:cNvSpPr/>
          <p:nvPr/>
        </p:nvSpPr>
        <p:spPr>
          <a:xfrm>
            <a:off x="4754880" y="1856232"/>
            <a:ext cx="502920" cy="987552"/>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[7]</a:t>
            </a:r>
            <a:endParaRPr lang="en-US" sz="1200" dirty="0"/>
          </a:p>
        </p:txBody>
      </p:sp>
      <p:sp>
        <p:nvSpPr>
          <p:cNvPr id="26" name="Text 24"/>
          <p:cNvSpPr/>
          <p:nvPr/>
        </p:nvSpPr>
        <p:spPr>
          <a:xfrm>
            <a:off x="5349240" y="1901952"/>
            <a:ext cx="3520440" cy="237744"/>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A. Toshev &amp; C. Szegedy</a:t>
            </a:r>
            <a:endParaRPr lang="en-US" sz="1100" dirty="0"/>
          </a:p>
        </p:txBody>
      </p:sp>
      <p:sp>
        <p:nvSpPr>
          <p:cNvPr id="27" name="Text 25"/>
          <p:cNvSpPr/>
          <p:nvPr/>
        </p:nvSpPr>
        <p:spPr>
          <a:xfrm>
            <a:off x="5349240" y="2157984"/>
            <a:ext cx="3520440" cy="256032"/>
          </a:xfrm>
          <a:prstGeom prst="rect">
            <a:avLst/>
          </a:prstGeom>
          <a:noFill/>
          <a:ln/>
        </p:spPr>
        <p:txBody>
          <a:bodyPr wrap="square" rtlCol="0" anchor="ctr"/>
          <a:lstStyle/>
          <a:p>
            <a:pPr marL="0" indent="0">
              <a:buNone/>
            </a:pPr>
            <a:r>
              <a:rPr lang="en-US" sz="1050" i="1" dirty="0">
                <a:solidFill>
                  <a:srgbClr val="1A2E40"/>
                </a:solidFill>
                <a:latin typeface="Calibri" pitchFamily="34" charset="0"/>
                <a:ea typeface="Calibri" pitchFamily="34" charset="-122"/>
                <a:cs typeface="Calibri" pitchFamily="34" charset="-120"/>
              </a:rPr>
              <a:t>DeepPose: Human Pose Estimation via Deep Neural Networks</a:t>
            </a:r>
            <a:endParaRPr lang="en-US" sz="1050" dirty="0"/>
          </a:p>
        </p:txBody>
      </p:sp>
      <p:sp>
        <p:nvSpPr>
          <p:cNvPr id="28" name="Text 26"/>
          <p:cNvSpPr/>
          <p:nvPr/>
        </p:nvSpPr>
        <p:spPr>
          <a:xfrm>
            <a:off x="5349240" y="2450592"/>
            <a:ext cx="3520440" cy="237744"/>
          </a:xfrm>
          <a:prstGeom prst="rect">
            <a:avLst/>
          </a:prstGeom>
          <a:noFill/>
          <a:ln/>
        </p:spPr>
        <p:txBody>
          <a:bodyPr wrap="square" rtlCol="0" anchor="ctr"/>
          <a:lstStyle/>
          <a:p>
            <a:pPr marL="0" indent="0">
              <a:buNone/>
            </a:pPr>
            <a:r>
              <a:rPr lang="en-US" sz="1000" dirty="0">
                <a:solidFill>
                  <a:srgbClr val="4A6580"/>
                </a:solidFill>
                <a:latin typeface="Calibri" pitchFamily="34" charset="0"/>
                <a:ea typeface="Calibri" pitchFamily="34" charset="-122"/>
                <a:cs typeface="Calibri" pitchFamily="34" charset="-120"/>
              </a:rPr>
              <a:t>CVPR, 2014 | arxiv.org/abs/1312.4659</a:t>
            </a:r>
            <a:endParaRPr lang="en-US" sz="1000" dirty="0"/>
          </a:p>
        </p:txBody>
      </p:sp>
      <p:sp>
        <p:nvSpPr>
          <p:cNvPr id="29" name="Shape 27"/>
          <p:cNvSpPr/>
          <p:nvPr/>
        </p:nvSpPr>
        <p:spPr>
          <a:xfrm>
            <a:off x="320040" y="2935224"/>
            <a:ext cx="4206240" cy="987552"/>
          </a:xfrm>
          <a:prstGeom prst="rect">
            <a:avLst/>
          </a:prstGeom>
          <a:solidFill>
            <a:srgbClr val="F0F4F8"/>
          </a:solidFill>
          <a:ln w="12700">
            <a:solidFill>
              <a:srgbClr val="CBD5E0"/>
            </a:solidFill>
            <a:prstDash val="solid"/>
          </a:ln>
        </p:spPr>
      </p:sp>
      <p:sp>
        <p:nvSpPr>
          <p:cNvPr id="30" name="Shape 28"/>
          <p:cNvSpPr/>
          <p:nvPr/>
        </p:nvSpPr>
        <p:spPr>
          <a:xfrm>
            <a:off x="320040" y="2935224"/>
            <a:ext cx="502920" cy="987552"/>
          </a:xfrm>
          <a:prstGeom prst="rect">
            <a:avLst/>
          </a:prstGeom>
          <a:solidFill>
            <a:srgbClr val="1A3A5C"/>
          </a:solidFill>
          <a:ln w="12700">
            <a:solidFill>
              <a:srgbClr val="1A3A5C"/>
            </a:solidFill>
            <a:prstDash val="solid"/>
          </a:ln>
        </p:spPr>
      </p:sp>
      <p:sp>
        <p:nvSpPr>
          <p:cNvPr id="31" name="Text 29"/>
          <p:cNvSpPr/>
          <p:nvPr/>
        </p:nvSpPr>
        <p:spPr>
          <a:xfrm>
            <a:off x="320040" y="2935224"/>
            <a:ext cx="502920" cy="987552"/>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[8]</a:t>
            </a:r>
            <a:endParaRPr lang="en-US" sz="1200" dirty="0"/>
          </a:p>
        </p:txBody>
      </p:sp>
      <p:sp>
        <p:nvSpPr>
          <p:cNvPr id="32" name="Text 30"/>
          <p:cNvSpPr/>
          <p:nvPr/>
        </p:nvSpPr>
        <p:spPr>
          <a:xfrm>
            <a:off x="914400" y="2980944"/>
            <a:ext cx="3520440" cy="237744"/>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S. Wei et al.</a:t>
            </a:r>
            <a:endParaRPr lang="en-US" sz="1100" dirty="0"/>
          </a:p>
        </p:txBody>
      </p:sp>
      <p:sp>
        <p:nvSpPr>
          <p:cNvPr id="33" name="Text 31"/>
          <p:cNvSpPr/>
          <p:nvPr/>
        </p:nvSpPr>
        <p:spPr>
          <a:xfrm>
            <a:off x="914400" y="3236976"/>
            <a:ext cx="3520440" cy="256032"/>
          </a:xfrm>
          <a:prstGeom prst="rect">
            <a:avLst/>
          </a:prstGeom>
          <a:noFill/>
          <a:ln/>
        </p:spPr>
        <p:txBody>
          <a:bodyPr wrap="square" rtlCol="0" anchor="ctr"/>
          <a:lstStyle/>
          <a:p>
            <a:pPr marL="0" indent="0">
              <a:buNone/>
            </a:pPr>
            <a:r>
              <a:rPr lang="en-US" sz="1050" i="1" dirty="0">
                <a:solidFill>
                  <a:srgbClr val="1A2E40"/>
                </a:solidFill>
                <a:latin typeface="Calibri" pitchFamily="34" charset="0"/>
                <a:ea typeface="Calibri" pitchFamily="34" charset="-122"/>
                <a:cs typeface="Calibri" pitchFamily="34" charset="-120"/>
              </a:rPr>
              <a:t>Convolutional Pose Machines</a:t>
            </a:r>
            <a:endParaRPr lang="en-US" sz="1050" dirty="0"/>
          </a:p>
        </p:txBody>
      </p:sp>
      <p:sp>
        <p:nvSpPr>
          <p:cNvPr id="34" name="Text 32"/>
          <p:cNvSpPr/>
          <p:nvPr/>
        </p:nvSpPr>
        <p:spPr>
          <a:xfrm>
            <a:off x="914400" y="3529584"/>
            <a:ext cx="3520440" cy="237744"/>
          </a:xfrm>
          <a:prstGeom prst="rect">
            <a:avLst/>
          </a:prstGeom>
          <a:noFill/>
          <a:ln/>
        </p:spPr>
        <p:txBody>
          <a:bodyPr wrap="square" rtlCol="0" anchor="ctr"/>
          <a:lstStyle/>
          <a:p>
            <a:pPr marL="0" indent="0">
              <a:buNone/>
            </a:pPr>
            <a:r>
              <a:rPr lang="en-US" sz="1000" dirty="0">
                <a:solidFill>
                  <a:srgbClr val="4A6580"/>
                </a:solidFill>
                <a:latin typeface="Calibri" pitchFamily="34" charset="0"/>
                <a:ea typeface="Calibri" pitchFamily="34" charset="-122"/>
                <a:cs typeface="Calibri" pitchFamily="34" charset="-120"/>
              </a:rPr>
              <a:t>CVPR, 2016 | arxiv.org/abs/1602.00134</a:t>
            </a:r>
            <a:endParaRPr lang="en-US" sz="1000" dirty="0"/>
          </a:p>
        </p:txBody>
      </p:sp>
      <p:sp>
        <p:nvSpPr>
          <p:cNvPr id="35" name="Shape 33"/>
          <p:cNvSpPr/>
          <p:nvPr/>
        </p:nvSpPr>
        <p:spPr>
          <a:xfrm>
            <a:off x="4754880" y="2935224"/>
            <a:ext cx="4206240" cy="987552"/>
          </a:xfrm>
          <a:prstGeom prst="rect">
            <a:avLst/>
          </a:prstGeom>
          <a:solidFill>
            <a:srgbClr val="EBF5FB"/>
          </a:solidFill>
          <a:ln w="12700">
            <a:solidFill>
              <a:srgbClr val="CBD5E0"/>
            </a:solidFill>
            <a:prstDash val="solid"/>
          </a:ln>
        </p:spPr>
      </p:sp>
      <p:sp>
        <p:nvSpPr>
          <p:cNvPr id="36" name="Shape 34"/>
          <p:cNvSpPr/>
          <p:nvPr/>
        </p:nvSpPr>
        <p:spPr>
          <a:xfrm>
            <a:off x="4754880" y="2935224"/>
            <a:ext cx="502920" cy="987552"/>
          </a:xfrm>
          <a:prstGeom prst="rect">
            <a:avLst/>
          </a:prstGeom>
          <a:solidFill>
            <a:srgbClr val="1A3A5C"/>
          </a:solidFill>
          <a:ln w="12700">
            <a:solidFill>
              <a:srgbClr val="1A3A5C"/>
            </a:solidFill>
            <a:prstDash val="solid"/>
          </a:ln>
        </p:spPr>
      </p:sp>
      <p:sp>
        <p:nvSpPr>
          <p:cNvPr id="37" name="Text 35"/>
          <p:cNvSpPr/>
          <p:nvPr/>
        </p:nvSpPr>
        <p:spPr>
          <a:xfrm>
            <a:off x="4754880" y="2935224"/>
            <a:ext cx="502920" cy="987552"/>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[11]</a:t>
            </a:r>
            <a:endParaRPr lang="en-US" sz="1200" dirty="0"/>
          </a:p>
        </p:txBody>
      </p:sp>
      <p:sp>
        <p:nvSpPr>
          <p:cNvPr id="38" name="Text 36"/>
          <p:cNvSpPr/>
          <p:nvPr/>
        </p:nvSpPr>
        <p:spPr>
          <a:xfrm>
            <a:off x="5349240" y="2980944"/>
            <a:ext cx="3520440" cy="237744"/>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J. Carreira &amp; A. Zisserman</a:t>
            </a:r>
            <a:endParaRPr lang="en-US" sz="1100" dirty="0"/>
          </a:p>
        </p:txBody>
      </p:sp>
      <p:sp>
        <p:nvSpPr>
          <p:cNvPr id="39" name="Text 37"/>
          <p:cNvSpPr/>
          <p:nvPr/>
        </p:nvSpPr>
        <p:spPr>
          <a:xfrm>
            <a:off x="5349240" y="3236976"/>
            <a:ext cx="3520440" cy="256032"/>
          </a:xfrm>
          <a:prstGeom prst="rect">
            <a:avLst/>
          </a:prstGeom>
          <a:noFill/>
          <a:ln/>
        </p:spPr>
        <p:txBody>
          <a:bodyPr wrap="square" rtlCol="0" anchor="ctr"/>
          <a:lstStyle/>
          <a:p>
            <a:pPr marL="0" indent="0">
              <a:buNone/>
            </a:pPr>
            <a:r>
              <a:rPr lang="en-US" sz="1050" i="1" dirty="0">
                <a:solidFill>
                  <a:srgbClr val="1A2E40"/>
                </a:solidFill>
                <a:latin typeface="Calibri" pitchFamily="34" charset="0"/>
                <a:ea typeface="Calibri" pitchFamily="34" charset="-122"/>
                <a:cs typeface="Calibri" pitchFamily="34" charset="-120"/>
              </a:rPr>
              <a:t>Quo Vadis, Action Recognition? A New Model and the Kinetics Dataset</a:t>
            </a:r>
            <a:endParaRPr lang="en-US" sz="1050" dirty="0"/>
          </a:p>
        </p:txBody>
      </p:sp>
      <p:sp>
        <p:nvSpPr>
          <p:cNvPr id="40" name="Text 38"/>
          <p:cNvSpPr/>
          <p:nvPr/>
        </p:nvSpPr>
        <p:spPr>
          <a:xfrm>
            <a:off x="5349240" y="3529584"/>
            <a:ext cx="3520440" cy="237744"/>
          </a:xfrm>
          <a:prstGeom prst="rect">
            <a:avLst/>
          </a:prstGeom>
          <a:noFill/>
          <a:ln/>
        </p:spPr>
        <p:txBody>
          <a:bodyPr wrap="square" rtlCol="0" anchor="ctr"/>
          <a:lstStyle/>
          <a:p>
            <a:pPr marL="0" indent="0">
              <a:buNone/>
            </a:pPr>
            <a:r>
              <a:rPr lang="en-US" sz="1000" dirty="0">
                <a:solidFill>
                  <a:srgbClr val="4A6580"/>
                </a:solidFill>
                <a:latin typeface="Calibri" pitchFamily="34" charset="0"/>
                <a:ea typeface="Calibri" pitchFamily="34" charset="-122"/>
                <a:cs typeface="Calibri" pitchFamily="34" charset="-120"/>
              </a:rPr>
              <a:t>CVPR, 2017 | arxiv.org/abs/1705.07750</a:t>
            </a:r>
            <a:endParaRPr lang="en-US" sz="1000" dirty="0"/>
          </a:p>
        </p:txBody>
      </p:sp>
      <p:sp>
        <p:nvSpPr>
          <p:cNvPr id="41" name="Shape 39"/>
          <p:cNvSpPr/>
          <p:nvPr/>
        </p:nvSpPr>
        <p:spPr>
          <a:xfrm>
            <a:off x="320040" y="4014216"/>
            <a:ext cx="4206240" cy="987552"/>
          </a:xfrm>
          <a:prstGeom prst="rect">
            <a:avLst/>
          </a:prstGeom>
          <a:solidFill>
            <a:srgbClr val="F0F4F8"/>
          </a:solidFill>
          <a:ln w="12700">
            <a:solidFill>
              <a:srgbClr val="CBD5E0"/>
            </a:solidFill>
            <a:prstDash val="solid"/>
          </a:ln>
        </p:spPr>
      </p:sp>
      <p:sp>
        <p:nvSpPr>
          <p:cNvPr id="42" name="Shape 40"/>
          <p:cNvSpPr/>
          <p:nvPr/>
        </p:nvSpPr>
        <p:spPr>
          <a:xfrm>
            <a:off x="320040" y="4014216"/>
            <a:ext cx="502920" cy="987552"/>
          </a:xfrm>
          <a:prstGeom prst="rect">
            <a:avLst/>
          </a:prstGeom>
          <a:solidFill>
            <a:srgbClr val="1A3A5C"/>
          </a:solidFill>
          <a:ln w="12700">
            <a:solidFill>
              <a:srgbClr val="1A3A5C"/>
            </a:solidFill>
            <a:prstDash val="solid"/>
          </a:ln>
        </p:spPr>
      </p:sp>
      <p:sp>
        <p:nvSpPr>
          <p:cNvPr id="43" name="Text 41"/>
          <p:cNvSpPr/>
          <p:nvPr/>
        </p:nvSpPr>
        <p:spPr>
          <a:xfrm>
            <a:off x="320040" y="4014216"/>
            <a:ext cx="502920" cy="987552"/>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[14]</a:t>
            </a:r>
            <a:endParaRPr lang="en-US" sz="1200" dirty="0"/>
          </a:p>
        </p:txBody>
      </p:sp>
      <p:sp>
        <p:nvSpPr>
          <p:cNvPr id="44" name="Text 42"/>
          <p:cNvSpPr/>
          <p:nvPr/>
        </p:nvSpPr>
        <p:spPr>
          <a:xfrm>
            <a:off x="914400" y="4059936"/>
            <a:ext cx="3520440" cy="237744"/>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B. Xiao et al.</a:t>
            </a:r>
            <a:endParaRPr lang="en-US" sz="1100" dirty="0"/>
          </a:p>
        </p:txBody>
      </p:sp>
      <p:sp>
        <p:nvSpPr>
          <p:cNvPr id="45" name="Text 43"/>
          <p:cNvSpPr/>
          <p:nvPr/>
        </p:nvSpPr>
        <p:spPr>
          <a:xfrm>
            <a:off x="914400" y="4315968"/>
            <a:ext cx="3520440" cy="256032"/>
          </a:xfrm>
          <a:prstGeom prst="rect">
            <a:avLst/>
          </a:prstGeom>
          <a:noFill/>
          <a:ln/>
        </p:spPr>
        <p:txBody>
          <a:bodyPr wrap="square" rtlCol="0" anchor="ctr"/>
          <a:lstStyle/>
          <a:p>
            <a:pPr marL="0" indent="0">
              <a:buNone/>
            </a:pPr>
            <a:r>
              <a:rPr lang="en-US" sz="1050" i="1" dirty="0">
                <a:solidFill>
                  <a:srgbClr val="1A2E40"/>
                </a:solidFill>
                <a:latin typeface="Calibri" pitchFamily="34" charset="0"/>
                <a:ea typeface="Calibri" pitchFamily="34" charset="-122"/>
                <a:cs typeface="Calibri" pitchFamily="34" charset="-120"/>
              </a:rPr>
              <a:t>Simple Baselines for Human Pose Estimation and Tracking</a:t>
            </a:r>
            <a:endParaRPr lang="en-US" sz="1050" dirty="0"/>
          </a:p>
        </p:txBody>
      </p:sp>
      <p:sp>
        <p:nvSpPr>
          <p:cNvPr id="46" name="Text 44"/>
          <p:cNvSpPr/>
          <p:nvPr/>
        </p:nvSpPr>
        <p:spPr>
          <a:xfrm>
            <a:off x="914400" y="4608576"/>
            <a:ext cx="3520440" cy="237744"/>
          </a:xfrm>
          <a:prstGeom prst="rect">
            <a:avLst/>
          </a:prstGeom>
          <a:noFill/>
          <a:ln/>
        </p:spPr>
        <p:txBody>
          <a:bodyPr wrap="square" rtlCol="0" anchor="ctr"/>
          <a:lstStyle/>
          <a:p>
            <a:pPr marL="0" indent="0">
              <a:buNone/>
            </a:pPr>
            <a:r>
              <a:rPr lang="en-US" sz="1000" dirty="0">
                <a:solidFill>
                  <a:srgbClr val="4A6580"/>
                </a:solidFill>
                <a:latin typeface="Calibri" pitchFamily="34" charset="0"/>
                <a:ea typeface="Calibri" pitchFamily="34" charset="-122"/>
                <a:cs typeface="Calibri" pitchFamily="34" charset="-120"/>
              </a:rPr>
              <a:t>ECCV, 2018 | arxiv.org/abs/1804.06208</a:t>
            </a:r>
            <a:endParaRPr lang="en-US" sz="1000" dirty="0"/>
          </a:p>
        </p:txBody>
      </p:sp>
      <p:sp>
        <p:nvSpPr>
          <p:cNvPr id="47" name="Shape 45"/>
          <p:cNvSpPr/>
          <p:nvPr/>
        </p:nvSpPr>
        <p:spPr>
          <a:xfrm>
            <a:off x="4754880" y="4014216"/>
            <a:ext cx="4206240" cy="987552"/>
          </a:xfrm>
          <a:prstGeom prst="rect">
            <a:avLst/>
          </a:prstGeom>
          <a:solidFill>
            <a:srgbClr val="EBF5FB"/>
          </a:solidFill>
          <a:ln w="12700">
            <a:solidFill>
              <a:srgbClr val="CBD5E0"/>
            </a:solidFill>
            <a:prstDash val="solid"/>
          </a:ln>
        </p:spPr>
      </p:sp>
      <p:sp>
        <p:nvSpPr>
          <p:cNvPr id="48" name="Shape 46"/>
          <p:cNvSpPr/>
          <p:nvPr/>
        </p:nvSpPr>
        <p:spPr>
          <a:xfrm>
            <a:off x="4754880" y="4014216"/>
            <a:ext cx="502920" cy="987552"/>
          </a:xfrm>
          <a:prstGeom prst="rect">
            <a:avLst/>
          </a:prstGeom>
          <a:solidFill>
            <a:srgbClr val="1A3A5C"/>
          </a:solidFill>
          <a:ln w="12700">
            <a:solidFill>
              <a:srgbClr val="1A3A5C"/>
            </a:solidFill>
            <a:prstDash val="solid"/>
          </a:ln>
        </p:spPr>
      </p:sp>
      <p:sp>
        <p:nvSpPr>
          <p:cNvPr id="49" name="Text 47"/>
          <p:cNvSpPr/>
          <p:nvPr/>
        </p:nvSpPr>
        <p:spPr>
          <a:xfrm>
            <a:off x="4754880" y="4014216"/>
            <a:ext cx="502920" cy="987552"/>
          </a:xfrm>
          <a:prstGeom prst="rect">
            <a:avLst/>
          </a:prstGeom>
          <a:noFill/>
          <a:ln/>
        </p:spPr>
        <p:txBody>
          <a:bodyPr wrap="square" lIns="0" tIns="0" rIns="0" bIns="0" rtlCol="0" anchor="ctr"/>
          <a:lstStyle/>
          <a:p>
            <a:pPr marL="0" indent="0" algn="ctr">
              <a:buNone/>
            </a:pPr>
            <a:r>
              <a:rPr lang="en-US" sz="1200" b="1" dirty="0">
                <a:solidFill>
                  <a:srgbClr val="02C39A"/>
                </a:solidFill>
                <a:latin typeface="Calibri" pitchFamily="34" charset="0"/>
                <a:ea typeface="Calibri" pitchFamily="34" charset="-122"/>
                <a:cs typeface="Calibri" pitchFamily="34" charset="-120"/>
              </a:rPr>
              <a:t>[4]</a:t>
            </a:r>
            <a:endParaRPr lang="en-US" sz="1200" dirty="0"/>
          </a:p>
        </p:txBody>
      </p:sp>
      <p:sp>
        <p:nvSpPr>
          <p:cNvPr id="50" name="Text 48"/>
          <p:cNvSpPr/>
          <p:nvPr/>
        </p:nvSpPr>
        <p:spPr>
          <a:xfrm>
            <a:off x="5349240" y="4059936"/>
            <a:ext cx="3520440" cy="237744"/>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K. Simonyan &amp; A. Zisserman</a:t>
            </a:r>
            <a:endParaRPr lang="en-US" sz="1100" dirty="0"/>
          </a:p>
        </p:txBody>
      </p:sp>
      <p:sp>
        <p:nvSpPr>
          <p:cNvPr id="51" name="Text 49"/>
          <p:cNvSpPr/>
          <p:nvPr/>
        </p:nvSpPr>
        <p:spPr>
          <a:xfrm>
            <a:off x="5349240" y="4315968"/>
            <a:ext cx="3520440" cy="256032"/>
          </a:xfrm>
          <a:prstGeom prst="rect">
            <a:avLst/>
          </a:prstGeom>
          <a:noFill/>
          <a:ln/>
        </p:spPr>
        <p:txBody>
          <a:bodyPr wrap="square" rtlCol="0" anchor="ctr"/>
          <a:lstStyle/>
          <a:p>
            <a:pPr marL="0" indent="0">
              <a:buNone/>
            </a:pPr>
            <a:r>
              <a:rPr lang="en-US" sz="1050" i="1" dirty="0">
                <a:solidFill>
                  <a:srgbClr val="1A2E40"/>
                </a:solidFill>
                <a:latin typeface="Calibri" pitchFamily="34" charset="0"/>
                <a:ea typeface="Calibri" pitchFamily="34" charset="-122"/>
                <a:cs typeface="Calibri" pitchFamily="34" charset="-120"/>
              </a:rPr>
              <a:t>Two-Stream Convolutional Networks for Action Recognition in Videos</a:t>
            </a:r>
            <a:endParaRPr lang="en-US" sz="1050" dirty="0"/>
          </a:p>
        </p:txBody>
      </p:sp>
      <p:sp>
        <p:nvSpPr>
          <p:cNvPr id="52" name="Text 50"/>
          <p:cNvSpPr/>
          <p:nvPr/>
        </p:nvSpPr>
        <p:spPr>
          <a:xfrm>
            <a:off x="5349240" y="4608576"/>
            <a:ext cx="3520440" cy="237744"/>
          </a:xfrm>
          <a:prstGeom prst="rect">
            <a:avLst/>
          </a:prstGeom>
          <a:noFill/>
          <a:ln/>
        </p:spPr>
        <p:txBody>
          <a:bodyPr wrap="square" rtlCol="0" anchor="ctr"/>
          <a:lstStyle/>
          <a:p>
            <a:pPr marL="0" indent="0">
              <a:buNone/>
            </a:pPr>
            <a:r>
              <a:rPr lang="en-US" sz="1000" dirty="0">
                <a:solidFill>
                  <a:srgbClr val="4A6580"/>
                </a:solidFill>
                <a:latin typeface="Calibri" pitchFamily="34" charset="0"/>
                <a:ea typeface="Calibri" pitchFamily="34" charset="-122"/>
                <a:cs typeface="Calibri" pitchFamily="34" charset="-120"/>
              </a:rPr>
              <a:t>NIPS, 2014 | arxiv.org/abs/1406.2199</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Shape 1"/>
          <p:cNvSpPr/>
          <p:nvPr/>
        </p:nvSpPr>
        <p:spPr>
          <a:xfrm>
            <a:off x="0" y="640080"/>
            <a:ext cx="9144000" cy="36576"/>
          </a:xfrm>
          <a:prstGeom prst="rect">
            <a:avLst/>
          </a:prstGeom>
          <a:solidFill>
            <a:srgbClr val="02C39A"/>
          </a:solidFill>
          <a:ln w="12700">
            <a:solidFill>
              <a:srgbClr val="02C39A"/>
            </a:solidFill>
            <a:prstDash val="solid"/>
          </a:ln>
        </p:spPr>
      </p:sp>
      <p:sp>
        <p:nvSpPr>
          <p:cNvPr id="4" name="Text 2"/>
          <p:cNvSpPr/>
          <p:nvPr/>
        </p:nvSpPr>
        <p:spPr>
          <a:xfrm>
            <a:off x="274320" y="73152"/>
            <a:ext cx="8595360" cy="50292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  Conclusion &amp; Future Scope</a:t>
            </a:r>
            <a:endParaRPr lang="en-US" sz="2200" dirty="0"/>
          </a:p>
        </p:txBody>
      </p:sp>
      <p:sp>
        <p:nvSpPr>
          <p:cNvPr id="5" name="Text 3"/>
          <p:cNvSpPr/>
          <p:nvPr/>
        </p:nvSpPr>
        <p:spPr>
          <a:xfrm>
            <a:off x="365760" y="777240"/>
            <a:ext cx="8412480" cy="292608"/>
          </a:xfrm>
          <a:prstGeom prst="rect">
            <a:avLst/>
          </a:prstGeom>
          <a:noFill/>
          <a:ln/>
        </p:spPr>
        <p:txBody>
          <a:bodyPr wrap="square"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Project Summary</a:t>
            </a:r>
            <a:endParaRPr lang="en-US" sz="1300" dirty="0"/>
          </a:p>
        </p:txBody>
      </p:sp>
      <p:sp>
        <p:nvSpPr>
          <p:cNvPr id="6" name="Shape 4"/>
          <p:cNvSpPr/>
          <p:nvPr/>
        </p:nvSpPr>
        <p:spPr>
          <a:xfrm>
            <a:off x="365760" y="1097280"/>
            <a:ext cx="8412480" cy="914400"/>
          </a:xfrm>
          <a:prstGeom prst="rect">
            <a:avLst/>
          </a:prstGeom>
          <a:solidFill>
            <a:srgbClr val="EBF5FB"/>
          </a:solidFill>
          <a:ln w="12700">
            <a:solidFill>
              <a:srgbClr val="1A3A5C"/>
            </a:solidFill>
            <a:prstDash val="solid"/>
          </a:ln>
        </p:spPr>
      </p:sp>
      <p:sp>
        <p:nvSpPr>
          <p:cNvPr id="7" name="Text 5"/>
          <p:cNvSpPr/>
          <p:nvPr/>
        </p:nvSpPr>
        <p:spPr>
          <a:xfrm>
            <a:off x="502920" y="1161288"/>
            <a:ext cx="8138160" cy="804672"/>
          </a:xfrm>
          <a:prstGeom prst="rect">
            <a:avLst/>
          </a:prstGeom>
          <a:noFill/>
          <a:ln/>
        </p:spPr>
        <p:txBody>
          <a:bodyPr wrap="square" rtlCol="0" anchor="ctr"/>
          <a:lstStyle/>
          <a:p>
            <a:pPr marL="0" indent="0">
              <a:buNone/>
            </a:pPr>
            <a:r>
              <a:rPr lang="en-US" sz="1200" dirty="0">
                <a:solidFill>
                  <a:srgbClr val="1A2E40"/>
                </a:solidFill>
                <a:latin typeface="Calibri" pitchFamily="34" charset="0"/>
                <a:ea typeface="Calibri" pitchFamily="34" charset="-122"/>
                <a:cs typeface="Calibri" pitchFamily="34" charset="-120"/>
              </a:rPr>
              <a:t>Virtual Coach is an AI-powered mobile application that uses computer vision and deep learning to analyze cricket player posture from video input. The system detects body joints using MediaPipe, evaluates technique using ML models, and provides real-time feedback, performance scores, and injury alerts — making professional-level coaching accessible and affordable to all athletes.</a:t>
            </a:r>
            <a:endParaRPr lang="en-US" sz="1200" dirty="0"/>
          </a:p>
        </p:txBody>
      </p:sp>
      <p:sp>
        <p:nvSpPr>
          <p:cNvPr id="8" name="Text 6"/>
          <p:cNvSpPr/>
          <p:nvPr/>
        </p:nvSpPr>
        <p:spPr>
          <a:xfrm>
            <a:off x="365760" y="2130552"/>
            <a:ext cx="8412480" cy="292608"/>
          </a:xfrm>
          <a:prstGeom prst="rect">
            <a:avLst/>
          </a:prstGeom>
          <a:noFill/>
          <a:ln/>
        </p:spPr>
        <p:txBody>
          <a:bodyPr wrap="square"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Future Scope</a:t>
            </a:r>
            <a:endParaRPr lang="en-US" sz="1300" dirty="0"/>
          </a:p>
        </p:txBody>
      </p:sp>
      <p:sp>
        <p:nvSpPr>
          <p:cNvPr id="9" name="Shape 7"/>
          <p:cNvSpPr/>
          <p:nvPr/>
        </p:nvSpPr>
        <p:spPr>
          <a:xfrm>
            <a:off x="365760" y="2514600"/>
            <a:ext cx="4206240" cy="621792"/>
          </a:xfrm>
          <a:prstGeom prst="rect">
            <a:avLst/>
          </a:prstGeom>
          <a:solidFill>
            <a:srgbClr val="F0F4F8"/>
          </a:solidFill>
          <a:ln w="12700">
            <a:solidFill>
              <a:srgbClr val="CBD5E0"/>
            </a:solidFill>
            <a:prstDash val="solid"/>
          </a:ln>
        </p:spPr>
      </p:sp>
      <p:sp>
        <p:nvSpPr>
          <p:cNvPr id="10" name="Text 8"/>
          <p:cNvSpPr/>
          <p:nvPr/>
        </p:nvSpPr>
        <p:spPr>
          <a:xfrm>
            <a:off x="457200" y="2642616"/>
            <a:ext cx="365760" cy="36576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1" name="Text 9"/>
          <p:cNvSpPr/>
          <p:nvPr/>
        </p:nvSpPr>
        <p:spPr>
          <a:xfrm>
            <a:off x="914400" y="2606040"/>
            <a:ext cx="3566160" cy="457200"/>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Extend to multi-sport support (Badminton, Tennis, Swimming, Athletics)</a:t>
            </a:r>
            <a:endParaRPr lang="en-US" sz="1150" dirty="0"/>
          </a:p>
        </p:txBody>
      </p:sp>
      <p:sp>
        <p:nvSpPr>
          <p:cNvPr id="12" name="Shape 10"/>
          <p:cNvSpPr/>
          <p:nvPr/>
        </p:nvSpPr>
        <p:spPr>
          <a:xfrm>
            <a:off x="4800600" y="2514600"/>
            <a:ext cx="4206240" cy="621792"/>
          </a:xfrm>
          <a:prstGeom prst="rect">
            <a:avLst/>
          </a:prstGeom>
          <a:solidFill>
            <a:srgbClr val="F0FBF8"/>
          </a:solidFill>
          <a:ln w="12700">
            <a:solidFill>
              <a:srgbClr val="CBD5E0"/>
            </a:solidFill>
            <a:prstDash val="solid"/>
          </a:ln>
        </p:spPr>
      </p:sp>
      <p:sp>
        <p:nvSpPr>
          <p:cNvPr id="13" name="Text 11"/>
          <p:cNvSpPr/>
          <p:nvPr/>
        </p:nvSpPr>
        <p:spPr>
          <a:xfrm>
            <a:off x="4892040" y="2642616"/>
            <a:ext cx="365760" cy="36576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4" name="Text 12"/>
          <p:cNvSpPr/>
          <p:nvPr/>
        </p:nvSpPr>
        <p:spPr>
          <a:xfrm>
            <a:off x="5349240" y="2606040"/>
            <a:ext cx="3566160" cy="457200"/>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Integrate wearable sensors for 3D motion capture and biomechanical data</a:t>
            </a:r>
            <a:endParaRPr lang="en-US" sz="1150" dirty="0"/>
          </a:p>
        </p:txBody>
      </p:sp>
      <p:sp>
        <p:nvSpPr>
          <p:cNvPr id="15" name="Shape 13"/>
          <p:cNvSpPr/>
          <p:nvPr/>
        </p:nvSpPr>
        <p:spPr>
          <a:xfrm>
            <a:off x="365760" y="3264408"/>
            <a:ext cx="4206240" cy="621792"/>
          </a:xfrm>
          <a:prstGeom prst="rect">
            <a:avLst/>
          </a:prstGeom>
          <a:solidFill>
            <a:srgbClr val="F0F4F8"/>
          </a:solidFill>
          <a:ln w="12700">
            <a:solidFill>
              <a:srgbClr val="CBD5E0"/>
            </a:solidFill>
            <a:prstDash val="solid"/>
          </a:ln>
        </p:spPr>
      </p:sp>
      <p:sp>
        <p:nvSpPr>
          <p:cNvPr id="16" name="Text 14"/>
          <p:cNvSpPr/>
          <p:nvPr/>
        </p:nvSpPr>
        <p:spPr>
          <a:xfrm>
            <a:off x="457200" y="3392424"/>
            <a:ext cx="365760" cy="36576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7" name="Text 15"/>
          <p:cNvSpPr/>
          <p:nvPr/>
        </p:nvSpPr>
        <p:spPr>
          <a:xfrm>
            <a:off x="914400" y="3355848"/>
            <a:ext cx="3566160" cy="457200"/>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Multi-language support and cloud-based collaborative team training</a:t>
            </a:r>
            <a:endParaRPr lang="en-US" sz="1150" dirty="0"/>
          </a:p>
        </p:txBody>
      </p:sp>
      <p:sp>
        <p:nvSpPr>
          <p:cNvPr id="18" name="Shape 16"/>
          <p:cNvSpPr/>
          <p:nvPr/>
        </p:nvSpPr>
        <p:spPr>
          <a:xfrm>
            <a:off x="4800600" y="3264408"/>
            <a:ext cx="4206240" cy="621792"/>
          </a:xfrm>
          <a:prstGeom prst="rect">
            <a:avLst/>
          </a:prstGeom>
          <a:solidFill>
            <a:srgbClr val="F0FBF8"/>
          </a:solidFill>
          <a:ln w="12700">
            <a:solidFill>
              <a:srgbClr val="CBD5E0"/>
            </a:solidFill>
            <a:prstDash val="solid"/>
          </a:ln>
        </p:spPr>
      </p:sp>
      <p:sp>
        <p:nvSpPr>
          <p:cNvPr id="19" name="Text 17"/>
          <p:cNvSpPr/>
          <p:nvPr/>
        </p:nvSpPr>
        <p:spPr>
          <a:xfrm>
            <a:off x="4892040" y="3392424"/>
            <a:ext cx="365760" cy="36576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0" name="Text 18"/>
          <p:cNvSpPr/>
          <p:nvPr/>
        </p:nvSpPr>
        <p:spPr>
          <a:xfrm>
            <a:off x="5349240" y="3355848"/>
            <a:ext cx="3566160" cy="457200"/>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Advanced deep learning models for more granular technique evaluation</a:t>
            </a:r>
            <a:endParaRPr lang="en-US" sz="1150" dirty="0"/>
          </a:p>
        </p:txBody>
      </p:sp>
      <p:sp>
        <p:nvSpPr>
          <p:cNvPr id="21" name="Shape 19"/>
          <p:cNvSpPr/>
          <p:nvPr/>
        </p:nvSpPr>
        <p:spPr>
          <a:xfrm>
            <a:off x="365760" y="4014216"/>
            <a:ext cx="4206240" cy="621792"/>
          </a:xfrm>
          <a:prstGeom prst="rect">
            <a:avLst/>
          </a:prstGeom>
          <a:solidFill>
            <a:srgbClr val="F0F4F8"/>
          </a:solidFill>
          <a:ln w="12700">
            <a:solidFill>
              <a:srgbClr val="CBD5E0"/>
            </a:solidFill>
            <a:prstDash val="solid"/>
          </a:ln>
        </p:spPr>
      </p:sp>
      <p:sp>
        <p:nvSpPr>
          <p:cNvPr id="22" name="Text 20"/>
          <p:cNvSpPr/>
          <p:nvPr/>
        </p:nvSpPr>
        <p:spPr>
          <a:xfrm>
            <a:off x="457200" y="4142232"/>
            <a:ext cx="365760" cy="36576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3" name="Text 21"/>
          <p:cNvSpPr/>
          <p:nvPr/>
        </p:nvSpPr>
        <p:spPr>
          <a:xfrm>
            <a:off x="914400" y="4105656"/>
            <a:ext cx="3566160" cy="457200"/>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Automated injury risk prediction with severity scoring and physiotherapy guidance</a:t>
            </a:r>
            <a:endParaRPr lang="en-US" sz="1150" dirty="0"/>
          </a:p>
        </p:txBody>
      </p:sp>
      <p:sp>
        <p:nvSpPr>
          <p:cNvPr id="24" name="Shape 22"/>
          <p:cNvSpPr/>
          <p:nvPr/>
        </p:nvSpPr>
        <p:spPr>
          <a:xfrm>
            <a:off x="4800600" y="4014216"/>
            <a:ext cx="4206240" cy="621792"/>
          </a:xfrm>
          <a:prstGeom prst="rect">
            <a:avLst/>
          </a:prstGeom>
          <a:solidFill>
            <a:srgbClr val="F0FBF8"/>
          </a:solidFill>
          <a:ln w="12700">
            <a:solidFill>
              <a:srgbClr val="CBD5E0"/>
            </a:solidFill>
            <a:prstDash val="solid"/>
          </a:ln>
        </p:spPr>
      </p:sp>
      <p:sp>
        <p:nvSpPr>
          <p:cNvPr id="25" name="Text 23"/>
          <p:cNvSpPr/>
          <p:nvPr/>
        </p:nvSpPr>
        <p:spPr>
          <a:xfrm>
            <a:off x="4892040" y="4142232"/>
            <a:ext cx="365760" cy="365760"/>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6" name="Text 24"/>
          <p:cNvSpPr/>
          <p:nvPr/>
        </p:nvSpPr>
        <p:spPr>
          <a:xfrm>
            <a:off x="5349240" y="4105656"/>
            <a:ext cx="3566160" cy="457200"/>
          </a:xfrm>
          <a:prstGeom prst="rect">
            <a:avLst/>
          </a:prstGeom>
          <a:noFill/>
          <a:ln/>
        </p:spPr>
        <p:txBody>
          <a:bodyPr wrap="square" rtlCol="0" anchor="ctr"/>
          <a:lstStyle/>
          <a:p>
            <a:pPr marL="0" indent="0">
              <a:buNone/>
            </a:pPr>
            <a:r>
              <a:rPr lang="en-US" sz="1150" dirty="0">
                <a:solidFill>
                  <a:srgbClr val="1A2E40"/>
                </a:solidFill>
                <a:latin typeface="Calibri" pitchFamily="34" charset="0"/>
                <a:ea typeface="Calibri" pitchFamily="34" charset="-122"/>
                <a:cs typeface="Calibri" pitchFamily="34" charset="-120"/>
              </a:rPr>
              <a:t>Coach dashboard for managing multiple players with comparative analytics</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2C39A"/>
          </a:solidFill>
          <a:ln w="12700">
            <a:solidFill>
              <a:srgbClr val="02C39A"/>
            </a:solidFill>
            <a:prstDash val="solid"/>
          </a:ln>
        </p:spPr>
      </p:sp>
      <p:sp>
        <p:nvSpPr>
          <p:cNvPr id="3" name="Shape 1"/>
          <p:cNvSpPr/>
          <p:nvPr/>
        </p:nvSpPr>
        <p:spPr>
          <a:xfrm>
            <a:off x="0" y="5052060"/>
            <a:ext cx="9144000" cy="91440"/>
          </a:xfrm>
          <a:prstGeom prst="rect">
            <a:avLst/>
          </a:prstGeom>
          <a:solidFill>
            <a:srgbClr val="028090"/>
          </a:solidFill>
          <a:ln w="12700">
            <a:solidFill>
              <a:srgbClr val="028090"/>
            </a:solidFill>
            <a:prstDash val="solid"/>
          </a:ln>
        </p:spPr>
      </p:sp>
      <p:sp>
        <p:nvSpPr>
          <p:cNvPr id="4" name="Shape 2"/>
          <p:cNvSpPr/>
          <p:nvPr/>
        </p:nvSpPr>
        <p:spPr>
          <a:xfrm>
            <a:off x="3429000" y="594360"/>
            <a:ext cx="2286000" cy="2286000"/>
          </a:xfrm>
          <a:prstGeom prst="ellipse">
            <a:avLst/>
          </a:prstGeom>
          <a:solidFill>
            <a:srgbClr val="028090"/>
          </a:solidFill>
          <a:ln w="25400">
            <a:solidFill>
              <a:srgbClr val="02C39A"/>
            </a:solidFill>
            <a:prstDash val="solid"/>
          </a:ln>
        </p:spPr>
      </p:sp>
      <p:sp>
        <p:nvSpPr>
          <p:cNvPr id="5" name="Text 3"/>
          <p:cNvSpPr/>
          <p:nvPr/>
        </p:nvSpPr>
        <p:spPr>
          <a:xfrm>
            <a:off x="3429000" y="594360"/>
            <a:ext cx="2286000" cy="2286000"/>
          </a:xfrm>
          <a:prstGeom prst="rect">
            <a:avLst/>
          </a:prstGeom>
          <a:noFill/>
          <a:ln/>
        </p:spPr>
        <p:txBody>
          <a:bodyPr wrap="square" lIns="0" tIns="0" rIns="0" bIns="0" rtlCol="0" anchor="ctr"/>
          <a:lstStyle/>
          <a:p>
            <a:pPr marL="0" indent="0" algn="ctr">
              <a:buNone/>
            </a:pPr>
            <a:r>
              <a:rPr lang="en-US" sz="6400" dirty="0">
                <a:solidFill>
                  <a:srgbClr val="000000"/>
                </a:solidFill>
              </a:rPr>
              <a:t>🏏</a:t>
            </a:r>
            <a:endParaRPr lang="en-US" sz="6400" dirty="0"/>
          </a:p>
        </p:txBody>
      </p:sp>
      <p:sp>
        <p:nvSpPr>
          <p:cNvPr id="6" name="Text 4"/>
          <p:cNvSpPr/>
          <p:nvPr/>
        </p:nvSpPr>
        <p:spPr>
          <a:xfrm>
            <a:off x="457200" y="2971800"/>
            <a:ext cx="8229600" cy="640080"/>
          </a:xfrm>
          <a:prstGeom prst="rect">
            <a:avLst/>
          </a:prstGeom>
          <a:noFill/>
          <a:ln/>
        </p:spPr>
        <p:txBody>
          <a:bodyPr wrap="square" rtlCol="0" anchor="ctr"/>
          <a:lstStyle/>
          <a:p>
            <a:pPr marL="0" indent="0" algn="ctr">
              <a:buNone/>
            </a:pPr>
            <a:r>
              <a:rPr lang="en-US" sz="4200" b="1" kern="0" spc="600" dirty="0">
                <a:solidFill>
                  <a:srgbClr val="FFFFFF"/>
                </a:solidFill>
                <a:latin typeface="Calibri" pitchFamily="34" charset="0"/>
                <a:ea typeface="Calibri" pitchFamily="34" charset="-122"/>
                <a:cs typeface="Calibri" pitchFamily="34" charset="-120"/>
              </a:rPr>
              <a:t>THANK YOU</a:t>
            </a:r>
            <a:endParaRPr lang="en-US" sz="4200" dirty="0"/>
          </a:p>
        </p:txBody>
      </p:sp>
      <p:sp>
        <p:nvSpPr>
          <p:cNvPr id="7" name="Text 5"/>
          <p:cNvSpPr/>
          <p:nvPr/>
        </p:nvSpPr>
        <p:spPr>
          <a:xfrm>
            <a:off x="457200" y="3657600"/>
            <a:ext cx="8229600" cy="320040"/>
          </a:xfrm>
          <a:prstGeom prst="rect">
            <a:avLst/>
          </a:prstGeom>
          <a:noFill/>
          <a:ln/>
        </p:spPr>
        <p:txBody>
          <a:bodyPr wrap="square" rtlCol="0" anchor="ctr"/>
          <a:lstStyle/>
          <a:p>
            <a:pPr marL="0" indent="0" algn="ctr">
              <a:buNone/>
            </a:pPr>
            <a:r>
              <a:rPr lang="en-US" sz="1400" i="1" dirty="0">
                <a:solidFill>
                  <a:srgbClr val="02C39A"/>
                </a:solidFill>
                <a:latin typeface="Calibri" pitchFamily="34" charset="0"/>
                <a:ea typeface="Calibri" pitchFamily="34" charset="-122"/>
                <a:cs typeface="Calibri" pitchFamily="34" charset="-120"/>
              </a:rPr>
              <a:t>Virtual Coach — AI-Based Cricket Posture Analysis System</a:t>
            </a:r>
            <a:endParaRPr lang="en-US" sz="1400" dirty="0"/>
          </a:p>
        </p:txBody>
      </p:sp>
      <p:sp>
        <p:nvSpPr>
          <p:cNvPr id="8" name="Text 6"/>
          <p:cNvSpPr/>
          <p:nvPr/>
        </p:nvSpPr>
        <p:spPr>
          <a:xfrm>
            <a:off x="457200" y="4069080"/>
            <a:ext cx="8229600" cy="274320"/>
          </a:xfrm>
          <a:prstGeom prst="rect">
            <a:avLst/>
          </a:prstGeom>
          <a:noFill/>
          <a:ln/>
        </p:spPr>
        <p:txBody>
          <a:bodyPr wrap="square" rtlCol="0" anchor="ctr"/>
          <a:lstStyle/>
          <a:p>
            <a:pPr marL="0" indent="0" algn="ctr">
              <a:buNone/>
            </a:pPr>
            <a:r>
              <a:rPr lang="en-US" sz="1100" dirty="0">
                <a:solidFill>
                  <a:srgbClr val="AABBCC"/>
                </a:solidFill>
                <a:latin typeface="Calibri" pitchFamily="34" charset="0"/>
                <a:ea typeface="Calibri" pitchFamily="34" charset="-122"/>
                <a:cs typeface="Calibri" pitchFamily="34" charset="-120"/>
              </a:rPr>
              <a:t>Department of CSE (AIML) | D.K.T.E Society's Textile and Engineering Institute, Ichalkaranji | 2025–2026</a:t>
            </a:r>
            <a:endParaRPr lang="en-US" sz="1100" dirty="0"/>
          </a:p>
        </p:txBody>
      </p:sp>
      <p:sp>
        <p:nvSpPr>
          <p:cNvPr id="9" name="Text 7"/>
          <p:cNvSpPr/>
          <p:nvPr/>
        </p:nvSpPr>
        <p:spPr>
          <a:xfrm>
            <a:off x="457200" y="4434840"/>
            <a:ext cx="8229600" cy="228600"/>
          </a:xfrm>
          <a:prstGeom prst="rect">
            <a:avLst/>
          </a:prstGeom>
          <a:noFill/>
          <a:ln/>
        </p:spPr>
        <p:txBody>
          <a:bodyPr wrap="square" rtlCol="0" anchor="ctr"/>
          <a:lstStyle/>
          <a:p>
            <a:pPr marL="0" indent="0" algn="ctr">
              <a:buNone/>
            </a:pPr>
            <a:r>
              <a:rPr lang="en-US" sz="1100" i="1" dirty="0">
                <a:solidFill>
                  <a:srgbClr val="028090"/>
                </a:solidFill>
                <a:latin typeface="Calibri" pitchFamily="34" charset="0"/>
                <a:ea typeface="Calibri" pitchFamily="34" charset="-122"/>
                <a:cs typeface="Calibri" pitchFamily="34" charset="-120"/>
              </a:rPr>
              <a:t>Guide: Prof. V.B. Sutar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2950</Words>
  <Application>Microsoft Office PowerPoint</Application>
  <PresentationFormat>On-screen Show (16:9)</PresentationFormat>
  <Paragraphs>555</Paragraphs>
  <Slides>29</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Roboto</vt:lpstr>
      <vt:lpstr>T3Font_0</vt:lpstr>
      <vt:lpstr>T3Font_1</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Coach - AI-Based Cricket Posture Analysis System</dc:title>
  <dc:subject>PptxGenJS Presentation</dc:subject>
  <dc:creator>Aayan</dc:creator>
  <cp:lastModifiedBy>Aayan Mujawar</cp:lastModifiedBy>
  <cp:revision>4</cp:revision>
  <dcterms:created xsi:type="dcterms:W3CDTF">2026-05-02T17:35:55Z</dcterms:created>
  <dcterms:modified xsi:type="dcterms:W3CDTF">2026-05-04T05:35:25Z</dcterms:modified>
</cp:coreProperties>
</file>